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878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66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2952750" y="-502081"/>
            <a:ext cx="12382500" cy="1238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7443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MISSION CONTROL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087820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CALLSIGN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EQB-01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30131" y="239290"/>
            <a:ext cx="204539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ID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503593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404095" y="239290"/>
            <a:ext cx="1350557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/ 2026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21598" y="1493328"/>
            <a:ext cx="6044675" cy="20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42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CAPSTONE II · TAIF UNIVERSITY · 2026 ◇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03371" y="2534479"/>
            <a:ext cx="6960167" cy="2092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0" b="1" kern="0" spc="-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EQAAB</a:t>
            </a:r>
            <a:endParaRPr lang="en-US" sz="18000" dirty="0"/>
          </a:p>
        </p:txBody>
      </p:sp>
      <p:sp>
        <p:nvSpPr>
          <p:cNvPr id="20" name="Text 17"/>
          <p:cNvSpPr/>
          <p:nvPr/>
        </p:nvSpPr>
        <p:spPr>
          <a:xfrm>
            <a:off x="8213190" y="4524712"/>
            <a:ext cx="1861490" cy="1595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200" dirty="0">
                <a:solidFill>
                  <a:srgbClr val="C9A84C"/>
                </a:solidFill>
                <a:ea typeface="Georgia" pitchFamily="34" charset="-122"/>
                <a:cs typeface="Georgia" pitchFamily="34" charset="-120"/>
              </a:rPr>
              <a:t>عقاب</a:t>
            </a:r>
            <a:endParaRPr lang="en-US" sz="7200" dirty="0"/>
          </a:p>
        </p:txBody>
      </p:sp>
      <p:sp>
        <p:nvSpPr>
          <p:cNvPr id="21" name="Shape 18"/>
          <p:cNvSpPr/>
          <p:nvPr/>
        </p:nvSpPr>
        <p:spPr>
          <a:xfrm>
            <a:off x="8572501" y="5993891"/>
            <a:ext cx="1143000" cy="952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90269" y="6308113"/>
            <a:ext cx="8107332" cy="402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kern="0" spc="102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Autonomous Aerial Surveillance System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5603371" y="7434547"/>
            <a:ext cx="3515208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19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TEAM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5603371" y="7700367"/>
            <a:ext cx="3515208" cy="1131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Abdulrahman Al-otaibi · Turki Al-otaibi Saeed Al-harthi · Rayan Al-ghamdi Hossain Al-hubailee · Mohammed Al-sharif Omar Al-anzi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9829386" y="7434547"/>
            <a:ext cx="9525" cy="1359124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562733" y="7434547"/>
            <a:ext cx="2108804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kern="0" spc="19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FACULTY SUPERVISOR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10562733" y="7700367"/>
            <a:ext cx="2108804" cy="85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Ahmed bin Mahfoudh </a:t>
            </a:r>
            <a:r>
              <a:rPr lang="en-US" sz="1275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Computers &amp; IT Taif University, KSA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9548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21.4373°N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2136525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 40.5127°E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3663501" y="9903542"/>
            <a:ext cx="102792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1879M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4188886" y="9903542"/>
            <a:ext cx="35942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/ CAPSTONE II / 2026 — V1.0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698038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AGENDA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245958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288269" y="239290"/>
            <a:ext cx="146638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 BRIEFING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508470" y="1117246"/>
            <a:ext cx="2039437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 OUTLINE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14322" y="1488152"/>
            <a:ext cx="8292217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segments</a:t>
            </a:r>
            <a:endParaRPr lang="en-US" sz="5100" dirty="0"/>
          </a:p>
        </p:txBody>
      </p:sp>
      <p:sp>
        <p:nvSpPr>
          <p:cNvPr id="21" name="Text 18"/>
          <p:cNvSpPr/>
          <p:nvPr/>
        </p:nvSpPr>
        <p:spPr>
          <a:xfrm>
            <a:off x="914322" y="2338672"/>
            <a:ext cx="8292217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walkthrough of design, build, test, and field validation of the Eqaab platform.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561289" y="2165643"/>
            <a:ext cx="888589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16270694" y="2355237"/>
            <a:ext cx="11029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 MIN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914322" y="4082679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04822" y="3646393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Title &amp; Team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6578462" y="4082679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68962" y="3646393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Hardware Stack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2242732" y="4082679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433232" y="3646393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Results &amp; Performance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914322" y="4774795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104822" y="4338508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650" dirty="0"/>
          </a:p>
        </p:txBody>
      </p:sp>
      <p:sp>
        <p:nvSpPr>
          <p:cNvPr id="32" name="Shape 29"/>
          <p:cNvSpPr/>
          <p:nvPr/>
        </p:nvSpPr>
        <p:spPr>
          <a:xfrm>
            <a:off x="6578462" y="4774795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68962" y="4338508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ROS 2 Software Stack</a:t>
            </a:r>
            <a:endParaRPr lang="en-US" sz="1650" dirty="0"/>
          </a:p>
        </p:txBody>
      </p:sp>
      <p:sp>
        <p:nvSpPr>
          <p:cNvPr id="34" name="Shape 31"/>
          <p:cNvSpPr/>
          <p:nvPr/>
        </p:nvSpPr>
        <p:spPr>
          <a:xfrm>
            <a:off x="12242732" y="4774795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2433232" y="4338508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Live Demo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914322" y="5466910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104822" y="5030624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Project Recap</a:t>
            </a:r>
            <a:endParaRPr lang="en-US" sz="1650" dirty="0"/>
          </a:p>
        </p:txBody>
      </p:sp>
      <p:sp>
        <p:nvSpPr>
          <p:cNvPr id="38" name="Shape 35"/>
          <p:cNvSpPr/>
          <p:nvPr/>
        </p:nvSpPr>
        <p:spPr>
          <a:xfrm>
            <a:off x="6578462" y="5466910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768962" y="5030624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AI Detection Pipeline</a:t>
            </a:r>
            <a:endParaRPr lang="en-US" sz="1650" dirty="0"/>
          </a:p>
        </p:txBody>
      </p:sp>
      <p:sp>
        <p:nvSpPr>
          <p:cNvPr id="40" name="Shape 37"/>
          <p:cNvSpPr/>
          <p:nvPr/>
        </p:nvSpPr>
        <p:spPr>
          <a:xfrm>
            <a:off x="12242732" y="5466910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2433232" y="5030624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Cost Analysis</a:t>
            </a:r>
            <a:endParaRPr lang="en-US" sz="1650" dirty="0"/>
          </a:p>
        </p:txBody>
      </p:sp>
      <p:sp>
        <p:nvSpPr>
          <p:cNvPr id="42" name="Shape 39"/>
          <p:cNvSpPr/>
          <p:nvPr/>
        </p:nvSpPr>
        <p:spPr>
          <a:xfrm>
            <a:off x="914322" y="6159025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104822" y="5722739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Problem Statement</a:t>
            </a:r>
            <a:endParaRPr lang="en-US" sz="1650" dirty="0"/>
          </a:p>
        </p:txBody>
      </p:sp>
      <p:sp>
        <p:nvSpPr>
          <p:cNvPr id="44" name="Shape 41"/>
          <p:cNvSpPr/>
          <p:nvPr/>
        </p:nvSpPr>
        <p:spPr>
          <a:xfrm>
            <a:off x="6578462" y="6159025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768962" y="5722739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IFF System</a:t>
            </a:r>
            <a:endParaRPr lang="en-US" sz="1650" dirty="0"/>
          </a:p>
        </p:txBody>
      </p:sp>
      <p:sp>
        <p:nvSpPr>
          <p:cNvPr id="46" name="Shape 43"/>
          <p:cNvSpPr/>
          <p:nvPr/>
        </p:nvSpPr>
        <p:spPr>
          <a:xfrm>
            <a:off x="12242732" y="6159025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2433232" y="5722739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Objectives vs Achieved</a:t>
            </a:r>
            <a:endParaRPr lang="en-US" sz="1650" dirty="0"/>
          </a:p>
        </p:txBody>
      </p:sp>
      <p:sp>
        <p:nvSpPr>
          <p:cNvPr id="48" name="Shape 45"/>
          <p:cNvSpPr/>
          <p:nvPr/>
        </p:nvSpPr>
        <p:spPr>
          <a:xfrm>
            <a:off x="914322" y="6851141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104822" y="6414855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Literature &amp; Gap</a:t>
            </a:r>
            <a:endParaRPr lang="en-US" sz="1650" dirty="0"/>
          </a:p>
        </p:txBody>
      </p:sp>
      <p:sp>
        <p:nvSpPr>
          <p:cNvPr id="50" name="Shape 47"/>
          <p:cNvSpPr/>
          <p:nvPr/>
        </p:nvSpPr>
        <p:spPr>
          <a:xfrm>
            <a:off x="6578462" y="6851141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768962" y="6414855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Backend &amp; Comms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12242732" y="6851141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2433232" y="6414855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Challenges &amp; Solutions</a:t>
            </a:r>
            <a:endParaRPr lang="en-US" sz="1650" dirty="0"/>
          </a:p>
        </p:txBody>
      </p:sp>
      <p:sp>
        <p:nvSpPr>
          <p:cNvPr id="54" name="Shape 51"/>
          <p:cNvSpPr/>
          <p:nvPr/>
        </p:nvSpPr>
        <p:spPr>
          <a:xfrm>
            <a:off x="914322" y="7543257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104822" y="7106970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Objectives &amp; KPIs</a:t>
            </a:r>
            <a:endParaRPr lang="en-US" sz="1650" dirty="0"/>
          </a:p>
        </p:txBody>
      </p:sp>
      <p:sp>
        <p:nvSpPr>
          <p:cNvPr id="56" name="Shape 53"/>
          <p:cNvSpPr/>
          <p:nvPr/>
        </p:nvSpPr>
        <p:spPr>
          <a:xfrm>
            <a:off x="6578462" y="7543257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768962" y="7106970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GCS Dashboard</a:t>
            </a:r>
            <a:endParaRPr lang="en-US" sz="1650" dirty="0"/>
          </a:p>
        </p:txBody>
      </p:sp>
      <p:sp>
        <p:nvSpPr>
          <p:cNvPr id="58" name="Shape 55"/>
          <p:cNvSpPr/>
          <p:nvPr/>
        </p:nvSpPr>
        <p:spPr>
          <a:xfrm>
            <a:off x="12242732" y="7543257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2433232" y="7106970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Future Work</a:t>
            </a:r>
            <a:endParaRPr lang="en-US" sz="1650" dirty="0"/>
          </a:p>
        </p:txBody>
      </p:sp>
      <p:sp>
        <p:nvSpPr>
          <p:cNvPr id="60" name="Shape 57"/>
          <p:cNvSpPr/>
          <p:nvPr/>
        </p:nvSpPr>
        <p:spPr>
          <a:xfrm>
            <a:off x="914322" y="8235372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104822" y="7799086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Real-World Use Cases</a:t>
            </a:r>
            <a:endParaRPr lang="en-US" sz="1650" dirty="0"/>
          </a:p>
        </p:txBody>
      </p:sp>
      <p:sp>
        <p:nvSpPr>
          <p:cNvPr id="62" name="Shape 59"/>
          <p:cNvSpPr/>
          <p:nvPr/>
        </p:nvSpPr>
        <p:spPr>
          <a:xfrm>
            <a:off x="6578462" y="8235372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6768962" y="7799086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Training &amp; Dataset</a:t>
            </a:r>
            <a:endParaRPr lang="en-US" sz="1650" dirty="0"/>
          </a:p>
        </p:txBody>
      </p:sp>
      <p:sp>
        <p:nvSpPr>
          <p:cNvPr id="64" name="Shape 61"/>
          <p:cNvSpPr/>
          <p:nvPr/>
        </p:nvSpPr>
        <p:spPr>
          <a:xfrm>
            <a:off x="12242732" y="8235372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2433232" y="7799086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Conclusion</a:t>
            </a:r>
            <a:endParaRPr lang="en-US" sz="1650" dirty="0"/>
          </a:p>
        </p:txBody>
      </p:sp>
      <p:sp>
        <p:nvSpPr>
          <p:cNvPr id="66" name="Shape 63"/>
          <p:cNvSpPr/>
          <p:nvPr/>
        </p:nvSpPr>
        <p:spPr>
          <a:xfrm>
            <a:off x="914322" y="8927488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104822" y="8491201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System Architecture</a:t>
            </a:r>
            <a:endParaRPr lang="en-US" sz="1650" dirty="0"/>
          </a:p>
        </p:txBody>
      </p:sp>
      <p:sp>
        <p:nvSpPr>
          <p:cNvPr id="68" name="Shape 65"/>
          <p:cNvSpPr/>
          <p:nvPr/>
        </p:nvSpPr>
        <p:spPr>
          <a:xfrm>
            <a:off x="6578462" y="8927488"/>
            <a:ext cx="51309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6768962" y="8491201"/>
            <a:ext cx="4903875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Testing Methodology</a:t>
            </a:r>
            <a:endParaRPr lang="en-US" sz="1650" dirty="0"/>
          </a:p>
        </p:txBody>
      </p:sp>
      <p:sp>
        <p:nvSpPr>
          <p:cNvPr id="70" name="Shape 67"/>
          <p:cNvSpPr/>
          <p:nvPr/>
        </p:nvSpPr>
        <p:spPr>
          <a:xfrm>
            <a:off x="12242732" y="8927488"/>
            <a:ext cx="51308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2433232" y="8491201"/>
            <a:ext cx="4903742" cy="302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Q &amp; A</a:t>
            </a:r>
            <a:endParaRPr lang="en-US" sz="1650" dirty="0"/>
          </a:p>
        </p:txBody>
      </p:sp>
      <p:sp>
        <p:nvSpPr>
          <p:cNvPr id="72" name="Shape 69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609548" y="9903542"/>
            <a:ext cx="922191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 02</a:t>
            </a:r>
            <a:endParaRPr lang="en-US" sz="1125" dirty="0"/>
          </a:p>
        </p:txBody>
      </p:sp>
      <p:sp>
        <p:nvSpPr>
          <p:cNvPr id="74" name="Text 71"/>
          <p:cNvSpPr/>
          <p:nvPr/>
        </p:nvSpPr>
        <p:spPr>
          <a:xfrm>
            <a:off x="1607861" y="9903542"/>
            <a:ext cx="133942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90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SECTION_INDEX</a:t>
            </a:r>
            <a:endParaRPr lang="en-US" sz="1125" dirty="0"/>
          </a:p>
        </p:txBody>
      </p:sp>
      <p:sp>
        <p:nvSpPr>
          <p:cNvPr id="75" name="Text 72"/>
          <p:cNvSpPr/>
          <p:nvPr/>
        </p:nvSpPr>
        <p:spPr>
          <a:xfrm>
            <a:off x="15986471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BRIEFING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58221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RECAP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0441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LEFT OFF → WHERE WE ARE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I delivered a simulated prototype. Capstone II delivers a deployed, real-hardware system flying real missions.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256644" y="2463817"/>
            <a:ext cx="1193235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SHIFT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683923" y="2653412"/>
            <a:ext cx="1689756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→ FIELD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658843"/>
            <a:ext cx="8001130" cy="4591283"/>
          </a:xfrm>
          <a:prstGeom prst="roundRect">
            <a:avLst>
              <a:gd name="adj" fmla="val 124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03605" y="4048125"/>
            <a:ext cx="7439241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CAPSTONE I · 2024 / 2025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303605" y="4294921"/>
            <a:ext cx="7439241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&amp; Simulation</a:t>
            </a:r>
            <a:endParaRPr lang="en-US" sz="2550" dirty="0"/>
          </a:p>
        </p:txBody>
      </p:sp>
      <p:sp>
        <p:nvSpPr>
          <p:cNvPr id="26" name="Text 23"/>
          <p:cNvSpPr/>
          <p:nvPr/>
        </p:nvSpPr>
        <p:spPr>
          <a:xfrm>
            <a:off x="1303605" y="4938764"/>
            <a:ext cx="251429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31156" y="4929317"/>
            <a:ext cx="3165567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Gazebo simulation</a:t>
            </a:r>
            <a:endParaRPr lang="en-US" sz="1425" dirty="0"/>
          </a:p>
        </p:txBody>
      </p:sp>
      <p:sp>
        <p:nvSpPr>
          <p:cNvPr id="28" name="Text 25"/>
          <p:cNvSpPr/>
          <p:nvPr/>
        </p:nvSpPr>
        <p:spPr>
          <a:xfrm>
            <a:off x="1631156" y="5173137"/>
            <a:ext cx="3165567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drone, autonomous waypoint flight in SITL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1303605" y="5560995"/>
            <a:ext cx="251429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31156" y="5551548"/>
            <a:ext cx="2769671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YOLO prototype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1631156" y="5795367"/>
            <a:ext cx="2769671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detection on recorded footage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303605" y="6183227"/>
            <a:ext cx="251429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631156" y="6173779"/>
            <a:ext cx="3055729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on paper</a:t>
            </a:r>
            <a:endParaRPr lang="en-US" sz="1425" dirty="0"/>
          </a:p>
        </p:txBody>
      </p:sp>
      <p:sp>
        <p:nvSpPr>
          <p:cNvPr id="34" name="Text 31"/>
          <p:cNvSpPr/>
          <p:nvPr/>
        </p:nvSpPr>
        <p:spPr>
          <a:xfrm>
            <a:off x="1631156" y="6417598"/>
            <a:ext cx="3055729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diagrams, sensor selection, requirements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1303605" y="6805457"/>
            <a:ext cx="251429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631156" y="6796010"/>
            <a:ext cx="301414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hardware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631156" y="7039830"/>
            <a:ext cx="301414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flight, no live communication, no real model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9372549" y="3658843"/>
            <a:ext cx="8001130" cy="4591283"/>
          </a:xfrm>
          <a:prstGeom prst="roundRect">
            <a:avLst>
              <a:gd name="adj" fmla="val 1245"/>
            </a:avLst>
          </a:prstGeom>
          <a:solidFill>
            <a:srgbClr val="D4A24C">
              <a:alpha val="10000"/>
            </a:srgbClr>
          </a:solidFill>
          <a:ln w="8283">
            <a:solidFill>
              <a:srgbClr val="C9A84C"/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761831" y="4048125"/>
            <a:ext cx="7439241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CAPSTONE II · 2025 / 2026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9761831" y="4286638"/>
            <a:ext cx="7439241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Built. Trained. Flying.</a:t>
            </a:r>
            <a:endParaRPr lang="en-US" sz="2550" dirty="0"/>
          </a:p>
        </p:txBody>
      </p:sp>
      <p:sp>
        <p:nvSpPr>
          <p:cNvPr id="41" name="Text 38"/>
          <p:cNvSpPr/>
          <p:nvPr/>
        </p:nvSpPr>
        <p:spPr>
          <a:xfrm>
            <a:off x="9761831" y="4930482"/>
            <a:ext cx="190604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0028558" y="4921035"/>
            <a:ext cx="3129043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assembled drone</a:t>
            </a:r>
            <a:endParaRPr lang="en-US" sz="1425" dirty="0"/>
          </a:p>
        </p:txBody>
      </p:sp>
      <p:sp>
        <p:nvSpPr>
          <p:cNvPr id="43" name="Text 40"/>
          <p:cNvSpPr/>
          <p:nvPr/>
        </p:nvSpPr>
        <p:spPr>
          <a:xfrm>
            <a:off x="10028558" y="5164854"/>
            <a:ext cx="3129043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Carbon-fiber airframe, Pixhawk + RPi5 + Pi Cam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9761831" y="5552713"/>
            <a:ext cx="190604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0028558" y="5543266"/>
            <a:ext cx="2787133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ROS 2 software stack</a:t>
            </a:r>
            <a:endParaRPr lang="en-US" sz="1425" dirty="0"/>
          </a:p>
        </p:txBody>
      </p:sp>
      <p:sp>
        <p:nvSpPr>
          <p:cNvPr id="46" name="Text 43"/>
          <p:cNvSpPr/>
          <p:nvPr/>
        </p:nvSpPr>
        <p:spPr>
          <a:xfrm>
            <a:off x="10028558" y="5787085"/>
            <a:ext cx="2787133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FSM, detection, IFF, alert publisher</a:t>
            </a:r>
            <a:endParaRPr lang="en-US" sz="1125" dirty="0"/>
          </a:p>
        </p:txBody>
      </p:sp>
      <p:sp>
        <p:nvSpPr>
          <p:cNvPr id="47" name="Text 44"/>
          <p:cNvSpPr/>
          <p:nvPr/>
        </p:nvSpPr>
        <p:spPr>
          <a:xfrm>
            <a:off x="9761831" y="6174944"/>
            <a:ext cx="190604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0028558" y="6165496"/>
            <a:ext cx="3151304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YOLOv8 model</a:t>
            </a:r>
            <a:endParaRPr lang="en-US" sz="1425" dirty="0"/>
          </a:p>
        </p:txBody>
      </p:sp>
      <p:sp>
        <p:nvSpPr>
          <p:cNvPr id="49" name="Text 46"/>
          <p:cNvSpPr/>
          <p:nvPr/>
        </p:nvSpPr>
        <p:spPr>
          <a:xfrm>
            <a:off x="10028558" y="6409316"/>
            <a:ext cx="315130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dataset, 94.3% mAP@50, 8.3 FPS edge</a:t>
            </a:r>
            <a:endParaRPr lang="en-US" sz="1125" dirty="0"/>
          </a:p>
        </p:txBody>
      </p:sp>
      <p:sp>
        <p:nvSpPr>
          <p:cNvPr id="50" name="Text 47"/>
          <p:cNvSpPr/>
          <p:nvPr/>
        </p:nvSpPr>
        <p:spPr>
          <a:xfrm>
            <a:off x="9761831" y="6797175"/>
            <a:ext cx="190604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10028558" y="6787728"/>
            <a:ext cx="282459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cloud backend</a:t>
            </a:r>
            <a:endParaRPr lang="en-US" sz="1425" dirty="0"/>
          </a:p>
        </p:txBody>
      </p:sp>
      <p:sp>
        <p:nvSpPr>
          <p:cNvPr id="52" name="Text 49"/>
          <p:cNvSpPr/>
          <p:nvPr/>
        </p:nvSpPr>
        <p:spPr>
          <a:xfrm>
            <a:off x="10028558" y="7031547"/>
            <a:ext cx="282459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PostgreSQL + WSS over 4G LTE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9761831" y="7419406"/>
            <a:ext cx="190604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0028558" y="7409959"/>
            <a:ext cx="2914033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GCS dashboard</a:t>
            </a:r>
            <a:endParaRPr lang="en-US" sz="1425" dirty="0"/>
          </a:p>
        </p:txBody>
      </p:sp>
      <p:sp>
        <p:nvSpPr>
          <p:cNvPr id="55" name="Text 52"/>
          <p:cNvSpPr/>
          <p:nvPr/>
        </p:nvSpPr>
        <p:spPr>
          <a:xfrm>
            <a:off x="10028558" y="7653778"/>
            <a:ext cx="2914033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Leaflet, real-time alerts &amp; commands</a:t>
            </a:r>
            <a:endParaRPr lang="en-US" sz="1125" dirty="0"/>
          </a:p>
        </p:txBody>
      </p:sp>
      <p:sp>
        <p:nvSpPr>
          <p:cNvPr id="56" name="Shape 53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09548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TRANSITION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16303798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RECAP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39300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THREAT MODEL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039437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wide-area surveillance is built on fixed sensors and tired human operators — both fail exactly when threats become unconventional.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053547" y="2463817"/>
            <a:ext cx="1396332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MODES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537166" y="2653412"/>
            <a:ext cx="1836513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IDENTIFIED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658843"/>
            <a:ext cx="8096380" cy="1911471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46403" y="3990923"/>
            <a:ext cx="656112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25" name="Text 22"/>
          <p:cNvSpPr/>
          <p:nvPr/>
        </p:nvSpPr>
        <p:spPr>
          <a:xfrm>
            <a:off x="1997662" y="4197989"/>
            <a:ext cx="3103183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Fixed-camera blind spots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246403" y="4741276"/>
            <a:ext cx="7655184" cy="535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CCTV cannot cover wide, irregular terrain — borders, holy-site perimeters, remote infrastructure. Every fixed installation creates predictable, exploitable gaps in coverage.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277299" y="3658843"/>
            <a:ext cx="8096380" cy="1911471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609379" y="3990923"/>
            <a:ext cx="737385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29" name="Text 26"/>
          <p:cNvSpPr/>
          <p:nvPr/>
        </p:nvSpPr>
        <p:spPr>
          <a:xfrm>
            <a:off x="10441911" y="4197989"/>
            <a:ext cx="2054449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fatigue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9609379" y="4741276"/>
            <a:ext cx="7655184" cy="535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watch-standers monitoring dozens of feeds miss critical events as attention degrades over hours. Vigilance decrements are well-documented and unavoidable.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914322" y="5836910"/>
            <a:ext cx="8096380" cy="1911471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246403" y="6168991"/>
            <a:ext cx="743338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33" name="Text 30"/>
          <p:cNvSpPr/>
          <p:nvPr/>
        </p:nvSpPr>
        <p:spPr>
          <a:xfrm>
            <a:off x="2084888" y="6376056"/>
            <a:ext cx="3259942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can't see small UAVs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246403" y="6919343"/>
            <a:ext cx="7655184" cy="535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radar is tuned for large aircraft. Small, low-altitude drones present a radar cross-section close to noise — they pass under conventional air defense entirely undetected.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9277299" y="5836910"/>
            <a:ext cx="8096380" cy="1911471"/>
          </a:xfrm>
          <a:prstGeom prst="roundRect">
            <a:avLst>
              <a:gd name="adj" fmla="val 2990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609379" y="6168991"/>
            <a:ext cx="757186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37" name="Text 34"/>
          <p:cNvSpPr/>
          <p:nvPr/>
        </p:nvSpPr>
        <p:spPr>
          <a:xfrm>
            <a:off x="10461711" y="6376056"/>
            <a:ext cx="5175704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Piloted UAVs replicate the fatigue problem</a:t>
            </a:r>
            <a:endParaRPr lang="en-US" sz="1950" dirty="0"/>
          </a:p>
        </p:txBody>
      </p:sp>
      <p:sp>
        <p:nvSpPr>
          <p:cNvPr id="38" name="Text 35"/>
          <p:cNvSpPr/>
          <p:nvPr/>
        </p:nvSpPr>
        <p:spPr>
          <a:xfrm>
            <a:off x="9609379" y="6919343"/>
            <a:ext cx="7655184" cy="535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deployed UAV solutions require dedicated human pilots per airframe — recreating the same fatigue and scaling bottleneck the system was meant to eliminate.</a:t>
            </a:r>
            <a:endParaRPr lang="en-US" sz="1275" dirty="0"/>
          </a:p>
        </p:txBody>
      </p:sp>
      <p:sp>
        <p:nvSpPr>
          <p:cNvPr id="39" name="Shape 36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9548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VECTORS · 4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16092204" y="9903542"/>
            <a:ext cx="166244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PROBLEM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16134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LITERATURE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3033068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 ART &amp; RESEARCH GAP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related work covers a slice. None integrate detection, autonomy, GPS-tagged alerts, IFF, and a live operator interface into one cohesive system.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5748900" y="2463817"/>
            <a:ext cx="1700978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STUDIES REVIEWED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672663" y="2653412"/>
            <a:ext cx="170101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506391"/>
            <a:ext cx="16459356" cy="4415019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265427" y="4207695"/>
            <a:ext cx="4727040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436877" y="3933670"/>
            <a:ext cx="4525951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992467" y="4207695"/>
            <a:ext cx="1899047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63917" y="3933670"/>
            <a:ext cx="1632347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891515" y="4207695"/>
            <a:ext cx="157576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62965" y="3933670"/>
            <a:ext cx="130906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467281" y="4207695"/>
            <a:ext cx="157576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638731" y="3933670"/>
            <a:ext cx="130906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1043047" y="4207695"/>
            <a:ext cx="222232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1214497" y="3933670"/>
            <a:ext cx="1955628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3265375" y="4207695"/>
            <a:ext cx="109084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436825" y="3933670"/>
            <a:ext cx="824145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4356220" y="4207695"/>
            <a:ext cx="157576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4527670" y="3933670"/>
            <a:ext cx="130906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 UI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15931987" y="4207695"/>
            <a:ext cx="109084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6103437" y="3933670"/>
            <a:ext cx="824145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265427" y="4785665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436877" y="4372519"/>
            <a:ext cx="4525951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Yun et al. — Multi-UAV RL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5992467" y="4785665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125817" y="4372519"/>
            <a:ext cx="1632347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7891515" y="4785665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024865" y="4372519"/>
            <a:ext cx="1309066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9467281" y="4785665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9600631" y="4372519"/>
            <a:ext cx="1309066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11043047" y="4785665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1176397" y="4372519"/>
            <a:ext cx="1955628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0" name="Shape 47"/>
          <p:cNvSpPr/>
          <p:nvPr/>
        </p:nvSpPr>
        <p:spPr>
          <a:xfrm>
            <a:off x="13265375" y="4785665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3398725" y="4372519"/>
            <a:ext cx="824145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14356220" y="4785665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4489570" y="4372519"/>
            <a:ext cx="1309066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15931987" y="4785665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6065337" y="4372519"/>
            <a:ext cx="824145" cy="298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1265427" y="5355354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436877" y="4946348"/>
            <a:ext cx="4525951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Guettala et al. — Thermal human detection</a:t>
            </a:r>
            <a:endParaRPr lang="en-US" sz="1350" dirty="0"/>
          </a:p>
        </p:txBody>
      </p:sp>
      <p:sp>
        <p:nvSpPr>
          <p:cNvPr id="58" name="Shape 55"/>
          <p:cNvSpPr/>
          <p:nvPr/>
        </p:nvSpPr>
        <p:spPr>
          <a:xfrm>
            <a:off x="5992467" y="5355354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125817" y="4946348"/>
            <a:ext cx="1632347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7891515" y="5355354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8024865" y="4946348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62" name="Shape 59"/>
          <p:cNvSpPr/>
          <p:nvPr/>
        </p:nvSpPr>
        <p:spPr>
          <a:xfrm>
            <a:off x="9467281" y="5355354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9600631" y="4946348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11043047" y="5355354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1176397" y="4946348"/>
            <a:ext cx="1955628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66" name="Shape 63"/>
          <p:cNvSpPr/>
          <p:nvPr/>
        </p:nvSpPr>
        <p:spPr>
          <a:xfrm>
            <a:off x="13265375" y="5355354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3398725" y="4946348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14356220" y="5355354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14489570" y="4946348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15931987" y="5355354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6065337" y="4946348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1265427" y="5925042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436877" y="5516037"/>
            <a:ext cx="4525951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Yasmine et al. — Anti-drone YOLOv7</a:t>
            </a:r>
            <a:endParaRPr lang="en-US" sz="1350" dirty="0"/>
          </a:p>
        </p:txBody>
      </p:sp>
      <p:sp>
        <p:nvSpPr>
          <p:cNvPr id="74" name="Shape 71"/>
          <p:cNvSpPr/>
          <p:nvPr/>
        </p:nvSpPr>
        <p:spPr>
          <a:xfrm>
            <a:off x="5992467" y="5925042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125817" y="5516037"/>
            <a:ext cx="1632347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6" name="Shape 73"/>
          <p:cNvSpPr/>
          <p:nvPr/>
        </p:nvSpPr>
        <p:spPr>
          <a:xfrm>
            <a:off x="7891515" y="5925042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8024865" y="5516037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467281" y="5925042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9600631" y="5516037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80" name="Shape 77"/>
          <p:cNvSpPr/>
          <p:nvPr/>
        </p:nvSpPr>
        <p:spPr>
          <a:xfrm>
            <a:off x="11043047" y="5925042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11176397" y="5516037"/>
            <a:ext cx="1955628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82" name="Shape 79"/>
          <p:cNvSpPr/>
          <p:nvPr/>
        </p:nvSpPr>
        <p:spPr>
          <a:xfrm>
            <a:off x="13265375" y="5925042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13398725" y="5516037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14356220" y="5925042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14489570" y="5516037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86" name="Shape 83"/>
          <p:cNvSpPr/>
          <p:nvPr/>
        </p:nvSpPr>
        <p:spPr>
          <a:xfrm>
            <a:off x="15931987" y="5925042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16065337" y="5516037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88" name="Shape 85"/>
          <p:cNvSpPr/>
          <p:nvPr/>
        </p:nvSpPr>
        <p:spPr>
          <a:xfrm>
            <a:off x="1265427" y="6494730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1436877" y="6085724"/>
            <a:ext cx="4525951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Aydin &amp; Singha — Drone detection YOLOv5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5992467" y="6494730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6125817" y="6085724"/>
            <a:ext cx="1632347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92" name="Shape 89"/>
          <p:cNvSpPr/>
          <p:nvPr/>
        </p:nvSpPr>
        <p:spPr>
          <a:xfrm>
            <a:off x="7891515" y="6494730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8024865" y="6085724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94" name="Shape 91"/>
          <p:cNvSpPr/>
          <p:nvPr/>
        </p:nvSpPr>
        <p:spPr>
          <a:xfrm>
            <a:off x="9467281" y="6494730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9600631" y="6085724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96" name="Shape 93"/>
          <p:cNvSpPr/>
          <p:nvPr/>
        </p:nvSpPr>
        <p:spPr>
          <a:xfrm>
            <a:off x="11043047" y="6494730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11176397" y="6085724"/>
            <a:ext cx="1955628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98" name="Shape 95"/>
          <p:cNvSpPr/>
          <p:nvPr/>
        </p:nvSpPr>
        <p:spPr>
          <a:xfrm>
            <a:off x="13265375" y="6494730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6"/>
          <p:cNvSpPr/>
          <p:nvPr/>
        </p:nvSpPr>
        <p:spPr>
          <a:xfrm>
            <a:off x="13398725" y="6085724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00" name="Shape 97"/>
          <p:cNvSpPr/>
          <p:nvPr/>
        </p:nvSpPr>
        <p:spPr>
          <a:xfrm>
            <a:off x="14356220" y="6494730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14489570" y="6085724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15931987" y="6494730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0"/>
          <p:cNvSpPr/>
          <p:nvPr/>
        </p:nvSpPr>
        <p:spPr>
          <a:xfrm>
            <a:off x="16065337" y="6085724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04" name="Shape 101"/>
          <p:cNvSpPr/>
          <p:nvPr/>
        </p:nvSpPr>
        <p:spPr>
          <a:xfrm>
            <a:off x="1265427" y="7064419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2"/>
          <p:cNvSpPr/>
          <p:nvPr/>
        </p:nvSpPr>
        <p:spPr>
          <a:xfrm>
            <a:off x="1436877" y="6655413"/>
            <a:ext cx="4525951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Ghazlane et al. — YOLOv7 + DeepSort</a:t>
            </a:r>
            <a:endParaRPr lang="en-US" sz="1350" dirty="0"/>
          </a:p>
        </p:txBody>
      </p:sp>
      <p:sp>
        <p:nvSpPr>
          <p:cNvPr id="106" name="Shape 103"/>
          <p:cNvSpPr/>
          <p:nvPr/>
        </p:nvSpPr>
        <p:spPr>
          <a:xfrm>
            <a:off x="5992467" y="7064419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4"/>
          <p:cNvSpPr/>
          <p:nvPr/>
        </p:nvSpPr>
        <p:spPr>
          <a:xfrm>
            <a:off x="6125817" y="6655413"/>
            <a:ext cx="1632347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08" name="Shape 105"/>
          <p:cNvSpPr/>
          <p:nvPr/>
        </p:nvSpPr>
        <p:spPr>
          <a:xfrm>
            <a:off x="7891515" y="7064419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8024865" y="6655413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10" name="Shape 107"/>
          <p:cNvSpPr/>
          <p:nvPr/>
        </p:nvSpPr>
        <p:spPr>
          <a:xfrm>
            <a:off x="9467281" y="7064419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9600631" y="6655413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12" name="Shape 109"/>
          <p:cNvSpPr/>
          <p:nvPr/>
        </p:nvSpPr>
        <p:spPr>
          <a:xfrm>
            <a:off x="11043047" y="7064419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0"/>
          <p:cNvSpPr/>
          <p:nvPr/>
        </p:nvSpPr>
        <p:spPr>
          <a:xfrm>
            <a:off x="11176397" y="6655413"/>
            <a:ext cx="1955628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13265375" y="7064419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2"/>
          <p:cNvSpPr/>
          <p:nvPr/>
        </p:nvSpPr>
        <p:spPr>
          <a:xfrm>
            <a:off x="13398725" y="6655413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16" name="Shape 113"/>
          <p:cNvSpPr/>
          <p:nvPr/>
        </p:nvSpPr>
        <p:spPr>
          <a:xfrm>
            <a:off x="14356220" y="7064419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4"/>
          <p:cNvSpPr/>
          <p:nvPr/>
        </p:nvSpPr>
        <p:spPr>
          <a:xfrm>
            <a:off x="14489570" y="6655413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18" name="Shape 115"/>
          <p:cNvSpPr/>
          <p:nvPr/>
        </p:nvSpPr>
        <p:spPr>
          <a:xfrm>
            <a:off x="15931987" y="7064419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6"/>
          <p:cNvSpPr/>
          <p:nvPr/>
        </p:nvSpPr>
        <p:spPr>
          <a:xfrm>
            <a:off x="16065337" y="6655413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kern="0" spc="-6" dirty="0">
                <a:solidFill>
                  <a:srgbClr val="9B88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120" name="Shape 117"/>
          <p:cNvSpPr/>
          <p:nvPr/>
        </p:nvSpPr>
        <p:spPr>
          <a:xfrm>
            <a:off x="1265427" y="7072701"/>
            <a:ext cx="15757146" cy="569688"/>
          </a:xfrm>
          <a:prstGeom prst="rect">
            <a:avLst/>
          </a:prstGeom>
          <a:solidFill>
            <a:srgbClr val="C9A84C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1265427" y="7634106"/>
            <a:ext cx="472704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19"/>
          <p:cNvSpPr/>
          <p:nvPr/>
        </p:nvSpPr>
        <p:spPr>
          <a:xfrm>
            <a:off x="1436877" y="7225101"/>
            <a:ext cx="4525951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EQAAB </a:t>
            </a:r>
            <a:r>
              <a:rPr lang="en-US" sz="975" b="1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(this work)</a:t>
            </a:r>
            <a:endParaRPr lang="en-US" sz="1350" dirty="0"/>
          </a:p>
        </p:txBody>
      </p:sp>
      <p:sp>
        <p:nvSpPr>
          <p:cNvPr id="123" name="Shape 120"/>
          <p:cNvSpPr/>
          <p:nvPr/>
        </p:nvSpPr>
        <p:spPr>
          <a:xfrm>
            <a:off x="5992467" y="7634106"/>
            <a:ext cx="189904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21"/>
          <p:cNvSpPr/>
          <p:nvPr/>
        </p:nvSpPr>
        <p:spPr>
          <a:xfrm>
            <a:off x="6125817" y="7225101"/>
            <a:ext cx="1632347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25" name="Shape 122"/>
          <p:cNvSpPr/>
          <p:nvPr/>
        </p:nvSpPr>
        <p:spPr>
          <a:xfrm>
            <a:off x="7891515" y="7634106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3"/>
          <p:cNvSpPr/>
          <p:nvPr/>
        </p:nvSpPr>
        <p:spPr>
          <a:xfrm>
            <a:off x="8024865" y="7225101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27" name="Shape 124"/>
          <p:cNvSpPr/>
          <p:nvPr/>
        </p:nvSpPr>
        <p:spPr>
          <a:xfrm>
            <a:off x="9467281" y="7634106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25"/>
          <p:cNvSpPr/>
          <p:nvPr/>
        </p:nvSpPr>
        <p:spPr>
          <a:xfrm>
            <a:off x="9600631" y="7225101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29" name="Shape 126"/>
          <p:cNvSpPr/>
          <p:nvPr/>
        </p:nvSpPr>
        <p:spPr>
          <a:xfrm>
            <a:off x="11043047" y="7634106"/>
            <a:ext cx="222232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27"/>
          <p:cNvSpPr/>
          <p:nvPr/>
        </p:nvSpPr>
        <p:spPr>
          <a:xfrm>
            <a:off x="11176397" y="7225101"/>
            <a:ext cx="1955628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31" name="Shape 128"/>
          <p:cNvSpPr/>
          <p:nvPr/>
        </p:nvSpPr>
        <p:spPr>
          <a:xfrm>
            <a:off x="13265375" y="7634106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29"/>
          <p:cNvSpPr/>
          <p:nvPr/>
        </p:nvSpPr>
        <p:spPr>
          <a:xfrm>
            <a:off x="13398725" y="7225101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33" name="Shape 130"/>
          <p:cNvSpPr/>
          <p:nvPr/>
        </p:nvSpPr>
        <p:spPr>
          <a:xfrm>
            <a:off x="14356220" y="7634106"/>
            <a:ext cx="157576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Text 131"/>
          <p:cNvSpPr/>
          <p:nvPr/>
        </p:nvSpPr>
        <p:spPr>
          <a:xfrm>
            <a:off x="14489570" y="7225101"/>
            <a:ext cx="1309066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35" name="Shape 132"/>
          <p:cNvSpPr/>
          <p:nvPr/>
        </p:nvSpPr>
        <p:spPr>
          <a:xfrm>
            <a:off x="15931987" y="7634106"/>
            <a:ext cx="10908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Text 133"/>
          <p:cNvSpPr/>
          <p:nvPr/>
        </p:nvSpPr>
        <p:spPr>
          <a:xfrm>
            <a:off x="16065337" y="7225101"/>
            <a:ext cx="824145" cy="294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50" dirty="0"/>
          </a:p>
        </p:txBody>
      </p:sp>
      <p:sp>
        <p:nvSpPr>
          <p:cNvPr id="137" name="Shape 134"/>
          <p:cNvSpPr/>
          <p:nvPr/>
        </p:nvSpPr>
        <p:spPr>
          <a:xfrm>
            <a:off x="914322" y="8265915"/>
            <a:ext cx="57072" cy="45709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Text 135"/>
          <p:cNvSpPr/>
          <p:nvPr/>
        </p:nvSpPr>
        <p:spPr>
          <a:xfrm>
            <a:off x="1142741" y="8188006"/>
            <a:ext cx="11772900" cy="65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gap: </a:t>
            </a: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work delivers an end-to-end autonomous surveillance UAV with multi-class onboard detection, IFF classification, and an operator-facing GCS — all on commodity hardware.</a:t>
            </a:r>
            <a:endParaRPr lang="en-US" sz="1650" dirty="0"/>
          </a:p>
        </p:txBody>
      </p:sp>
      <p:sp>
        <p:nvSpPr>
          <p:cNvPr id="139" name="Shape 136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137"/>
          <p:cNvSpPr/>
          <p:nvPr/>
        </p:nvSpPr>
        <p:spPr>
          <a:xfrm>
            <a:off x="609548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IDENTIFIED</a:t>
            </a:r>
            <a:endParaRPr lang="en-US" sz="1125" dirty="0"/>
          </a:p>
        </p:txBody>
      </p:sp>
      <p:sp>
        <p:nvSpPr>
          <p:cNvPr id="141" name="Text 138"/>
          <p:cNvSpPr/>
          <p:nvPr/>
        </p:nvSpPr>
        <p:spPr>
          <a:xfrm>
            <a:off x="15775006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LITERATURE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16134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OBJECTIVES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906701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SUCCESS LOOKS LIKE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8996565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8996565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measurable goals, each tied to a verifiable performance indicator and an evidence source.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967484" y="2165643"/>
            <a:ext cx="482394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563949" y="2355237"/>
            <a:ext cx="809729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284443"/>
            <a:ext cx="16459356" cy="929205"/>
          </a:xfrm>
          <a:prstGeom prst="roundRect">
            <a:avLst>
              <a:gd name="adj" fmla="val 4100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14322" y="4205365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4322" y="3284443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14322" y="3284443"/>
            <a:ext cx="24848" cy="92920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7365396" y="3284443"/>
            <a:ext cx="9525" cy="92920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243944" y="3521273"/>
            <a:ext cx="838200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2348767" y="3591676"/>
            <a:ext cx="624235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mission execution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8752129" y="3546121"/>
            <a:ext cx="624249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flight loop — takeoff, waypoint traversal, observation, and return-to-home — executed end-to-end with </a:t>
            </a: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operator input</a:t>
            </a: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5079421" y="3616523"/>
            <a:ext cx="1981200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4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 · WAYPOINTS · RTH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914322" y="4384994"/>
            <a:ext cx="16459356" cy="1078292"/>
          </a:xfrm>
          <a:prstGeom prst="roundRect">
            <a:avLst>
              <a:gd name="adj" fmla="val 3533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14322" y="5455004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14322" y="4384994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14322" y="4384994"/>
            <a:ext cx="24848" cy="10782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7365396" y="4384994"/>
            <a:ext cx="9525" cy="1078292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243944" y="4696369"/>
            <a:ext cx="838200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2348767" y="4766771"/>
            <a:ext cx="624235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real-time detection</a:t>
            </a:r>
            <a:endParaRPr lang="en-US" sz="1950" dirty="0"/>
          </a:p>
        </p:txBody>
      </p:sp>
      <p:sp>
        <p:nvSpPr>
          <p:cNvPr id="39" name="Text 36"/>
          <p:cNvSpPr/>
          <p:nvPr/>
        </p:nvSpPr>
        <p:spPr>
          <a:xfrm>
            <a:off x="8752129" y="4621825"/>
            <a:ext cx="6242490" cy="64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inference at </a:t>
            </a: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 FPS </a:t>
            </a: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device with no cloud round-trip. Detection latency must stay bounded even under thermal load over a full mission.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5079421" y="4857880"/>
            <a:ext cx="1981200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4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RPI5 · YOLOV8N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914322" y="5634633"/>
            <a:ext cx="16459356" cy="929205"/>
          </a:xfrm>
          <a:prstGeom prst="roundRect">
            <a:avLst>
              <a:gd name="adj" fmla="val 4100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14322" y="6555555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914322" y="5634633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914322" y="5634633"/>
            <a:ext cx="24848" cy="92920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7365396" y="5634633"/>
            <a:ext cx="9525" cy="92920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243944" y="5871464"/>
            <a:ext cx="838200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47" name="Text 44"/>
          <p:cNvSpPr/>
          <p:nvPr/>
        </p:nvSpPr>
        <p:spPr>
          <a:xfrm>
            <a:off x="2348767" y="5941866"/>
            <a:ext cx="624235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IFF classification</a:t>
            </a:r>
            <a:endParaRPr lang="en-US" sz="1950" dirty="0"/>
          </a:p>
        </p:txBody>
      </p:sp>
      <p:sp>
        <p:nvSpPr>
          <p:cNvPr id="48" name="Text 45"/>
          <p:cNvSpPr/>
          <p:nvPr/>
        </p:nvSpPr>
        <p:spPr>
          <a:xfrm>
            <a:off x="8752129" y="5896312"/>
            <a:ext cx="624249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drone-class detection routed through a deterministic Friendly-vs-Unknown decision with </a:t>
            </a: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fail-safe </a:t>
            </a: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toward UNKNOWN on any uncertainty.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15079421" y="6032975"/>
            <a:ext cx="1981200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4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LOOKUP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914322" y="6735185"/>
            <a:ext cx="16459356" cy="929205"/>
          </a:xfrm>
          <a:prstGeom prst="roundRect">
            <a:avLst>
              <a:gd name="adj" fmla="val 4100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914322" y="7656107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914322" y="6735185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914322" y="6735185"/>
            <a:ext cx="24848" cy="92920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7365396" y="6735185"/>
            <a:ext cx="9525" cy="92920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243944" y="6972016"/>
            <a:ext cx="838200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56" name="Text 53"/>
          <p:cNvSpPr/>
          <p:nvPr/>
        </p:nvSpPr>
        <p:spPr>
          <a:xfrm>
            <a:off x="2348767" y="7042418"/>
            <a:ext cx="624235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GPS-tagged alerts over 4G LTE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8752129" y="6996864"/>
            <a:ext cx="624249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alert → GCS render in </a:t>
            </a: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seconds </a:t>
            </a: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end-to-end, including network hops. Payload is structured JSON over WSS — no video streaming.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15079421" y="7133526"/>
            <a:ext cx="1981200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4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 · JSON · TLS</a:t>
            </a:r>
            <a:endParaRPr lang="en-US" sz="975" dirty="0"/>
          </a:p>
        </p:txBody>
      </p:sp>
      <p:sp>
        <p:nvSpPr>
          <p:cNvPr id="59" name="Shape 56"/>
          <p:cNvSpPr/>
          <p:nvPr/>
        </p:nvSpPr>
        <p:spPr>
          <a:xfrm>
            <a:off x="914322" y="7835736"/>
            <a:ext cx="16459356" cy="929205"/>
          </a:xfrm>
          <a:prstGeom prst="roundRect">
            <a:avLst>
              <a:gd name="adj" fmla="val 4100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914322" y="8756659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914322" y="7835736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914322" y="7835736"/>
            <a:ext cx="24848" cy="92920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17365396" y="7835736"/>
            <a:ext cx="9525" cy="92920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243944" y="8072567"/>
            <a:ext cx="838200" cy="493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65" name="Text 62"/>
          <p:cNvSpPr/>
          <p:nvPr/>
        </p:nvSpPr>
        <p:spPr>
          <a:xfrm>
            <a:off x="2348767" y="8142969"/>
            <a:ext cx="624235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GCS dashboard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8752129" y="8097415"/>
            <a:ext cx="624249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operator pane with </a:t>
            </a:r>
            <a:r>
              <a:rPr lang="en-US" sz="13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map, telemetry, alert feed, and commands </a:t>
            </a: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updating in real time as the drone flies and detects.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15079421" y="8234078"/>
            <a:ext cx="1981200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4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LEAFLET</a:t>
            </a:r>
            <a:endParaRPr lang="en-US" sz="975" dirty="0"/>
          </a:p>
        </p:txBody>
      </p:sp>
      <p:sp>
        <p:nvSpPr>
          <p:cNvPr id="68" name="Shape 65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609548" y="9903542"/>
            <a:ext cx="1133656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 MATRIX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5775006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OBJECTIVES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16134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DEPLOYMENT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3285802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EQAAB EARNS ITS KEEP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deployment scenarios that drove the requirements — and that the platform is built to serve from day one.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053547" y="2463817"/>
            <a:ext cx="1396332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TYPES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977308" y="2653412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PRIMARY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658843"/>
            <a:ext cx="5308635" cy="4257649"/>
          </a:xfrm>
          <a:prstGeom prst="roundRect">
            <a:avLst>
              <a:gd name="adj" fmla="val 1342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22605" y="3667125"/>
            <a:ext cx="5292069" cy="2294283"/>
          </a:xfrm>
          <a:prstGeom prst="rect">
            <a:avLst/>
          </a:prstGeom>
          <a:solidFill>
            <a:srgbClr val="FB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22605" y="5953125"/>
            <a:ext cx="529206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05" y="3667125"/>
            <a:ext cx="5292069" cy="22860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27379" y="6228004"/>
            <a:ext cx="4822997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227379" y="6467294"/>
            <a:ext cx="4822997" cy="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Hajj Season Security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1227379" y="6942638"/>
            <a:ext cx="4822997" cy="58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Aerial overwatch of dense pilgrim crowds and unauthorized drone activity around Makkah and the holy sites — coverage no fixed sensor array can match.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489553" y="3658843"/>
            <a:ext cx="5308764" cy="4257649"/>
          </a:xfrm>
          <a:prstGeom prst="roundRect">
            <a:avLst>
              <a:gd name="adj" fmla="val 1342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497836" y="3667125"/>
            <a:ext cx="5292199" cy="2294283"/>
          </a:xfrm>
          <a:prstGeom prst="rect">
            <a:avLst/>
          </a:prstGeom>
          <a:solidFill>
            <a:srgbClr val="FB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6497836" y="5953125"/>
            <a:ext cx="529219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7836" y="3667125"/>
            <a:ext cx="5292199" cy="22860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02610" y="6228004"/>
            <a:ext cx="4823130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802610" y="6467294"/>
            <a:ext cx="4823130" cy="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Surveillance</a:t>
            </a:r>
            <a:endParaRPr lang="en-US" sz="2100" dirty="0"/>
          </a:p>
        </p:txBody>
      </p:sp>
      <p:sp>
        <p:nvSpPr>
          <p:cNvPr id="36" name="Text 31"/>
          <p:cNvSpPr/>
          <p:nvPr/>
        </p:nvSpPr>
        <p:spPr>
          <a:xfrm>
            <a:off x="6802610" y="6942638"/>
            <a:ext cx="4823130" cy="58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Wide-area perimeter patrol across remote terrain where fixed cameras and radar coverage are economically and operationally infeasible.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12064915" y="3658843"/>
            <a:ext cx="5308635" cy="4257649"/>
          </a:xfrm>
          <a:prstGeom prst="roundRect">
            <a:avLst>
              <a:gd name="adj" fmla="val 1342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12073197" y="3667125"/>
            <a:ext cx="5292069" cy="2294283"/>
          </a:xfrm>
          <a:prstGeom prst="rect">
            <a:avLst/>
          </a:prstGeom>
          <a:solidFill>
            <a:srgbClr val="FB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12073197" y="5953125"/>
            <a:ext cx="529206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3197" y="3667125"/>
            <a:ext cx="5292069" cy="22860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377971" y="6228004"/>
            <a:ext cx="4822997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03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12377971" y="6467294"/>
            <a:ext cx="4822997" cy="361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</a:t>
            </a:r>
            <a:endParaRPr lang="en-US" sz="2100" dirty="0"/>
          </a:p>
        </p:txBody>
      </p:sp>
      <p:sp>
        <p:nvSpPr>
          <p:cNvPr id="43" name="Text 37"/>
          <p:cNvSpPr/>
          <p:nvPr/>
        </p:nvSpPr>
        <p:spPr>
          <a:xfrm>
            <a:off x="12377971" y="6942638"/>
            <a:ext cx="4822997" cy="58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surveillance over power plants, airports, refineries, and restricted facilities — including detection of small unauthorized UAVs entering protected airspace.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609548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 THEATERS</a:t>
            </a:r>
            <a:endParaRPr lang="en-US" sz="1125" dirty="0"/>
          </a:p>
        </p:txBody>
      </p:sp>
      <p:sp>
        <p:nvSpPr>
          <p:cNvPr id="46" name="Text 40"/>
          <p:cNvSpPr/>
          <p:nvPr/>
        </p:nvSpPr>
        <p:spPr>
          <a:xfrm>
            <a:off x="15880738" y="9903542"/>
            <a:ext cx="187391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USE CASES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2952750" y="-1047750"/>
            <a:ext cx="12382500" cy="1238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39300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ARCHITECTURE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7803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SIGNAL FLOW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 — drone edge, cloud backend, operator interface — connected over 4G LTE with structured JSON only.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865936" y="2463817"/>
            <a:ext cx="583943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123936" y="2653412"/>
            <a:ext cx="1249742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LAYERS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914322" y="3582616"/>
            <a:ext cx="1951046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 EDGE · ONBOARD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68857" y="3582616"/>
            <a:ext cx="2325964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BACKEND · REGIONAL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765053" y="3582616"/>
            <a:ext cx="138860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98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 · OPERATOR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14322" y="3868367"/>
            <a:ext cx="5283528" cy="4969565"/>
          </a:xfrm>
          <a:prstGeom prst="roundRect">
            <a:avLst>
              <a:gd name="adj" fmla="val 1150"/>
            </a:avLst>
          </a:prstGeom>
          <a:solidFill>
            <a:srgbClr val="C9A84C">
              <a:alpha val="5000"/>
            </a:srgbClr>
          </a:solidFill>
          <a:ln w="8283">
            <a:solidFill>
              <a:srgbClr val="C9A84C">
                <a:alpha val="2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839623" y="3868367"/>
            <a:ext cx="4954294" cy="4969565"/>
          </a:xfrm>
          <a:prstGeom prst="roundRect">
            <a:avLst>
              <a:gd name="adj" fmla="val 1154"/>
            </a:avLst>
          </a:prstGeom>
          <a:solidFill>
            <a:srgbClr val="C9A84C">
              <a:alpha val="5000"/>
            </a:srgbClr>
          </a:solidFill>
          <a:ln w="8283">
            <a:solidFill>
              <a:srgbClr val="C9A84C">
                <a:alpha val="2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2435820" y="3868367"/>
            <a:ext cx="4954294" cy="4969565"/>
          </a:xfrm>
          <a:prstGeom prst="roundRect">
            <a:avLst>
              <a:gd name="adj" fmla="val 1154"/>
            </a:avLst>
          </a:prstGeom>
          <a:solidFill>
            <a:srgbClr val="C9A84C">
              <a:alpha val="5000"/>
            </a:srgbClr>
          </a:solidFill>
          <a:ln w="8283">
            <a:solidFill>
              <a:srgbClr val="C9A84C">
                <a:alpha val="28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42871" y="4439867"/>
            <a:ext cx="26918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45795" y="4623637"/>
            <a:ext cx="2362200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345795" y="4821514"/>
            <a:ext cx="236220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Camera 12MP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345795" y="5093934"/>
            <a:ext cx="2362200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· 1920×1080 @ 30fps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142871" y="5868617"/>
            <a:ext cx="26918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345795" y="6052387"/>
            <a:ext cx="2362200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345795" y="6250264"/>
            <a:ext cx="236220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345795" y="6522684"/>
            <a:ext cx="2362200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A76 · 8GB · ROS 2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1142871" y="7392617"/>
            <a:ext cx="26918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345795" y="7576387"/>
            <a:ext cx="2362200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CTRL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345795" y="7774264"/>
            <a:ext cx="2362200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· PX4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1345795" y="8046684"/>
            <a:ext cx="2362200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MAVROS bridge · GPS · IMU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068171" y="5201867"/>
            <a:ext cx="32633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271095" y="5385637"/>
            <a:ext cx="2943225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7271095" y="5583514"/>
            <a:ext cx="2943225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7271095" y="5855934"/>
            <a:ext cx="294322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 endpoint · auth · broadcast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068171" y="6821117"/>
            <a:ext cx="32633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271095" y="7004887"/>
            <a:ext cx="2943225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7271095" y="7202764"/>
            <a:ext cx="2943225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7271095" y="7475184"/>
            <a:ext cx="294322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history · telemetry log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664368" y="5201867"/>
            <a:ext cx="32633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2867291" y="5385637"/>
            <a:ext cx="2943225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2867291" y="5583514"/>
            <a:ext cx="2943225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12867291" y="5855934"/>
            <a:ext cx="294322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map · alert feed · telemetry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12664368" y="6821117"/>
            <a:ext cx="3263348" cy="1020055"/>
          </a:xfrm>
          <a:prstGeom prst="roundRect">
            <a:avLst>
              <a:gd name="adj" fmla="val 5603"/>
            </a:avLst>
          </a:prstGeom>
          <a:solidFill>
            <a:srgbClr val="FFFFFF"/>
          </a:solidFill>
          <a:ln w="12424">
            <a:solidFill>
              <a:srgbClr val="C9A84C"/>
            </a:solidFill>
            <a:prstDash val="solid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2867291" y="7004887"/>
            <a:ext cx="2943225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12867291" y="7202764"/>
            <a:ext cx="2943225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Panel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12867291" y="7475184"/>
            <a:ext cx="294322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RTH · Takeoff · Land · Waypoints</a:t>
            </a:r>
            <a:endParaRPr lang="en-US" sz="1050" dirty="0"/>
          </a:p>
        </p:txBody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2" y="3582616"/>
            <a:ext cx="16459356" cy="5334000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914322" y="8992713"/>
            <a:ext cx="16459356" cy="558041"/>
          </a:xfrm>
          <a:prstGeom prst="roundRect">
            <a:avLst>
              <a:gd name="adj" fmla="val 10241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5"/>
          <p:cNvSpPr/>
          <p:nvPr/>
        </p:nvSpPr>
        <p:spPr>
          <a:xfrm>
            <a:off x="1189201" y="9209614"/>
            <a:ext cx="108227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POLICY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2423828" y="9172342"/>
            <a:ext cx="10110005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structured JSON alerts and telemetry cross the LTE link — no video streaming. Bandwidth requirement drops by approximately </a:t>
            </a:r>
            <a:r>
              <a:rPr lang="en-US" sz="1275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sp>
        <p:nvSpPr>
          <p:cNvPr id="61" name="Shape 57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609548" y="9903542"/>
            <a:ext cx="219111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FLOW · 3-TIER</a:t>
            </a:r>
            <a:endParaRPr lang="en-US" sz="1125" dirty="0"/>
          </a:p>
        </p:txBody>
      </p:sp>
      <p:sp>
        <p:nvSpPr>
          <p:cNvPr id="63" name="Text 59"/>
          <p:cNvSpPr/>
          <p:nvPr/>
        </p:nvSpPr>
        <p:spPr>
          <a:xfrm>
            <a:off x="15563540" y="9903542"/>
            <a:ext cx="219111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ARCHITECTURE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929693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AIRFRAME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4232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 OF MATERIALS &amp; FLIGHT ENVELOPE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components, integrated and tuned. Production-grade behaviour from commodity hardware.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358192" y="2463817"/>
            <a:ext cx="1091686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537166" y="2653412"/>
            <a:ext cx="1836513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SUBSYSTEMS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506391"/>
            <a:ext cx="8884910" cy="3901238"/>
          </a:xfrm>
          <a:prstGeom prst="roundRect">
            <a:avLst>
              <a:gd name="adj" fmla="val 146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89201" y="3762220"/>
            <a:ext cx="8585206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BILL OF MATERIALS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1189201" y="4396383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41601" y="4105405"/>
            <a:ext cx="2785853" cy="22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4189836" y="4396383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342236" y="4105405"/>
            <a:ext cx="5189754" cy="22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Carbon-fiber quadcopter · 450mm wheelbase</a:t>
            </a:r>
            <a:endParaRPr lang="en-US" sz="1275" dirty="0"/>
          </a:p>
        </p:txBody>
      </p:sp>
      <p:sp>
        <p:nvSpPr>
          <p:cNvPr id="29" name="Shape 26"/>
          <p:cNvSpPr/>
          <p:nvPr/>
        </p:nvSpPr>
        <p:spPr>
          <a:xfrm>
            <a:off x="1189201" y="4804560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341601" y="4509440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Controller</a:t>
            </a:r>
            <a:endParaRPr lang="en-US" sz="1275" dirty="0"/>
          </a:p>
        </p:txBody>
      </p:sp>
      <p:sp>
        <p:nvSpPr>
          <p:cNvPr id="31" name="Shape 28"/>
          <p:cNvSpPr/>
          <p:nvPr/>
        </p:nvSpPr>
        <p:spPr>
          <a:xfrm>
            <a:off x="4189836" y="4804560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42236" y="4509440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· PX4 firmware · 32-bit ARM</a:t>
            </a:r>
            <a:endParaRPr lang="en-US" sz="1275" dirty="0"/>
          </a:p>
        </p:txBody>
      </p:sp>
      <p:sp>
        <p:nvSpPr>
          <p:cNvPr id="33" name="Shape 30"/>
          <p:cNvSpPr/>
          <p:nvPr/>
        </p:nvSpPr>
        <p:spPr>
          <a:xfrm>
            <a:off x="1189201" y="5212738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341601" y="4917618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Computer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4189836" y="5212738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342236" y="4917618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· Quad-core A76 · 8GB RAM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1189201" y="5620915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341601" y="5325795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275" dirty="0"/>
          </a:p>
        </p:txBody>
      </p:sp>
      <p:sp>
        <p:nvSpPr>
          <p:cNvPr id="39" name="Shape 36"/>
          <p:cNvSpPr/>
          <p:nvPr/>
        </p:nvSpPr>
        <p:spPr>
          <a:xfrm>
            <a:off x="4189836" y="5620915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342236" y="5325795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Camera Module · 12MP CSI</a:t>
            </a:r>
            <a:endParaRPr lang="en-US" sz="1275" dirty="0"/>
          </a:p>
        </p:txBody>
      </p:sp>
      <p:sp>
        <p:nvSpPr>
          <p:cNvPr id="41" name="Shape 38"/>
          <p:cNvSpPr/>
          <p:nvPr/>
        </p:nvSpPr>
        <p:spPr>
          <a:xfrm>
            <a:off x="1189201" y="6029092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341601" y="5733973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</a:t>
            </a:r>
            <a:endParaRPr lang="en-US" sz="1275" dirty="0"/>
          </a:p>
        </p:txBody>
      </p:sp>
      <p:sp>
        <p:nvSpPr>
          <p:cNvPr id="43" name="Shape 40"/>
          <p:cNvSpPr/>
          <p:nvPr/>
        </p:nvSpPr>
        <p:spPr>
          <a:xfrm>
            <a:off x="4189836" y="6029092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42236" y="5733973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u-blox M8N · ±2m accuracy</a:t>
            </a:r>
            <a:endParaRPr lang="en-US" sz="1275" dirty="0"/>
          </a:p>
        </p:txBody>
      </p:sp>
      <p:sp>
        <p:nvSpPr>
          <p:cNvPr id="45" name="Shape 42"/>
          <p:cNvSpPr/>
          <p:nvPr/>
        </p:nvSpPr>
        <p:spPr>
          <a:xfrm>
            <a:off x="1189201" y="6437270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341601" y="6142150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1275" dirty="0"/>
          </a:p>
        </p:txBody>
      </p:sp>
      <p:sp>
        <p:nvSpPr>
          <p:cNvPr id="47" name="Shape 44"/>
          <p:cNvSpPr/>
          <p:nvPr/>
        </p:nvSpPr>
        <p:spPr>
          <a:xfrm>
            <a:off x="4189836" y="6437270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342236" y="6142150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LTE USB dongle · global reach</a:t>
            </a:r>
            <a:endParaRPr lang="en-US" sz="1275" dirty="0"/>
          </a:p>
        </p:txBody>
      </p:sp>
      <p:sp>
        <p:nvSpPr>
          <p:cNvPr id="49" name="Shape 46"/>
          <p:cNvSpPr/>
          <p:nvPr/>
        </p:nvSpPr>
        <p:spPr>
          <a:xfrm>
            <a:off x="1189201" y="6845447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341601" y="6550327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275" dirty="0"/>
          </a:p>
        </p:txBody>
      </p:sp>
      <p:sp>
        <p:nvSpPr>
          <p:cNvPr id="51" name="Shape 48"/>
          <p:cNvSpPr/>
          <p:nvPr/>
        </p:nvSpPr>
        <p:spPr>
          <a:xfrm>
            <a:off x="4189836" y="6845447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342236" y="6550327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LiPo 4S 5000mAh</a:t>
            </a:r>
            <a:endParaRPr lang="en-US" sz="1275" dirty="0"/>
          </a:p>
        </p:txBody>
      </p:sp>
      <p:sp>
        <p:nvSpPr>
          <p:cNvPr id="53" name="Shape 50"/>
          <p:cNvSpPr/>
          <p:nvPr/>
        </p:nvSpPr>
        <p:spPr>
          <a:xfrm>
            <a:off x="1189201" y="7253624"/>
            <a:ext cx="300063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341601" y="6958504"/>
            <a:ext cx="2785853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Backup</a:t>
            </a:r>
            <a:endParaRPr lang="en-US" sz="1275" dirty="0"/>
          </a:p>
        </p:txBody>
      </p:sp>
      <p:sp>
        <p:nvSpPr>
          <p:cNvPr id="55" name="Shape 52"/>
          <p:cNvSpPr/>
          <p:nvPr/>
        </p:nvSpPr>
        <p:spPr>
          <a:xfrm>
            <a:off x="4189836" y="7253624"/>
            <a:ext cx="5334518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342236" y="6958504"/>
            <a:ext cx="5189754" cy="22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2.4GHz receiver · manual override</a:t>
            </a:r>
            <a:endParaRPr lang="en-US" sz="1275" dirty="0"/>
          </a:p>
        </p:txBody>
      </p:sp>
      <p:sp>
        <p:nvSpPr>
          <p:cNvPr id="57" name="Shape 54"/>
          <p:cNvSpPr/>
          <p:nvPr/>
        </p:nvSpPr>
        <p:spPr>
          <a:xfrm>
            <a:off x="914322" y="7578976"/>
            <a:ext cx="8884910" cy="1253651"/>
          </a:xfrm>
          <a:prstGeom prst="roundRect">
            <a:avLst>
              <a:gd name="adj" fmla="val 4559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189201" y="7796704"/>
            <a:ext cx="8585206" cy="16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FLIGHT SPECIFICATIONS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1303476" y="8149440"/>
            <a:ext cx="1514656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ALTITUDE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303476" y="8311728"/>
            <a:ext cx="1514656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</a:t>
            </a:r>
            <a:r>
              <a:rPr lang="en-US" sz="9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2856206" y="8035166"/>
            <a:ext cx="9525" cy="655879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978763" y="8149440"/>
            <a:ext cx="1506374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TIME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2978763" y="8311728"/>
            <a:ext cx="1506374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</a:t>
            </a:r>
            <a:r>
              <a:rPr lang="en-US" sz="9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650" dirty="0"/>
          </a:p>
        </p:txBody>
      </p:sp>
      <p:sp>
        <p:nvSpPr>
          <p:cNvPr id="64" name="Text 61"/>
          <p:cNvSpPr/>
          <p:nvPr/>
        </p:nvSpPr>
        <p:spPr>
          <a:xfrm>
            <a:off x="4637485" y="8149440"/>
            <a:ext cx="1514656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4637485" y="8311728"/>
            <a:ext cx="1514656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</a:t>
            </a:r>
            <a:r>
              <a:rPr lang="en-US" sz="975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</a:t>
            </a:r>
            <a:endParaRPr lang="en-US" sz="1650" dirty="0"/>
          </a:p>
        </p:txBody>
      </p:sp>
      <p:sp>
        <p:nvSpPr>
          <p:cNvPr id="66" name="Shape 63"/>
          <p:cNvSpPr/>
          <p:nvPr/>
        </p:nvSpPr>
        <p:spPr>
          <a:xfrm>
            <a:off x="6190215" y="8035166"/>
            <a:ext cx="9525" cy="655879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6312772" y="8149440"/>
            <a:ext cx="1506374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GEOFENCE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6312772" y="8311728"/>
            <a:ext cx="1506374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</a:t>
            </a:r>
            <a:endParaRPr lang="en-US" sz="1650" dirty="0"/>
          </a:p>
        </p:txBody>
      </p:sp>
      <p:sp>
        <p:nvSpPr>
          <p:cNvPr id="69" name="Text 66"/>
          <p:cNvSpPr/>
          <p:nvPr/>
        </p:nvSpPr>
        <p:spPr>
          <a:xfrm>
            <a:off x="7971494" y="8149440"/>
            <a:ext cx="1514786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44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FAILSAFE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7971494" y="8311728"/>
            <a:ext cx="1514786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RTH @ 30%</a:t>
            </a:r>
            <a:endParaRPr lang="en-US" sz="1350" dirty="0"/>
          </a:p>
        </p:txBody>
      </p:sp>
      <p:sp>
        <p:nvSpPr>
          <p:cNvPr id="71" name="Shape 68"/>
          <p:cNvSpPr/>
          <p:nvPr/>
        </p:nvSpPr>
        <p:spPr>
          <a:xfrm>
            <a:off x="10104007" y="3506391"/>
            <a:ext cx="7912351" cy="6738679"/>
          </a:xfrm>
          <a:prstGeom prst="roundRect">
            <a:avLst>
              <a:gd name="adj" fmla="val 848"/>
            </a:avLst>
          </a:prstGeom>
          <a:solidFill>
            <a:srgbClr val="FFFFFF"/>
          </a:solidFill>
          <a:ln w="16565">
            <a:solidFill>
              <a:srgbClr val="C9A84C"/>
            </a:solidFill>
            <a:prstDash val="dash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3762926" y="6054199"/>
            <a:ext cx="594510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16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</a:t>
            </a:r>
            <a:endParaRPr lang="en-US" sz="3600" dirty="0"/>
          </a:p>
        </p:txBody>
      </p:sp>
      <p:sp>
        <p:nvSpPr>
          <p:cNvPr id="73" name="Text 70"/>
          <p:cNvSpPr/>
          <p:nvPr/>
        </p:nvSpPr>
        <p:spPr>
          <a:xfrm>
            <a:off x="13030951" y="6805328"/>
            <a:ext cx="20584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0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 PLACEHOLDER</a:t>
            </a:r>
            <a:endParaRPr lang="en-US" sz="1350" dirty="0"/>
          </a:p>
        </p:txBody>
      </p:sp>
      <p:sp>
        <p:nvSpPr>
          <p:cNvPr id="74" name="Text 71"/>
          <p:cNvSpPr/>
          <p:nvPr/>
        </p:nvSpPr>
        <p:spPr>
          <a:xfrm>
            <a:off x="11252321" y="7167175"/>
            <a:ext cx="5615721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hero photograph of the fully assembled </a:t>
            </a:r>
            <a:r>
              <a:rPr lang="en-US" sz="13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Eqaab </a:t>
            </a: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— propellers, gimbal, antenna mast visible.</a:t>
            </a:r>
            <a:endParaRPr lang="en-US" sz="1350" dirty="0"/>
          </a:p>
        </p:txBody>
      </p:sp>
      <p:sp>
        <p:nvSpPr>
          <p:cNvPr id="75" name="Text 72"/>
          <p:cNvSpPr/>
          <p:nvPr/>
        </p:nvSpPr>
        <p:spPr>
          <a:xfrm>
            <a:off x="13487530" y="9932919"/>
            <a:ext cx="1145174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· EQB-HW-01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609548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1.8KG</a:t>
            </a:r>
            <a:endParaRPr lang="en-US" sz="1125" dirty="0"/>
          </a:p>
        </p:txBody>
      </p:sp>
      <p:sp>
        <p:nvSpPr>
          <p:cNvPr id="78" name="Text 75"/>
          <p:cNvSpPr/>
          <p:nvPr/>
        </p:nvSpPr>
        <p:spPr>
          <a:xfrm>
            <a:off x="2030792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THRUST/W 2.4</a:t>
            </a:r>
            <a:endParaRPr lang="en-US" sz="1125" dirty="0"/>
          </a:p>
        </p:txBody>
      </p:sp>
      <p:sp>
        <p:nvSpPr>
          <p:cNvPr id="79" name="Text 76"/>
          <p:cNvSpPr/>
          <p:nvPr/>
        </p:nvSpPr>
        <p:spPr>
          <a:xfrm>
            <a:off x="15986471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HARDWARE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27717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ROS 2 STACK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3917769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ARCHITECTURE · ONBOARD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7757558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Graph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7757558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cooperating nodes orchestrate mission, perception, identification, and uplink.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865936" y="2165643"/>
            <a:ext cx="583943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830550" y="2355237"/>
            <a:ext cx="1543128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+ MAVROS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4084620"/>
            <a:ext cx="4056667" cy="1460716"/>
          </a:xfrm>
          <a:prstGeom prst="roundRect">
            <a:avLst>
              <a:gd name="adj" fmla="val 3912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32129" y="4302427"/>
            <a:ext cx="372968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CONTROL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32129" y="4502763"/>
            <a:ext cx="37296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mission_manager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132129" y="4841444"/>
            <a:ext cx="372968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· waypoints · commands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132129" y="5118911"/>
            <a:ext cx="362105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132129" y="5203394"/>
            <a:ext cx="3729685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/mission/state · /cmd</a:t>
            </a:r>
            <a:endParaRPr lang="en-US" sz="825" dirty="0"/>
          </a:p>
        </p:txBody>
      </p:sp>
      <p:sp>
        <p:nvSpPr>
          <p:cNvPr id="29" name="Shape 26"/>
          <p:cNvSpPr/>
          <p:nvPr/>
        </p:nvSpPr>
        <p:spPr>
          <a:xfrm>
            <a:off x="5029097" y="4084620"/>
            <a:ext cx="4056667" cy="1460716"/>
          </a:xfrm>
          <a:prstGeom prst="roundRect">
            <a:avLst>
              <a:gd name="adj" fmla="val 3912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246904" y="4302427"/>
            <a:ext cx="372968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PERCEPTION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246904" y="4502763"/>
            <a:ext cx="37296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detection_node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5246904" y="4841444"/>
            <a:ext cx="372968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· OpenCV · DeepSORT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246904" y="5118911"/>
            <a:ext cx="362105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246904" y="5203394"/>
            <a:ext cx="3729685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/detections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9144001" y="4084620"/>
            <a:ext cx="4056667" cy="1460716"/>
          </a:xfrm>
          <a:prstGeom prst="roundRect">
            <a:avLst>
              <a:gd name="adj" fmla="val 3912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361807" y="4302427"/>
            <a:ext cx="372968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IDENTIFICATION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9361807" y="4502763"/>
            <a:ext cx="37296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iff_node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9361807" y="4841444"/>
            <a:ext cx="372968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lookup · classification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9361807" y="5118911"/>
            <a:ext cx="362105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361807" y="5203394"/>
            <a:ext cx="3729685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/iff/classified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13258774" y="4084620"/>
            <a:ext cx="4056667" cy="1460716"/>
          </a:xfrm>
          <a:prstGeom prst="roundRect">
            <a:avLst>
              <a:gd name="adj" fmla="val 3912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3476581" y="4302427"/>
            <a:ext cx="372968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UPLINK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3476581" y="4502763"/>
            <a:ext cx="37296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alert_publisher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13476581" y="4841444"/>
            <a:ext cx="372968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· telemetry · JSON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3476581" y="5118911"/>
            <a:ext cx="362105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3476581" y="5203394"/>
            <a:ext cx="3729685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wss://eqaab.cloud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7116832" y="6751620"/>
            <a:ext cx="4055114" cy="1460716"/>
          </a:xfrm>
          <a:prstGeom prst="roundRect">
            <a:avLst>
              <a:gd name="adj" fmla="val 3912"/>
            </a:avLst>
          </a:prstGeom>
          <a:solidFill>
            <a:srgbClr val="D4A24C">
              <a:alpha val="15000"/>
            </a:srgbClr>
          </a:solidFill>
          <a:ln w="8283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334638" y="6969428"/>
            <a:ext cx="372808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MAVROS BRIDGE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7334638" y="7169763"/>
            <a:ext cx="37280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MAVLink ↔ ROS 2</a:t>
            </a:r>
            <a:endParaRPr lang="en-US" sz="1650" dirty="0"/>
          </a:p>
        </p:txBody>
      </p:sp>
      <p:sp>
        <p:nvSpPr>
          <p:cNvPr id="50" name="Text 47"/>
          <p:cNvSpPr/>
          <p:nvPr/>
        </p:nvSpPr>
        <p:spPr>
          <a:xfrm>
            <a:off x="7334638" y="7508444"/>
            <a:ext cx="3728085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· GPS · battery · commands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334638" y="7785911"/>
            <a:ext cx="361950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7334638" y="7870394"/>
            <a:ext cx="3728085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/mavros/...</a:t>
            </a:r>
            <a:endParaRPr lang="en-US" sz="825" dirty="0"/>
          </a:p>
        </p:txBody>
      </p:sp>
      <p:sp>
        <p:nvSpPr>
          <p:cNvPr id="53" name="Shape 50"/>
          <p:cNvSpPr/>
          <p:nvPr/>
        </p:nvSpPr>
        <p:spPr>
          <a:xfrm>
            <a:off x="7630353" y="8275620"/>
            <a:ext cx="3026258" cy="710493"/>
          </a:xfrm>
          <a:prstGeom prst="roundRect">
            <a:avLst>
              <a:gd name="adj" fmla="val 5362"/>
            </a:avLst>
          </a:prstGeom>
          <a:solidFill>
            <a:srgbClr val="C9A84C">
              <a:alpha val="6000"/>
            </a:srgbClr>
          </a:solidFill>
          <a:ln w="8283">
            <a:solidFill>
              <a:srgbClr val="A8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769978" y="8417201"/>
            <a:ext cx="274701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HARDWARE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7769978" y="8579489"/>
            <a:ext cx="2747010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· PX4</a:t>
            </a:r>
            <a:endParaRPr lang="en-US" sz="165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2" y="3132120"/>
            <a:ext cx="16459356" cy="5715000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609548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2 HUMBLE</a:t>
            </a:r>
            <a:endParaRPr lang="en-US" sz="1125" dirty="0"/>
          </a:p>
        </p:txBody>
      </p:sp>
      <p:sp>
        <p:nvSpPr>
          <p:cNvPr id="59" name="Text 55"/>
          <p:cNvSpPr/>
          <p:nvPr/>
        </p:nvSpPr>
        <p:spPr>
          <a:xfrm>
            <a:off x="2030792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DDS · CYCLONE</a:t>
            </a:r>
            <a:endParaRPr lang="en-US" sz="1125" dirty="0"/>
          </a:p>
        </p:txBody>
      </p:sp>
      <p:sp>
        <p:nvSpPr>
          <p:cNvPr id="60" name="Text 56"/>
          <p:cNvSpPr/>
          <p:nvPr/>
        </p:nvSpPr>
        <p:spPr>
          <a:xfrm>
            <a:off x="15986471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SOFTWARE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161347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PERCEPTION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0441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PIXELS TO GPS-TAGGED ALERTS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Detection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dual-model perception stack with tracking, GPS fusion, and identity classification — all on the edge device.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764387" y="2463817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537166" y="2653412"/>
            <a:ext cx="1836513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PARALLEL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5335294"/>
            <a:ext cx="1940460" cy="1064833"/>
          </a:xfrm>
          <a:prstGeom prst="roundRect">
            <a:avLst>
              <a:gd name="adj" fmla="val 5367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36827" y="5476875"/>
            <a:ext cx="169545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36827" y="5660646"/>
            <a:ext cx="1695450" cy="435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Frame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36827" y="6134308"/>
            <a:ext cx="169545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1920×1080 · 30fps</a:t>
            </a:r>
            <a:endParaRPr lang="en-US" sz="825" dirty="0"/>
          </a:p>
        </p:txBody>
      </p:sp>
      <p:sp>
        <p:nvSpPr>
          <p:cNvPr id="27" name="Shape 24"/>
          <p:cNvSpPr/>
          <p:nvPr/>
        </p:nvSpPr>
        <p:spPr>
          <a:xfrm>
            <a:off x="2914572" y="4192294"/>
            <a:ext cx="2416710" cy="866050"/>
          </a:xfrm>
          <a:prstGeom prst="roundRect">
            <a:avLst>
              <a:gd name="adj" fmla="val 659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037077" y="4333875"/>
            <a:ext cx="21717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037077" y="4517645"/>
            <a:ext cx="21717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YOLOv8n.pt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3037077" y="4792525"/>
            <a:ext cx="2171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COCO · Person · Car</a:t>
            </a:r>
            <a:endParaRPr lang="en-US" sz="825" dirty="0"/>
          </a:p>
        </p:txBody>
      </p:sp>
      <p:sp>
        <p:nvSpPr>
          <p:cNvPr id="31" name="Shape 28"/>
          <p:cNvSpPr/>
          <p:nvPr/>
        </p:nvSpPr>
        <p:spPr>
          <a:xfrm>
            <a:off x="2914572" y="6573544"/>
            <a:ext cx="2416710" cy="866050"/>
          </a:xfrm>
          <a:prstGeom prst="roundRect">
            <a:avLst>
              <a:gd name="adj" fmla="val 659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037077" y="6715125"/>
            <a:ext cx="21717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037077" y="6898896"/>
            <a:ext cx="21717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best.pt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3037077" y="7173775"/>
            <a:ext cx="2171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· Drone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5391073" y="5335294"/>
            <a:ext cx="2226210" cy="866050"/>
          </a:xfrm>
          <a:prstGeom prst="roundRect">
            <a:avLst>
              <a:gd name="adj" fmla="val 659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513577" y="5476875"/>
            <a:ext cx="19812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513577" y="5660646"/>
            <a:ext cx="19812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+ Filter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5513577" y="5935525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≥ 0.45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7677073" y="5335294"/>
            <a:ext cx="2226210" cy="866050"/>
          </a:xfrm>
          <a:prstGeom prst="roundRect">
            <a:avLst>
              <a:gd name="adj" fmla="val 659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799577" y="5476875"/>
            <a:ext cx="19812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7799577" y="5660646"/>
            <a:ext cx="19812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7799577" y="5935525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ID · Kalman</a:t>
            </a:r>
            <a:endParaRPr lang="en-US" sz="825" dirty="0"/>
          </a:p>
        </p:txBody>
      </p:sp>
      <p:sp>
        <p:nvSpPr>
          <p:cNvPr id="43" name="Shape 40"/>
          <p:cNvSpPr/>
          <p:nvPr/>
        </p:nvSpPr>
        <p:spPr>
          <a:xfrm>
            <a:off x="9963073" y="5335294"/>
            <a:ext cx="2226210" cy="866050"/>
          </a:xfrm>
          <a:prstGeom prst="roundRect">
            <a:avLst>
              <a:gd name="adj" fmla="val 659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0085577" y="5476875"/>
            <a:ext cx="19812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GEO-REF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10085577" y="5660646"/>
            <a:ext cx="19812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Fusion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10085577" y="5935525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→ lat / lon</a:t>
            </a:r>
            <a:endParaRPr lang="en-US" sz="825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823" y="5049544"/>
            <a:ext cx="1905000" cy="190500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14535073" y="4287544"/>
            <a:ext cx="2607210" cy="866050"/>
          </a:xfrm>
          <a:prstGeom prst="roundRect">
            <a:avLst>
              <a:gd name="adj" fmla="val 6599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9B8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14657577" y="4429125"/>
            <a:ext cx="23622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FRIENDLY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14657577" y="4612895"/>
            <a:ext cx="23622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14657577" y="4887775"/>
            <a:ext cx="2362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alert raised</a:t>
            </a:r>
            <a:endParaRPr lang="en-US" sz="825" dirty="0"/>
          </a:p>
        </p:txBody>
      </p:sp>
      <p:sp>
        <p:nvSpPr>
          <p:cNvPr id="52" name="Shape 48"/>
          <p:cNvSpPr/>
          <p:nvPr/>
        </p:nvSpPr>
        <p:spPr>
          <a:xfrm>
            <a:off x="14535073" y="6287794"/>
            <a:ext cx="2607210" cy="866050"/>
          </a:xfrm>
          <a:prstGeom prst="roundRect">
            <a:avLst>
              <a:gd name="adj" fmla="val 6599"/>
            </a:avLst>
          </a:prstGeom>
          <a:solidFill>
            <a:srgbClr val="B23A3A">
              <a:alpha val="7000"/>
            </a:srgbClr>
          </a:solidFill>
          <a:ln w="8283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14657577" y="6429375"/>
            <a:ext cx="2362200" cy="145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14657577" y="6613146"/>
            <a:ext cx="2362200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↑</a:t>
            </a:r>
            <a:endParaRPr lang="en-US" sz="1350" dirty="0"/>
          </a:p>
        </p:txBody>
      </p:sp>
      <p:sp>
        <p:nvSpPr>
          <p:cNvPr id="55" name="Text 51"/>
          <p:cNvSpPr/>
          <p:nvPr/>
        </p:nvSpPr>
        <p:spPr>
          <a:xfrm>
            <a:off x="14657577" y="6888025"/>
            <a:ext cx="2362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GPS-tagged · uplinked</a:t>
            </a:r>
            <a:endParaRPr lang="en-US" sz="825" dirty="0"/>
          </a:p>
        </p:txBody>
      </p:sp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22" y="3430294"/>
            <a:ext cx="16459356" cy="4953000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914322" y="8459391"/>
            <a:ext cx="16459356" cy="558041"/>
          </a:xfrm>
          <a:prstGeom prst="roundRect">
            <a:avLst>
              <a:gd name="adj" fmla="val 1024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914322" y="9009149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4"/>
          <p:cNvSpPr/>
          <p:nvPr/>
        </p:nvSpPr>
        <p:spPr>
          <a:xfrm>
            <a:off x="914322" y="8459391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914322" y="8459391"/>
            <a:ext cx="24848" cy="55804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17365396" y="8459391"/>
            <a:ext cx="9525" cy="558041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/>
          <p:nvPr/>
        </p:nvSpPr>
        <p:spPr>
          <a:xfrm>
            <a:off x="1205767" y="8676292"/>
            <a:ext cx="1409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NOTE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2767815" y="8639020"/>
            <a:ext cx="12713986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Dual-model architecture adopted to prevent </a:t>
            </a:r>
            <a:r>
              <a:rPr lang="en-US" sz="1275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forgetting </a:t>
            </a: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single-model fine-tuning caused measurable degradation of COCO classes during early experiments.</a:t>
            </a:r>
            <a:endParaRPr lang="en-US" sz="1275" dirty="0"/>
          </a:p>
        </p:txBody>
      </p:sp>
      <p:sp>
        <p:nvSpPr>
          <p:cNvPr id="64" name="Shape 59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/>
          <p:nvPr/>
        </p:nvSpPr>
        <p:spPr>
          <a:xfrm>
            <a:off x="609548" y="9903542"/>
            <a:ext cx="219111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INFER · 8.3 FPS</a:t>
            </a:r>
            <a:endParaRPr lang="en-US" sz="1125" dirty="0"/>
          </a:p>
        </p:txBody>
      </p:sp>
      <p:sp>
        <p:nvSpPr>
          <p:cNvPr id="66" name="Text 61"/>
          <p:cNvSpPr/>
          <p:nvPr/>
        </p:nvSpPr>
        <p:spPr>
          <a:xfrm>
            <a:off x="15775006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PERCEPTION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04552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IFF LOGIC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35385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 FRIEND OR FOE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IFF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deterministic, fail-safe decision tree. Persons and cars never authenticate. Drones do — or get flagged.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459741" y="2463817"/>
            <a:ext cx="990137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FAIL-SAFE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977308" y="2653412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UNKNOWN</a:t>
            </a:r>
            <a:endParaRPr lang="en-US" sz="16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2" y="3430294"/>
            <a:ext cx="16459356" cy="41910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142871" y="5259069"/>
            <a:ext cx="2032863" cy="539923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421995" y="5404842"/>
            <a:ext cx="1550815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target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676572" y="4954294"/>
            <a:ext cx="2667000" cy="1047750"/>
          </a:xfrm>
          <a:prstGeom prst="rect">
            <a:avLst/>
          </a:prstGeom>
          <a:solidFill>
            <a:srgbClr val="D4A24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442015" y="5281069"/>
            <a:ext cx="1136115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drone?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4510864" y="5534465"/>
            <a:ext cx="998287" cy="178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CHECK</a:t>
            </a:r>
            <a:endParaRPr lang="en-US" sz="825" dirty="0"/>
          </a:p>
        </p:txBody>
      </p:sp>
      <p:sp>
        <p:nvSpPr>
          <p:cNvPr id="29" name="Shape 25"/>
          <p:cNvSpPr/>
          <p:nvPr/>
        </p:nvSpPr>
        <p:spPr>
          <a:xfrm>
            <a:off x="3790847" y="6668794"/>
            <a:ext cx="2882348" cy="982007"/>
          </a:xfrm>
          <a:prstGeom prst="roundRect">
            <a:avLst>
              <a:gd name="adj" fmla="val 5820"/>
            </a:avLst>
          </a:prstGeom>
          <a:solidFill>
            <a:srgbClr val="B23A3A">
              <a:alpha val="6000"/>
            </a:srgbClr>
          </a:solidFill>
          <a:ln w="12424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955670" y="6833540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· CAR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3955670" y="7014852"/>
            <a:ext cx="2552700" cy="32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UNKNOWN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3955670" y="7361816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83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authenticates</a:t>
            </a:r>
            <a:endParaRPr lang="en-US" sz="825" dirty="0"/>
          </a:p>
        </p:txBody>
      </p:sp>
      <p:sp>
        <p:nvSpPr>
          <p:cNvPr id="33" name="Shape 29"/>
          <p:cNvSpPr/>
          <p:nvPr/>
        </p:nvSpPr>
        <p:spPr>
          <a:xfrm>
            <a:off x="6686395" y="5220891"/>
            <a:ext cx="2615363" cy="669080"/>
          </a:xfrm>
          <a:prstGeom prst="roundRect">
            <a:avLst>
              <a:gd name="adj" fmla="val 8542"/>
            </a:avLst>
          </a:prstGeom>
          <a:solidFill>
            <a:srgbClr val="FFFFFF">
              <a:alpha val="95000"/>
            </a:srgbClr>
          </a:solidFill>
          <a:ln w="12424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832066" y="5366613"/>
            <a:ext cx="232402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 DETECTED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6832066" y="5528900"/>
            <a:ext cx="2324022" cy="253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identifier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9258145" y="5068569"/>
            <a:ext cx="2114524" cy="857250"/>
          </a:xfrm>
          <a:prstGeom prst="rect">
            <a:avLst/>
          </a:prstGeom>
          <a:solidFill>
            <a:srgbClr val="D4A24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9716872" y="5406085"/>
            <a:ext cx="1196941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received?</a:t>
            </a:r>
            <a:endParaRPr lang="en-US" sz="1125" dirty="0"/>
          </a:p>
        </p:txBody>
      </p:sp>
      <p:sp>
        <p:nvSpPr>
          <p:cNvPr id="38" name="Shape 34"/>
          <p:cNvSpPr/>
          <p:nvPr/>
        </p:nvSpPr>
        <p:spPr>
          <a:xfrm>
            <a:off x="9086669" y="6668794"/>
            <a:ext cx="2882348" cy="982007"/>
          </a:xfrm>
          <a:prstGeom prst="roundRect">
            <a:avLst>
              <a:gd name="adj" fmla="val 5820"/>
            </a:avLst>
          </a:prstGeom>
          <a:solidFill>
            <a:srgbClr val="B23A3A">
              <a:alpha val="6000"/>
            </a:srgbClr>
          </a:solidFill>
          <a:ln w="12424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9251493" y="6833540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SIGNAL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9251493" y="7014852"/>
            <a:ext cx="2552700" cy="32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UNKNOWN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9251493" y="7361816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83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comms timeout</a:t>
            </a:r>
            <a:endParaRPr lang="en-US" sz="825" dirty="0"/>
          </a:p>
        </p:txBody>
      </p:sp>
      <p:sp>
        <p:nvSpPr>
          <p:cNvPr id="42" name="Shape 38"/>
          <p:cNvSpPr/>
          <p:nvPr/>
        </p:nvSpPr>
        <p:spPr>
          <a:xfrm>
            <a:off x="11734645" y="5068569"/>
            <a:ext cx="2114524" cy="857250"/>
          </a:xfrm>
          <a:prstGeom prst="rect">
            <a:avLst/>
          </a:prstGeom>
          <a:solidFill>
            <a:srgbClr val="D4A24C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12190526" y="5406085"/>
            <a:ext cx="1202764" cy="220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match?</a:t>
            </a:r>
            <a:endParaRPr lang="en-US" sz="1125" dirty="0"/>
          </a:p>
        </p:txBody>
      </p:sp>
      <p:sp>
        <p:nvSpPr>
          <p:cNvPr id="44" name="Shape 40"/>
          <p:cNvSpPr/>
          <p:nvPr/>
        </p:nvSpPr>
        <p:spPr>
          <a:xfrm>
            <a:off x="14401645" y="3735069"/>
            <a:ext cx="2882348" cy="982007"/>
          </a:xfrm>
          <a:prstGeom prst="roundRect">
            <a:avLst>
              <a:gd name="adj" fmla="val 5820"/>
            </a:avLst>
          </a:prstGeom>
          <a:solidFill>
            <a:srgbClr val="6F8B3E">
              <a:alpha val="8000"/>
            </a:srgbClr>
          </a:solidFill>
          <a:ln w="12424">
            <a:solidFill>
              <a:srgbClr val="6F8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14566469" y="3899815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6F8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HIT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14566469" y="4081126"/>
            <a:ext cx="2552700" cy="32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FRIENDLY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14566469" y="4428090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83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 · no alert</a:t>
            </a:r>
            <a:endParaRPr lang="en-US" sz="825" dirty="0"/>
          </a:p>
        </p:txBody>
      </p:sp>
      <p:sp>
        <p:nvSpPr>
          <p:cNvPr id="48" name="Shape 44"/>
          <p:cNvSpPr/>
          <p:nvPr/>
        </p:nvSpPr>
        <p:spPr>
          <a:xfrm>
            <a:off x="14401645" y="6668794"/>
            <a:ext cx="2882348" cy="982007"/>
          </a:xfrm>
          <a:prstGeom prst="roundRect">
            <a:avLst>
              <a:gd name="adj" fmla="val 5820"/>
            </a:avLst>
          </a:prstGeom>
          <a:solidFill>
            <a:srgbClr val="B23A3A">
              <a:alpha val="6000"/>
            </a:srgbClr>
          </a:solidFill>
          <a:ln w="12424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14566469" y="6833540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MATCH</a:t>
            </a:r>
            <a:endParaRPr lang="en-US" sz="825" dirty="0"/>
          </a:p>
        </p:txBody>
      </p:sp>
      <p:sp>
        <p:nvSpPr>
          <p:cNvPr id="50" name="Text 46"/>
          <p:cNvSpPr/>
          <p:nvPr/>
        </p:nvSpPr>
        <p:spPr>
          <a:xfrm>
            <a:off x="14566469" y="7014852"/>
            <a:ext cx="2552700" cy="32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UNKNOWN</a:t>
            </a:r>
            <a:endParaRPr lang="en-US" sz="1800" dirty="0"/>
          </a:p>
        </p:txBody>
      </p:sp>
      <p:sp>
        <p:nvSpPr>
          <p:cNvPr id="51" name="Text 47"/>
          <p:cNvSpPr/>
          <p:nvPr/>
        </p:nvSpPr>
        <p:spPr>
          <a:xfrm>
            <a:off x="14566469" y="7361816"/>
            <a:ext cx="25527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83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unrecognized ID</a:t>
            </a:r>
            <a:endParaRPr lang="en-US" sz="825" dirty="0"/>
          </a:p>
        </p:txBody>
      </p:sp>
      <p:sp>
        <p:nvSpPr>
          <p:cNvPr id="52" name="Shape 48"/>
          <p:cNvSpPr/>
          <p:nvPr/>
        </p:nvSpPr>
        <p:spPr>
          <a:xfrm>
            <a:off x="914322" y="7621295"/>
            <a:ext cx="16459356" cy="519993"/>
          </a:xfrm>
          <a:prstGeom prst="roundRect">
            <a:avLst>
              <a:gd name="adj" fmla="val 1099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914322" y="8133005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914322" y="7621295"/>
            <a:ext cx="164593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914322" y="7621295"/>
            <a:ext cx="24848" cy="519993"/>
          </a:xfrm>
          <a:prstGeom prst="rect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17365396" y="7621295"/>
            <a:ext cx="9525" cy="519993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3"/>
          <p:cNvSpPr/>
          <p:nvPr/>
        </p:nvSpPr>
        <p:spPr>
          <a:xfrm>
            <a:off x="1186743" y="7819171"/>
            <a:ext cx="1219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FAIL-SAFE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2558291" y="7781899"/>
            <a:ext cx="10945652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failure path — class mismatch, missing signal, registry miss — defaults to </a:t>
            </a:r>
            <a:r>
              <a:rPr lang="en-US" sz="127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system raises false alerts rather than miss a threat.</a:t>
            </a:r>
            <a:endParaRPr lang="en-US" sz="1275" dirty="0"/>
          </a:p>
        </p:txBody>
      </p:sp>
      <p:sp>
        <p:nvSpPr>
          <p:cNvPr id="59" name="Shape 55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609548" y="9903542"/>
            <a:ext cx="2085380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LOGIC</a:t>
            </a:r>
            <a:endParaRPr lang="en-US" sz="1125" dirty="0"/>
          </a:p>
        </p:txBody>
      </p:sp>
      <p:sp>
        <p:nvSpPr>
          <p:cNvPr id="61" name="Text 57"/>
          <p:cNvSpPr/>
          <p:nvPr/>
        </p:nvSpPr>
        <p:spPr>
          <a:xfrm>
            <a:off x="16515264" y="9903542"/>
            <a:ext cx="123938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IFF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27717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COMMS LAYER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31594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 RELAY &amp; PERSISTENCE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8242364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8242364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thin, opinionated cloud tier — relay, persist, broadcast. Nothing more.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561289" y="2165643"/>
            <a:ext cx="888589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977308" y="2355237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 · TLS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132120"/>
            <a:ext cx="9266945" cy="1762384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27379" y="3445177"/>
            <a:ext cx="890005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1227379" y="3810000"/>
            <a:ext cx="1597508" cy="702210"/>
          </a:xfrm>
          <a:prstGeom prst="roundRect">
            <a:avLst>
              <a:gd name="adj" fmla="val 8139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69012" y="3970683"/>
            <a:ext cx="1314243" cy="418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7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Publisher</a:t>
            </a:r>
            <a:endParaRPr lang="en-US" sz="1275" dirty="0"/>
          </a:p>
        </p:txBody>
      </p:sp>
      <p:sp>
        <p:nvSpPr>
          <p:cNvPr id="27" name="Text 24"/>
          <p:cNvSpPr/>
          <p:nvPr/>
        </p:nvSpPr>
        <p:spPr>
          <a:xfrm>
            <a:off x="2958185" y="3975135"/>
            <a:ext cx="124987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4G · WSS · TLS</a:t>
            </a:r>
            <a:endParaRPr lang="en-US" sz="825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957" y="4156446"/>
            <a:ext cx="762000" cy="1905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265155" y="3810000"/>
            <a:ext cx="1597508" cy="702210"/>
          </a:xfrm>
          <a:prstGeom prst="roundRect">
            <a:avLst>
              <a:gd name="adj" fmla="val 8139"/>
            </a:avLst>
          </a:prstGeom>
          <a:solidFill>
            <a:srgbClr val="D4A24C">
              <a:alpha val="10000"/>
            </a:srgbClr>
          </a:solidFill>
          <a:ln w="8283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4406788" y="3970683"/>
            <a:ext cx="1314243" cy="418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75" b="1" kern="0" spc="-6" dirty="0">
                <a:solidFill>
                  <a:srgbClr val="1A1A1A"/>
                </a:solidFill>
                <a:highlight>
                  <a:srgbClr val="D4A24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FastAPI </a:t>
            </a:r>
            <a:r>
              <a:rPr lang="en-US" sz="750" b="1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</a:t>
            </a:r>
            <a:endParaRPr lang="en-US" sz="1275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12" y="4065855"/>
            <a:ext cx="571500" cy="1905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6891260" y="3740763"/>
            <a:ext cx="2188162" cy="372717"/>
          </a:xfrm>
          <a:prstGeom prst="roundRect">
            <a:avLst>
              <a:gd name="adj" fmla="val 15333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994793" y="3844295"/>
            <a:ext cx="1981097" cy="20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</a:t>
            </a:r>
            <a:r>
              <a:rPr lang="en-US" sz="750" b="1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</a:t>
            </a:r>
            <a:endParaRPr lang="en-US" sz="1125" dirty="0"/>
          </a:p>
        </p:txBody>
      </p:sp>
      <p:sp>
        <p:nvSpPr>
          <p:cNvPr id="34" name="Shape 29"/>
          <p:cNvSpPr/>
          <p:nvPr/>
        </p:nvSpPr>
        <p:spPr>
          <a:xfrm>
            <a:off x="6891260" y="4208730"/>
            <a:ext cx="2188162" cy="372717"/>
          </a:xfrm>
          <a:prstGeom prst="roundRect">
            <a:avLst>
              <a:gd name="adj" fmla="val 15333"/>
            </a:avLst>
          </a:prstGeom>
          <a:solidFill>
            <a:srgbClr val="FFFFFF">
              <a:alpha val="95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994793" y="4312263"/>
            <a:ext cx="1981097" cy="20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clients </a:t>
            </a:r>
            <a:r>
              <a:rPr lang="en-US" sz="750" b="1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</a:t>
            </a:r>
            <a:endParaRPr lang="en-US" sz="1125" dirty="0"/>
          </a:p>
        </p:txBody>
      </p:sp>
      <p:sp>
        <p:nvSpPr>
          <p:cNvPr id="36" name="Shape 31"/>
          <p:cNvSpPr/>
          <p:nvPr/>
        </p:nvSpPr>
        <p:spPr>
          <a:xfrm>
            <a:off x="914322" y="5123052"/>
            <a:ext cx="9266945" cy="1093046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914322" y="6207815"/>
            <a:ext cx="92669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914322" y="5123052"/>
            <a:ext cx="92669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914322" y="5123052"/>
            <a:ext cx="24848" cy="1093046"/>
          </a:xfrm>
          <a:prstGeom prst="rect">
            <a:avLst/>
          </a:prstGeom>
          <a:solidFill>
            <a:srgbClr val="A886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10172985" y="5123052"/>
            <a:ext cx="9525" cy="1093046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1205767" y="5412814"/>
            <a:ext cx="874436" cy="5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r>
              <a:rPr lang="en-US" sz="180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50" dirty="0"/>
          </a:p>
        </p:txBody>
      </p:sp>
      <p:sp>
        <p:nvSpPr>
          <p:cNvPr id="42" name="Text 37"/>
          <p:cNvSpPr/>
          <p:nvPr/>
        </p:nvSpPr>
        <p:spPr>
          <a:xfrm>
            <a:off x="2232551" y="5397932"/>
            <a:ext cx="7904053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BANDWIDTH SAVED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2232551" y="5560219"/>
            <a:ext cx="790405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only — no video streaming over LTE. Cuts uplink requirement to a fraction of comparable telepresence systems.</a:t>
            </a:r>
            <a:endParaRPr lang="en-US" sz="1275" dirty="0"/>
          </a:p>
        </p:txBody>
      </p:sp>
      <p:sp>
        <p:nvSpPr>
          <p:cNvPr id="44" name="Shape 39"/>
          <p:cNvSpPr/>
          <p:nvPr/>
        </p:nvSpPr>
        <p:spPr>
          <a:xfrm>
            <a:off x="10524090" y="3132120"/>
            <a:ext cx="6849459" cy="3307738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10760921" y="3368951"/>
            <a:ext cx="6567071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· TELEMETRY</a:t>
            </a:r>
            <a:endParaRPr lang="en-US" sz="825" dirty="0"/>
          </a:p>
        </p:txBody>
      </p:sp>
      <p:sp>
        <p:nvSpPr>
          <p:cNvPr id="46" name="Shape 41"/>
          <p:cNvSpPr/>
          <p:nvPr/>
        </p:nvSpPr>
        <p:spPr>
          <a:xfrm>
            <a:off x="10760921" y="3607464"/>
            <a:ext cx="6375797" cy="2595563"/>
          </a:xfrm>
          <a:prstGeom prst="roundRect">
            <a:avLst>
              <a:gd name="adj" fmla="val 1468"/>
            </a:avLst>
          </a:prstGeom>
          <a:solidFill>
            <a:srgbClr val="2A2218"/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10959704" y="3787197"/>
            <a:ext cx="6169506" cy="2274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"telemetry"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"drone_id"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"EQB-01"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"ts"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1717938472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21.4373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40.5127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"alt"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47.2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"battery"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"AUTO"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48" name="Shape 43"/>
          <p:cNvSpPr/>
          <p:nvPr/>
        </p:nvSpPr>
        <p:spPr>
          <a:xfrm>
            <a:off x="10524090" y="6611205"/>
            <a:ext cx="6849459" cy="3084107"/>
          </a:xfrm>
          <a:prstGeom prst="roundRect">
            <a:avLst>
              <a:gd name="adj" fmla="val 1853"/>
            </a:avLst>
          </a:prstGeom>
          <a:solidFill>
            <a:srgbClr val="FFFFFF"/>
          </a:solidFill>
          <a:ln w="8283">
            <a:solidFill>
              <a:srgbClr val="B23A3A"/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10760921" y="6848035"/>
            <a:ext cx="6567071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· ALERT</a:t>
            </a:r>
            <a:endParaRPr lang="en-US" sz="825" dirty="0"/>
          </a:p>
        </p:txBody>
      </p:sp>
      <p:sp>
        <p:nvSpPr>
          <p:cNvPr id="50" name="Shape 45"/>
          <p:cNvSpPr/>
          <p:nvPr/>
        </p:nvSpPr>
        <p:spPr>
          <a:xfrm>
            <a:off x="10760921" y="7086548"/>
            <a:ext cx="6375797" cy="2371932"/>
          </a:xfrm>
          <a:prstGeom prst="roundRect">
            <a:avLst>
              <a:gd name="adj" fmla="val 1606"/>
            </a:avLst>
          </a:prstGeom>
          <a:solidFill>
            <a:srgbClr val="2A2218"/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10959704" y="7266281"/>
            <a:ext cx="6169506" cy="205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"drone"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"iff"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"UNKNOWN"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21.4391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40.5103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0.87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125" dirty="0"/>
          </a:p>
          <a:p>
            <a:pPr marL="0" indent="0" algn="l">
              <a:lnSpc>
                <a:spcPct val="160000"/>
              </a:lnSpc>
              <a:buNone/>
            </a:pPr>
            <a:r>
              <a:rPr lang="en-US" sz="1125" kern="0" spc="-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"track_id"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25" kern="0" spc="-6" dirty="0">
                <a:solidFill>
                  <a:srgbClr val="A7E7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</a:t>
            </a:r>
            <a:r>
              <a:rPr lang="en-US" sz="1125" kern="0" spc="-6" dirty="0">
                <a:solidFill>
                  <a:srgbClr val="1A1A1A"/>
                </a:solidFill>
                <a:highlight>
                  <a:srgbClr val="2A221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5" dirty="0"/>
          </a:p>
        </p:txBody>
      </p:sp>
      <p:sp>
        <p:nvSpPr>
          <p:cNvPr id="52" name="Shape 47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609548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WSS · TLS 1.3</a:t>
            </a:r>
            <a:endParaRPr lang="en-US" sz="1125" dirty="0"/>
          </a:p>
        </p:txBody>
      </p:sp>
      <p:sp>
        <p:nvSpPr>
          <p:cNvPr id="54" name="Text 49"/>
          <p:cNvSpPr/>
          <p:nvPr/>
        </p:nvSpPr>
        <p:spPr>
          <a:xfrm>
            <a:off x="2136525" y="9903542"/>
            <a:ext cx="102792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ONLY</a:t>
            </a:r>
            <a:endParaRPr lang="en-US" sz="1125" dirty="0"/>
          </a:p>
        </p:txBody>
      </p:sp>
      <p:sp>
        <p:nvSpPr>
          <p:cNvPr id="55" name="Text 50"/>
          <p:cNvSpPr/>
          <p:nvPr/>
        </p:nvSpPr>
        <p:spPr>
          <a:xfrm>
            <a:off x="16303798" y="9903542"/>
            <a:ext cx="145085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COMMS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62490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GROUND STATION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653968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OPERATOR'S WINDOW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7820074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7820074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pane of glass — map, alerts, telemetry, commands. Built with React + Leaflet.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662838" y="2165643"/>
            <a:ext cx="787040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977308" y="2355237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~1.4S E2E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132120"/>
            <a:ext cx="10898620" cy="6548179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16565">
            <a:solidFill>
              <a:srgbClr val="C9A84C"/>
            </a:solidFill>
            <a:prstDash val="dash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66312" y="5584678"/>
            <a:ext cx="594510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16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4922412" y="6335807"/>
            <a:ext cx="288244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0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 DASHBOARD SCREENSHOT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2402275" y="6697654"/>
            <a:ext cx="7922714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real GCS dashboard screenshot — should show the Leaflet map with the active drone marker and flight path, the real-time alert feed, and the telemetry bar with battery / altitude / speed / mode.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755456" y="9368149"/>
            <a:ext cx="1216353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· EQB-GCS-01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1513086" y="3132120"/>
            <a:ext cx="5860464" cy="1076480"/>
          </a:xfrm>
          <a:prstGeom prst="roundRect">
            <a:avLst>
              <a:gd name="adj" fmla="val 3539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1513086" y="4200318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513086" y="3132120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513086" y="3132120"/>
            <a:ext cx="24848" cy="10764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17365267" y="3132120"/>
            <a:ext cx="9525" cy="1076480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1728433" y="3311749"/>
            <a:ext cx="406987" cy="75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2230566" y="3311749"/>
            <a:ext cx="5092526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Leaflet map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12230566" y="3614841"/>
            <a:ext cx="5092526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position, heading, and flight path rendered in real time over satellite tiles.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11513086" y="4379947"/>
            <a:ext cx="5860464" cy="869415"/>
          </a:xfrm>
          <a:prstGeom prst="roundRect">
            <a:avLst>
              <a:gd name="adj" fmla="val 4382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513086" y="5241080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513086" y="4379947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1513086" y="4379947"/>
            <a:ext cx="24848" cy="86941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7365267" y="4379947"/>
            <a:ext cx="9525" cy="86941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1728433" y="4559576"/>
            <a:ext cx="453447" cy="548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12277026" y="4559576"/>
            <a:ext cx="5018412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feed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2277026" y="4862668"/>
            <a:ext cx="5018412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list of GPS-tagged detections with class, IFF state, and confidence.</a:t>
            </a:r>
            <a:endParaRPr lang="en-US" sz="1125" dirty="0"/>
          </a:p>
        </p:txBody>
      </p:sp>
      <p:sp>
        <p:nvSpPr>
          <p:cNvPr id="44" name="Shape 41"/>
          <p:cNvSpPr/>
          <p:nvPr/>
        </p:nvSpPr>
        <p:spPr>
          <a:xfrm>
            <a:off x="11513086" y="5420709"/>
            <a:ext cx="5860464" cy="869415"/>
          </a:xfrm>
          <a:prstGeom prst="roundRect">
            <a:avLst>
              <a:gd name="adj" fmla="val 4382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11513086" y="6281841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1513086" y="5420709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1513086" y="5420709"/>
            <a:ext cx="24848" cy="86941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7365267" y="5420709"/>
            <a:ext cx="9525" cy="86941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1728433" y="5600338"/>
            <a:ext cx="456812" cy="548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12280391" y="5600338"/>
            <a:ext cx="3214087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bar</a:t>
            </a:r>
            <a:endParaRPr lang="en-US" sz="1650" dirty="0"/>
          </a:p>
        </p:txBody>
      </p:sp>
      <p:sp>
        <p:nvSpPr>
          <p:cNvPr id="51" name="Text 48"/>
          <p:cNvSpPr/>
          <p:nvPr/>
        </p:nvSpPr>
        <p:spPr>
          <a:xfrm>
            <a:off x="12280391" y="5903430"/>
            <a:ext cx="3214087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· altitude · speed · flight mode at a glance.</a:t>
            </a:r>
            <a:endParaRPr lang="en-US" sz="1125" dirty="0"/>
          </a:p>
        </p:txBody>
      </p:sp>
      <p:sp>
        <p:nvSpPr>
          <p:cNvPr id="52" name="Shape 49"/>
          <p:cNvSpPr/>
          <p:nvPr/>
        </p:nvSpPr>
        <p:spPr>
          <a:xfrm>
            <a:off x="11513086" y="6461470"/>
            <a:ext cx="5860464" cy="869415"/>
          </a:xfrm>
          <a:prstGeom prst="roundRect">
            <a:avLst>
              <a:gd name="adj" fmla="val 4382"/>
            </a:avLst>
          </a:prstGeom>
          <a:solidFill>
            <a:srgbClr val="FFFDF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1513086" y="7322603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1513086" y="6461470"/>
            <a:ext cx="586046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1513086" y="6461470"/>
            <a:ext cx="24848" cy="86941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7365267" y="6461470"/>
            <a:ext cx="9525" cy="86941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1728433" y="6641099"/>
            <a:ext cx="464706" cy="548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12288286" y="6641099"/>
            <a:ext cx="4163171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panel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288286" y="6944191"/>
            <a:ext cx="4163171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RTH · Takeoff · Land · Waypoint upload from the operator's seat.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609548" y="9903542"/>
            <a:ext cx="2296845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LEAFLET · WSS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16515264" y="9903542"/>
            <a:ext cx="123938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GCS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624909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MODEL TRAINING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0441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 TO DEPLOYED WEIGHTS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59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pipeline — open dataset, public framework, single GPU. Result is the </a:t>
            </a:r>
            <a:r>
              <a:rPr lang="en-US" sz="1650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best.pt </a:t>
            </a: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to the drone.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155095" y="2488665"/>
            <a:ext cx="1294783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MAP@50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078770" y="2678259"/>
            <a:ext cx="1294908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94.3%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455142"/>
            <a:ext cx="5334000" cy="411943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89201" y="3730021"/>
            <a:ext cx="4927769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DATASET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89201" y="3968535"/>
            <a:ext cx="4927769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1189201" y="4811549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360651" y="4481228"/>
            <a:ext cx="2125421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581322" y="4811549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752772" y="4481228"/>
            <a:ext cx="2125421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Roboflow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189201" y="530669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360651" y="497223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581322" y="530669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752772" y="497223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~5,500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189201" y="5801838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60651" y="5467376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581322" y="5801838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752772" y="5467376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(drone · person · car)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189201" y="629698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360651" y="596252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581322" y="629698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752772" y="596252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10 / 10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189201" y="6974345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360651" y="6457666"/>
            <a:ext cx="2125421" cy="40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3581322" y="6974345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752772" y="6457666"/>
            <a:ext cx="2125421" cy="40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· brightness · mosaic · crop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476871" y="3455142"/>
            <a:ext cx="5334130" cy="411943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751750" y="3730021"/>
            <a:ext cx="492790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TRAINING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751750" y="3968535"/>
            <a:ext cx="4927902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6751750" y="4811549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923200" y="4481228"/>
            <a:ext cx="2125421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143871" y="4811549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315321" y="4481228"/>
            <a:ext cx="2125550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T4 GPU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6751750" y="530669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923200" y="497223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143871" y="5306693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315321" y="4972231"/>
            <a:ext cx="2125550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YOLOv8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751750" y="5801838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923200" y="5467376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143871" y="5801838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315321" y="5467376"/>
            <a:ext cx="2125550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yolov8n.pt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751750" y="629698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923200" y="5962521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9143871" y="6296983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315321" y="5962521"/>
            <a:ext cx="2125550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751750" y="6792128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923200" y="6457666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143871" y="6792128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9315321" y="6457666"/>
            <a:ext cx="2125550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751750" y="7287273"/>
            <a:ext cx="239212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923200" y="6952810"/>
            <a:ext cx="2125421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9143871" y="7287273"/>
            <a:ext cx="2392250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9315321" y="6952810"/>
            <a:ext cx="2125550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12039549" y="3455142"/>
            <a:ext cx="5824227" cy="4119433"/>
          </a:xfrm>
          <a:prstGeom prst="roundRect">
            <a:avLst>
              <a:gd name="adj" fmla="val 1387"/>
            </a:avLst>
          </a:prstGeom>
          <a:solidFill>
            <a:srgbClr val="FFFFFF"/>
          </a:solidFill>
          <a:ln w="16565">
            <a:solidFill>
              <a:srgbClr val="C9A84C"/>
            </a:solidFill>
            <a:prstDash val="dash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14654343" y="4701545"/>
            <a:ext cx="594510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16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</a:t>
            </a:r>
            <a:endParaRPr lang="en-US" sz="3600" dirty="0"/>
          </a:p>
        </p:txBody>
      </p:sp>
      <p:sp>
        <p:nvSpPr>
          <p:cNvPr id="75" name="Text 72"/>
          <p:cNvSpPr/>
          <p:nvPr/>
        </p:nvSpPr>
        <p:spPr>
          <a:xfrm>
            <a:off x="14184692" y="5452675"/>
            <a:ext cx="1533810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9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CURVES</a:t>
            </a:r>
            <a:endParaRPr lang="en-US" sz="1125" dirty="0"/>
          </a:p>
        </p:txBody>
      </p:sp>
      <p:sp>
        <p:nvSpPr>
          <p:cNvPr id="76" name="Text 73"/>
          <p:cNvSpPr/>
          <p:nvPr/>
        </p:nvSpPr>
        <p:spPr>
          <a:xfrm>
            <a:off x="12891404" y="5781391"/>
            <a:ext cx="4120515" cy="584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</a:t>
            </a:r>
            <a:r>
              <a:rPr lang="en-US" sz="13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results.png </a:t>
            </a: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Ultralytics — loss curves and mAP over 100 epochs.</a:t>
            </a:r>
            <a:endParaRPr lang="en-US" sz="1350" dirty="0"/>
          </a:p>
        </p:txBody>
      </p:sp>
      <p:sp>
        <p:nvSpPr>
          <p:cNvPr id="77" name="Text 74"/>
          <p:cNvSpPr/>
          <p:nvPr/>
        </p:nvSpPr>
        <p:spPr>
          <a:xfrm>
            <a:off x="14379075" y="7262425"/>
            <a:ext cx="1145174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· EQB-TR-01</a:t>
            </a:r>
            <a:endParaRPr lang="en-US" sz="825" dirty="0"/>
          </a:p>
        </p:txBody>
      </p:sp>
      <p:sp>
        <p:nvSpPr>
          <p:cNvPr id="78" name="Shape 75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09548" y="9903542"/>
            <a:ext cx="166244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YOLOV8N · ADAMW</a:t>
            </a:r>
            <a:endParaRPr lang="en-US" sz="1125" dirty="0"/>
          </a:p>
        </p:txBody>
      </p:sp>
      <p:sp>
        <p:nvSpPr>
          <p:cNvPr id="80" name="Text 77"/>
          <p:cNvSpPr/>
          <p:nvPr/>
        </p:nvSpPr>
        <p:spPr>
          <a:xfrm>
            <a:off x="15986471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TRAINING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393001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VERIFICATION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7803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PROVED IT WORKS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 — from individual ROS nodes up to live field flights — each with its own tooling and pass criteria.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764387" y="2463817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123936" y="2653412"/>
            <a:ext cx="1249742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LEVELS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430294"/>
            <a:ext cx="16459356" cy="3048906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227379" y="3941098"/>
            <a:ext cx="2533443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98829" y="3667073"/>
            <a:ext cx="2266743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760822" y="3941098"/>
            <a:ext cx="443339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932272" y="3667073"/>
            <a:ext cx="4223498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WAS TESTED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194218" y="3941098"/>
            <a:ext cx="443339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65668" y="3667073"/>
            <a:ext cx="4223498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2627614" y="3941098"/>
            <a:ext cx="443339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2799064" y="3667073"/>
            <a:ext cx="4223498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227379" y="4533823"/>
            <a:ext cx="253344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1398726" y="4130692"/>
            <a:ext cx="649020" cy="254949"/>
          </a:xfrm>
          <a:prstGeom prst="roundRect">
            <a:avLst>
              <a:gd name="adj" fmla="val 7472"/>
            </a:avLst>
          </a:prstGeom>
          <a:solidFill>
            <a:srgbClr val="C9A84C">
              <a:alpha val="6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540358" y="4196125"/>
            <a:ext cx="441955" cy="16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760822" y="4533823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932272" y="4105922"/>
            <a:ext cx="4223498" cy="31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ROS 2 nodes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8194218" y="4533823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365668" y="4105922"/>
            <a:ext cx="4223498" cy="31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node testing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627614" y="4533823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2799064" y="4105922"/>
            <a:ext cx="4223498" cy="31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· pytest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27379" y="5118264"/>
            <a:ext cx="253344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398726" y="4715134"/>
            <a:ext cx="1289240" cy="254949"/>
          </a:xfrm>
          <a:prstGeom prst="roundRect">
            <a:avLst>
              <a:gd name="adj" fmla="val 7472"/>
            </a:avLst>
          </a:prstGeom>
          <a:solidFill>
            <a:srgbClr val="C9A84C">
              <a:alpha val="6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540358" y="4780567"/>
            <a:ext cx="1082175" cy="16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760822" y="5118264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932272" y="4694505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data flow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8194218" y="5118264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8365668" y="4694505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message tracing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12627614" y="5118264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2799064" y="4694505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rqt_graph · terminal logs</a:t>
            </a:r>
            <a:endParaRPr lang="en-US" sz="1425" dirty="0"/>
          </a:p>
        </p:txBody>
      </p:sp>
      <p:sp>
        <p:nvSpPr>
          <p:cNvPr id="50" name="Shape 47"/>
          <p:cNvSpPr/>
          <p:nvPr/>
        </p:nvSpPr>
        <p:spPr>
          <a:xfrm>
            <a:off x="1227379" y="5702706"/>
            <a:ext cx="253344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398726" y="5299575"/>
            <a:ext cx="1197743" cy="254949"/>
          </a:xfrm>
          <a:prstGeom prst="roundRect">
            <a:avLst>
              <a:gd name="adj" fmla="val 7472"/>
            </a:avLst>
          </a:prstGeom>
          <a:solidFill>
            <a:srgbClr val="C9A84C">
              <a:alpha val="6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540358" y="5365008"/>
            <a:ext cx="990678" cy="16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3760822" y="5702706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932272" y="5278947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mission FSM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8194218" y="5702706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365668" y="5278947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flight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627614" y="5702706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2799064" y="5278947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Gazebo · ArduPilot SITL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27379" y="6287147"/>
            <a:ext cx="2533443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1398726" y="5884017"/>
            <a:ext cx="740517" cy="254949"/>
          </a:xfrm>
          <a:prstGeom prst="roundRect">
            <a:avLst>
              <a:gd name="adj" fmla="val 7472"/>
            </a:avLst>
          </a:prstGeom>
          <a:solidFill>
            <a:srgbClr val="D4A24C">
              <a:alpha val="18000"/>
            </a:srgbClr>
          </a:solidFill>
          <a:ln w="8283">
            <a:solidFill>
              <a:srgbClr val="C9A84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540358" y="5949450"/>
            <a:ext cx="533452" cy="162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3760822" y="6287147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3932272" y="5863388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accuracy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8194218" y="6287147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8365668" y="5863388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 · live targets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2627614" y="6287147"/>
            <a:ext cx="443339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2799064" y="5863388"/>
            <a:ext cx="4223498" cy="309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drone + GCS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914322" y="6783974"/>
            <a:ext cx="3986265" cy="1567743"/>
          </a:xfrm>
          <a:prstGeom prst="roundRect">
            <a:avLst>
              <a:gd name="adj" fmla="val 2430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1132129" y="7001781"/>
            <a:ext cx="3657171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2400" dirty="0"/>
          </a:p>
        </p:txBody>
      </p:sp>
      <p:sp>
        <p:nvSpPr>
          <p:cNvPr id="70" name="Text 67"/>
          <p:cNvSpPr/>
          <p:nvPr/>
        </p:nvSpPr>
        <p:spPr>
          <a:xfrm>
            <a:off x="1132129" y="7395205"/>
            <a:ext cx="3657171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1132129" y="7736345"/>
            <a:ext cx="3657171" cy="435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ROS node validated in isolation against mocked inputs.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5071933" y="6783974"/>
            <a:ext cx="3986394" cy="1567743"/>
          </a:xfrm>
          <a:prstGeom prst="roundRect">
            <a:avLst>
              <a:gd name="adj" fmla="val 2430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5289740" y="7001781"/>
            <a:ext cx="3657304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⇆</a:t>
            </a:r>
            <a:endParaRPr lang="en-US" sz="2400" dirty="0"/>
          </a:p>
        </p:txBody>
      </p:sp>
      <p:sp>
        <p:nvSpPr>
          <p:cNvPr id="74" name="Text 71"/>
          <p:cNvSpPr/>
          <p:nvPr/>
        </p:nvSpPr>
        <p:spPr>
          <a:xfrm>
            <a:off x="5289740" y="7395205"/>
            <a:ext cx="3657304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650" dirty="0"/>
          </a:p>
        </p:txBody>
      </p:sp>
      <p:sp>
        <p:nvSpPr>
          <p:cNvPr id="75" name="Text 72"/>
          <p:cNvSpPr/>
          <p:nvPr/>
        </p:nvSpPr>
        <p:spPr>
          <a:xfrm>
            <a:off x="5289740" y="7736345"/>
            <a:ext cx="3657304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graph traced from camera frame to alert publish.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229674" y="6783974"/>
            <a:ext cx="3986265" cy="1567743"/>
          </a:xfrm>
          <a:prstGeom prst="roundRect">
            <a:avLst>
              <a:gd name="adj" fmla="val 2430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9447480" y="7001781"/>
            <a:ext cx="3657171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400" dirty="0"/>
          </a:p>
        </p:txBody>
      </p:sp>
      <p:sp>
        <p:nvSpPr>
          <p:cNvPr id="78" name="Text 75"/>
          <p:cNvSpPr/>
          <p:nvPr/>
        </p:nvSpPr>
        <p:spPr>
          <a:xfrm>
            <a:off x="9447480" y="7395205"/>
            <a:ext cx="3657171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650" dirty="0"/>
          </a:p>
        </p:txBody>
      </p:sp>
      <p:sp>
        <p:nvSpPr>
          <p:cNvPr id="79" name="Text 76"/>
          <p:cNvSpPr/>
          <p:nvPr/>
        </p:nvSpPr>
        <p:spPr>
          <a:xfrm>
            <a:off x="9447480" y="7736345"/>
            <a:ext cx="3657171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executed virtual missions in Gazebo before real flight.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13387284" y="6783974"/>
            <a:ext cx="3986394" cy="1567743"/>
          </a:xfrm>
          <a:prstGeom prst="roundRect">
            <a:avLst>
              <a:gd name="adj" fmla="val 2430"/>
            </a:avLst>
          </a:prstGeom>
          <a:solidFill>
            <a:srgbClr val="FFFDF7">
              <a:alpha val="80000"/>
            </a:srgbClr>
          </a:solidFill>
          <a:ln w="8283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13605092" y="7001781"/>
            <a:ext cx="3657304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en-US" sz="2400" dirty="0"/>
          </a:p>
        </p:txBody>
      </p:sp>
      <p:sp>
        <p:nvSpPr>
          <p:cNvPr id="82" name="Text 79"/>
          <p:cNvSpPr/>
          <p:nvPr/>
        </p:nvSpPr>
        <p:spPr>
          <a:xfrm>
            <a:off x="13605092" y="7395205"/>
            <a:ext cx="3657304" cy="30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1650" dirty="0"/>
          </a:p>
        </p:txBody>
      </p:sp>
      <p:sp>
        <p:nvSpPr>
          <p:cNvPr id="83" name="Text 80"/>
          <p:cNvSpPr/>
          <p:nvPr/>
        </p:nvSpPr>
        <p:spPr>
          <a:xfrm>
            <a:off x="13605092" y="7736345"/>
            <a:ext cx="3657304" cy="236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Eqaab flown against drone, vehicle, and human targets.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609548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V&amp;V · 4 STAGES</a:t>
            </a:r>
            <a:endParaRPr lang="en-US" sz="1125" dirty="0"/>
          </a:p>
        </p:txBody>
      </p:sp>
      <p:sp>
        <p:nvSpPr>
          <p:cNvPr id="86" name="Text 83"/>
          <p:cNvSpPr/>
          <p:nvPr/>
        </p:nvSpPr>
        <p:spPr>
          <a:xfrm>
            <a:off x="16092204" y="9903542"/>
            <a:ext cx="166244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TESTING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8138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METRICS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4232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PLATFORM ACTUALLY DELIVERS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7473499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7473499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across model accuracy, edge inference, and end-to-end alert latency.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764387" y="2165643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097152" y="2355237"/>
            <a:ext cx="2276527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TARGETS MET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208217"/>
            <a:ext cx="3943428" cy="212837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27379" y="3559322"/>
            <a:ext cx="3416834" cy="833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89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</a:t>
            </a:r>
            <a:r>
              <a:rPr lang="en-US" sz="2700" kern="0" spc="-189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300" dirty="0"/>
          </a:p>
        </p:txBody>
      </p:sp>
      <p:sp>
        <p:nvSpPr>
          <p:cNvPr id="25" name="Text 22"/>
          <p:cNvSpPr/>
          <p:nvPr/>
        </p:nvSpPr>
        <p:spPr>
          <a:xfrm>
            <a:off x="1227379" y="4525799"/>
            <a:ext cx="341683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@ 0.5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1227379" y="4778418"/>
            <a:ext cx="341683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held-out test split (550 images)</a:t>
            </a:r>
            <a:endParaRPr lang="en-US" sz="1125" dirty="0"/>
          </a:p>
        </p:txBody>
      </p:sp>
      <p:sp>
        <p:nvSpPr>
          <p:cNvPr id="27" name="Shape 24"/>
          <p:cNvSpPr/>
          <p:nvPr/>
        </p:nvSpPr>
        <p:spPr>
          <a:xfrm>
            <a:off x="5086298" y="3208217"/>
            <a:ext cx="3943428" cy="212837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399355" y="3559322"/>
            <a:ext cx="3416834" cy="833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89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r>
              <a:rPr lang="en-US" sz="2700" kern="0" spc="-189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6300" dirty="0"/>
          </a:p>
        </p:txBody>
      </p:sp>
      <p:sp>
        <p:nvSpPr>
          <p:cNvPr id="29" name="Text 26"/>
          <p:cNvSpPr/>
          <p:nvPr/>
        </p:nvSpPr>
        <p:spPr>
          <a:xfrm>
            <a:off x="5399355" y="4525799"/>
            <a:ext cx="341683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INFERENCE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5399355" y="4778418"/>
            <a:ext cx="341683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Raspberry Pi 5 · CPU-only · 640px input</a:t>
            </a:r>
            <a:endParaRPr lang="en-US" sz="1125" dirty="0"/>
          </a:p>
        </p:txBody>
      </p:sp>
      <p:sp>
        <p:nvSpPr>
          <p:cNvPr id="31" name="Shape 28"/>
          <p:cNvSpPr/>
          <p:nvPr/>
        </p:nvSpPr>
        <p:spPr>
          <a:xfrm>
            <a:off x="9258274" y="3208217"/>
            <a:ext cx="3943428" cy="212837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571331" y="3559322"/>
            <a:ext cx="3416834" cy="833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89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</a:t>
            </a:r>
            <a:r>
              <a:rPr lang="en-US" sz="2700" kern="0" spc="-189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300" dirty="0"/>
          </a:p>
        </p:txBody>
      </p:sp>
      <p:sp>
        <p:nvSpPr>
          <p:cNvPr id="33" name="Text 30"/>
          <p:cNvSpPr/>
          <p:nvPr/>
        </p:nvSpPr>
        <p:spPr>
          <a:xfrm>
            <a:off x="9571331" y="4525799"/>
            <a:ext cx="341683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9571331" y="4778418"/>
            <a:ext cx="341683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Averaged across 3 classes, conf ≥ 0.45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13430250" y="3208217"/>
            <a:ext cx="3943428" cy="2128372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743308" y="3559322"/>
            <a:ext cx="3416834" cy="833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89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~1.4</a:t>
            </a:r>
            <a:r>
              <a:rPr lang="en-US" sz="2700" kern="0" spc="-189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300" dirty="0"/>
          </a:p>
        </p:txBody>
      </p:sp>
      <p:sp>
        <p:nvSpPr>
          <p:cNvPr id="37" name="Text 34"/>
          <p:cNvSpPr/>
          <p:nvPr/>
        </p:nvSpPr>
        <p:spPr>
          <a:xfrm>
            <a:off x="13743308" y="4525799"/>
            <a:ext cx="341683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9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LATENCY</a:t>
            </a:r>
            <a:endParaRPr lang="en-US" sz="975" dirty="0"/>
          </a:p>
        </p:txBody>
      </p:sp>
      <p:sp>
        <p:nvSpPr>
          <p:cNvPr id="38" name="Text 35"/>
          <p:cNvSpPr/>
          <p:nvPr/>
        </p:nvSpPr>
        <p:spPr>
          <a:xfrm>
            <a:off x="13743308" y="4778418"/>
            <a:ext cx="341683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GCS render, measured end-to-end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914322" y="5641363"/>
            <a:ext cx="8884910" cy="3881179"/>
          </a:xfrm>
          <a:prstGeom prst="roundRect">
            <a:avLst>
              <a:gd name="adj" fmla="val 1472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189201" y="5897192"/>
            <a:ext cx="8585206" cy="162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PER-CLASS BREAKDOWN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1189201" y="6562027"/>
            <a:ext cx="201914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360651" y="6288002"/>
            <a:ext cx="1752445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8346" y="6562027"/>
            <a:ext cx="1941754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303596" y="6288002"/>
            <a:ext cx="1675054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150100" y="6562027"/>
            <a:ext cx="148491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245350" y="6288002"/>
            <a:ext cx="121821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635017" y="6562027"/>
            <a:ext cx="1404679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730267" y="6288002"/>
            <a:ext cx="1137979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039695" y="6562027"/>
            <a:ext cx="148491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8134945" y="6288002"/>
            <a:ext cx="121821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MAP@50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189201" y="7082019"/>
            <a:ext cx="20191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360651" y="6726850"/>
            <a:ext cx="1752445" cy="240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3208346" y="7082019"/>
            <a:ext cx="194175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303596" y="6726850"/>
            <a:ext cx="1675054" cy="240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0.923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5150100" y="708201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245350" y="6726850"/>
            <a:ext cx="1218216" cy="240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6635017" y="7082019"/>
            <a:ext cx="140467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730267" y="6726850"/>
            <a:ext cx="1137979" cy="240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8039695" y="708201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8134945" y="6726850"/>
            <a:ext cx="1218216" cy="240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0.947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1189201" y="7593729"/>
            <a:ext cx="20191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360651" y="7242702"/>
            <a:ext cx="1752445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3208346" y="7593729"/>
            <a:ext cx="194175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303596" y="7242702"/>
            <a:ext cx="1675054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0.914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5150100" y="759372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245350" y="7242702"/>
            <a:ext cx="1218216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0.889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6635017" y="7593729"/>
            <a:ext cx="140467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730267" y="7242702"/>
            <a:ext cx="1137979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8039695" y="759372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8134945" y="7242702"/>
            <a:ext cx="1218216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0.938</a:t>
            </a:r>
            <a:endParaRPr lang="en-US" sz="1350" dirty="0"/>
          </a:p>
        </p:txBody>
      </p:sp>
      <p:sp>
        <p:nvSpPr>
          <p:cNvPr id="71" name="Shape 68"/>
          <p:cNvSpPr/>
          <p:nvPr/>
        </p:nvSpPr>
        <p:spPr>
          <a:xfrm>
            <a:off x="1189201" y="8105439"/>
            <a:ext cx="20191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360651" y="7754412"/>
            <a:ext cx="1752445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350" dirty="0"/>
          </a:p>
        </p:txBody>
      </p:sp>
      <p:sp>
        <p:nvSpPr>
          <p:cNvPr id="73" name="Shape 70"/>
          <p:cNvSpPr/>
          <p:nvPr/>
        </p:nvSpPr>
        <p:spPr>
          <a:xfrm>
            <a:off x="3208346" y="8105439"/>
            <a:ext cx="194175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3303596" y="7754412"/>
            <a:ext cx="1675054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0.915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5150100" y="810543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5245350" y="7754412"/>
            <a:ext cx="1218216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1350" dirty="0"/>
          </a:p>
        </p:txBody>
      </p:sp>
      <p:sp>
        <p:nvSpPr>
          <p:cNvPr id="77" name="Shape 74"/>
          <p:cNvSpPr/>
          <p:nvPr/>
        </p:nvSpPr>
        <p:spPr>
          <a:xfrm>
            <a:off x="6635017" y="8105439"/>
            <a:ext cx="140467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730267" y="7754412"/>
            <a:ext cx="1137979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1350" dirty="0"/>
          </a:p>
        </p:txBody>
      </p:sp>
      <p:sp>
        <p:nvSpPr>
          <p:cNvPr id="79" name="Shape 76"/>
          <p:cNvSpPr/>
          <p:nvPr/>
        </p:nvSpPr>
        <p:spPr>
          <a:xfrm>
            <a:off x="8039695" y="8105439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8134945" y="7754412"/>
            <a:ext cx="1218216" cy="236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0.944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1189201" y="8113722"/>
            <a:ext cx="8335152" cy="519993"/>
          </a:xfrm>
          <a:prstGeom prst="rect">
            <a:avLst/>
          </a:prstGeom>
          <a:solidFill>
            <a:srgbClr val="D4A24C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1189201" y="8625432"/>
            <a:ext cx="201914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1360651" y="8266122"/>
            <a:ext cx="1752445" cy="245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avg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3208346" y="8625432"/>
            <a:ext cx="1941754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3303596" y="8266122"/>
            <a:ext cx="1675054" cy="245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1350" dirty="0"/>
          </a:p>
        </p:txBody>
      </p:sp>
      <p:sp>
        <p:nvSpPr>
          <p:cNvPr id="86" name="Shape 83"/>
          <p:cNvSpPr/>
          <p:nvPr/>
        </p:nvSpPr>
        <p:spPr>
          <a:xfrm>
            <a:off x="5150100" y="8625432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4"/>
          <p:cNvSpPr/>
          <p:nvPr/>
        </p:nvSpPr>
        <p:spPr>
          <a:xfrm>
            <a:off x="5245350" y="8266122"/>
            <a:ext cx="1218216" cy="245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0.899</a:t>
            </a:r>
            <a:endParaRPr lang="en-US" sz="1350" dirty="0"/>
          </a:p>
        </p:txBody>
      </p:sp>
      <p:sp>
        <p:nvSpPr>
          <p:cNvPr id="88" name="Shape 85"/>
          <p:cNvSpPr/>
          <p:nvPr/>
        </p:nvSpPr>
        <p:spPr>
          <a:xfrm>
            <a:off x="6635017" y="8625432"/>
            <a:ext cx="1404679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6730267" y="8266122"/>
            <a:ext cx="1137979" cy="245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8039695" y="8625432"/>
            <a:ext cx="148491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8134945" y="8266122"/>
            <a:ext cx="1218216" cy="245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</a:t>
            </a:r>
            <a:endParaRPr lang="en-US" sz="1350" dirty="0"/>
          </a:p>
        </p:txBody>
      </p:sp>
      <p:sp>
        <p:nvSpPr>
          <p:cNvPr id="92" name="Shape 89"/>
          <p:cNvSpPr/>
          <p:nvPr/>
        </p:nvSpPr>
        <p:spPr>
          <a:xfrm>
            <a:off x="10104007" y="5641363"/>
            <a:ext cx="7912351" cy="3881179"/>
          </a:xfrm>
          <a:prstGeom prst="roundRect">
            <a:avLst>
              <a:gd name="adj" fmla="val 1472"/>
            </a:avLst>
          </a:prstGeom>
          <a:solidFill>
            <a:srgbClr val="FFFFFF"/>
          </a:solidFill>
          <a:ln w="16565">
            <a:solidFill>
              <a:srgbClr val="C9A84C"/>
            </a:solidFill>
            <a:prstDash val="dash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13762926" y="6776986"/>
            <a:ext cx="594510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16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</a:t>
            </a:r>
            <a:endParaRPr lang="en-US" sz="3600" dirty="0"/>
          </a:p>
        </p:txBody>
      </p:sp>
      <p:sp>
        <p:nvSpPr>
          <p:cNvPr id="94" name="Text 91"/>
          <p:cNvSpPr/>
          <p:nvPr/>
        </p:nvSpPr>
        <p:spPr>
          <a:xfrm>
            <a:off x="13196085" y="7528115"/>
            <a:ext cx="172819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125" kern="0" spc="9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 SAMPLES</a:t>
            </a:r>
            <a:endParaRPr lang="en-US" sz="1125" dirty="0"/>
          </a:p>
        </p:txBody>
      </p:sp>
      <p:sp>
        <p:nvSpPr>
          <p:cNvPr id="95" name="Text 92"/>
          <p:cNvSpPr/>
          <p:nvPr/>
        </p:nvSpPr>
        <p:spPr>
          <a:xfrm>
            <a:off x="11252321" y="7856831"/>
            <a:ext cx="5615721" cy="568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35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detection example imagery — bounding boxes drawn over real footage of drone, person, and car targets.</a:t>
            </a:r>
            <a:endParaRPr lang="en-US" sz="1350" dirty="0"/>
          </a:p>
        </p:txBody>
      </p:sp>
      <p:sp>
        <p:nvSpPr>
          <p:cNvPr id="96" name="Text 93"/>
          <p:cNvSpPr/>
          <p:nvPr/>
        </p:nvSpPr>
        <p:spPr>
          <a:xfrm>
            <a:off x="13451941" y="9210391"/>
            <a:ext cx="1216353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· EQB-DET-01</a:t>
            </a:r>
            <a:endParaRPr lang="en-US" sz="825" dirty="0"/>
          </a:p>
        </p:txBody>
      </p:sp>
      <p:sp>
        <p:nvSpPr>
          <p:cNvPr id="97" name="Shape 94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609548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 · 5/5 PASSED</a:t>
            </a:r>
            <a:endParaRPr lang="en-US" sz="1125" dirty="0"/>
          </a:p>
        </p:txBody>
      </p:sp>
      <p:sp>
        <p:nvSpPr>
          <p:cNvPr id="99" name="Text 96"/>
          <p:cNvSpPr/>
          <p:nvPr/>
        </p:nvSpPr>
        <p:spPr>
          <a:xfrm>
            <a:off x="16092204" y="9903542"/>
            <a:ext cx="166244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RESULTS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943" y="255855"/>
            <a:ext cx="204552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LIVE DEMO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5687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99188" y="239290"/>
            <a:ext cx="655465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470" y="1117246"/>
            <a:ext cx="2530182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 IN MOTION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5100" dirty="0"/>
          </a:p>
        </p:txBody>
      </p:sp>
      <p:sp>
        <p:nvSpPr>
          <p:cNvPr id="20" name="Text 18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loop: drone detects target → onboard inference → IFF check → GPS-tagged alert → GCS map updates.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561289" y="2463817"/>
            <a:ext cx="888589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PLAYBACK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6270694" y="2653412"/>
            <a:ext cx="11029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 SEC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14322" y="3430294"/>
            <a:ext cx="17102034" cy="5024179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 w="16565">
            <a:solidFill>
              <a:srgbClr val="C9A84C"/>
            </a:solidFill>
            <a:prstDash val="dash"/>
          </a:ln>
          <a:effectLst>
            <a:outerShdw blurRad="19050" dist="9525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47922" y="4951059"/>
            <a:ext cx="834706" cy="90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5400" kern="0" spc="16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📷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8494411" y="5992080"/>
            <a:ext cx="19418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kern="0" spc="10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VIDEO / GIF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955590" y="6353926"/>
            <a:ext cx="11019499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500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the demo recording — should walk through the full chain: drone detecting a target, onboard inference + IFF, GCS receiving the alert, and the map marker updating in real time.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21445" y="8142322"/>
            <a:ext cx="1287661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6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· EQB-DEMO-01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914322" y="8683021"/>
            <a:ext cx="5334000" cy="1059915"/>
          </a:xfrm>
          <a:prstGeom prst="roundRect">
            <a:avLst>
              <a:gd name="adj" fmla="val 3595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3105" y="8862650"/>
            <a:ext cx="361950" cy="73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570202" y="8862650"/>
            <a:ext cx="4613719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70202" y="9149177"/>
            <a:ext cx="4613719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identifies a drone target in the live camera frame; DeepSORT assigns a track ID.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476871" y="8683021"/>
            <a:ext cx="5334130" cy="1059915"/>
          </a:xfrm>
          <a:prstGeom prst="roundRect">
            <a:avLst>
              <a:gd name="adj" fmla="val 3595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654" y="8862650"/>
            <a:ext cx="361950" cy="73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7132750" y="8862650"/>
            <a:ext cx="4613852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IFF + alert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750" y="9149177"/>
            <a:ext cx="4613852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query fails → target marked UNKNOWN → JSON alert published over WSS.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2039549" y="8683021"/>
            <a:ext cx="5334000" cy="1059915"/>
          </a:xfrm>
          <a:prstGeom prst="roundRect">
            <a:avLst>
              <a:gd name="adj" fmla="val 3595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2238331" y="8862650"/>
            <a:ext cx="361950" cy="738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695427" y="8862650"/>
            <a:ext cx="4613719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update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695427" y="9149177"/>
            <a:ext cx="4613719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relays the alert; React dashboard renders the GPS-tagged marker on the live map.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9548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RECORDING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6409531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DEMO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04552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ECONOMICS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802336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PRODUCTION-GRADE FOR 1% OF LEGACY COST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81075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810751" cy="634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intelligent surveillance platform — airframe through cloud — for less than a single high-end CCTV install.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256644" y="2463817"/>
            <a:ext cx="1193235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BUILD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5977308" y="2653412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2,690 SAR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506391"/>
            <a:ext cx="8058202" cy="4976683"/>
          </a:xfrm>
          <a:prstGeom prst="roundRect">
            <a:avLst>
              <a:gd name="adj" fmla="val 1148"/>
            </a:avLst>
          </a:prstGeom>
          <a:solidFill>
            <a:srgbClr val="D4A24C">
              <a:alpha val="10000"/>
            </a:srgbClr>
          </a:solidFill>
          <a:ln w="8283">
            <a:solidFill>
              <a:srgbClr val="C9A84C"/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65427" y="3857496"/>
            <a:ext cx="757667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THIS WORK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265427" y="4096009"/>
            <a:ext cx="2265656" cy="874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198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2,690</a:t>
            </a:r>
            <a:endParaRPr lang="en-US" sz="6600" dirty="0"/>
          </a:p>
        </p:txBody>
      </p:sp>
      <p:sp>
        <p:nvSpPr>
          <p:cNvPr id="26" name="Text 23"/>
          <p:cNvSpPr/>
          <p:nvPr/>
        </p:nvSpPr>
        <p:spPr>
          <a:xfrm>
            <a:off x="3607206" y="4659226"/>
            <a:ext cx="15475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 · TOTAL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265427" y="5643821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436877" y="5313501"/>
            <a:ext cx="4203103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Carbon-fiber frame &amp; motors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79023" y="5643821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62201" y="5313501"/>
            <a:ext cx="2687769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820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265427" y="6138967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436877" y="5804504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+ PX4 stack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679023" y="6138967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62201" y="5804504"/>
            <a:ext cx="2687769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265427" y="6634111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436877" y="6299649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(8GB)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79023" y="6634111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762201" y="6299649"/>
            <a:ext cx="2687769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265427" y="7129255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436877" y="6794793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Camera Module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679023" y="7129255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762201" y="6794793"/>
            <a:ext cx="2687769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265427" y="7624400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436877" y="7289938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· 4G dongle · battery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79023" y="7624400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762201" y="7289938"/>
            <a:ext cx="2687769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540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265427" y="8119545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436877" y="7785083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receiver · misc.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679023" y="8119545"/>
            <a:ext cx="2942397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762201" y="7785083"/>
            <a:ext cx="2687769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315347" y="3506391"/>
            <a:ext cx="8058331" cy="4976683"/>
          </a:xfrm>
          <a:prstGeom prst="roundRect">
            <a:avLst>
              <a:gd name="adj" fmla="val 1148"/>
            </a:avLst>
          </a:prstGeom>
          <a:solidFill>
            <a:srgbClr val="FFFFFF">
              <a:alpha val="75000"/>
            </a:srgbClr>
          </a:solidFill>
          <a:ln w="8283">
            <a:solidFill>
              <a:srgbClr val="C9A84C">
                <a:alpha val="21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666452" y="3857496"/>
            <a:ext cx="757680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SURVEILLANCE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9666452" y="4096009"/>
            <a:ext cx="2698356" cy="642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9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100,000s</a:t>
            </a:r>
            <a:endParaRPr lang="en-US" sz="4800" dirty="0"/>
          </a:p>
        </p:txBody>
      </p:sp>
      <p:sp>
        <p:nvSpPr>
          <p:cNvPr id="54" name="Text 51"/>
          <p:cNvSpPr/>
          <p:nvPr/>
        </p:nvSpPr>
        <p:spPr>
          <a:xfrm>
            <a:off x="12438537" y="4485292"/>
            <a:ext cx="432870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1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9666452" y="5411908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9837902" y="5081588"/>
            <a:ext cx="4203103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CCTV + tower install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14080048" y="5411908"/>
            <a:ext cx="294252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4163222" y="5081588"/>
            <a:ext cx="2687902" cy="216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100k+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9666452" y="5907053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837902" y="5572591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radar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14080048" y="5907053"/>
            <a:ext cx="294252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4163222" y="5572591"/>
            <a:ext cx="2687902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300k+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9666452" y="6402198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837902" y="6067736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Piloted UAV system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14080048" y="6402198"/>
            <a:ext cx="294252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4163222" y="6067736"/>
            <a:ext cx="2687902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500k+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666452" y="6897343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9837902" y="6562881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staffing (annual)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14080048" y="6897343"/>
            <a:ext cx="294252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14163222" y="6562881"/>
            <a:ext cx="2687902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200k+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9666452" y="7392487"/>
            <a:ext cx="441359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9837902" y="7058025"/>
            <a:ext cx="4203103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&amp; comms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14080048" y="7392487"/>
            <a:ext cx="294252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14163222" y="7058025"/>
            <a:ext cx="2687902" cy="220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00" kern="0" spc="-6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914322" y="8749671"/>
            <a:ext cx="16459356" cy="1243944"/>
          </a:xfrm>
          <a:prstGeom prst="roundRect">
            <a:avLst>
              <a:gd name="adj" fmla="val 4594"/>
            </a:avLst>
          </a:prstGeom>
          <a:solidFill>
            <a:srgbClr val="D4A24C">
              <a:alpha val="10000"/>
            </a:srgbClr>
          </a:solidFill>
          <a:ln w="8283">
            <a:solidFill>
              <a:srgbClr val="C9A84C"/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1265427" y="8986501"/>
            <a:ext cx="1155269" cy="808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</a:t>
            </a:r>
            <a:endParaRPr lang="en-US" sz="4800" dirty="0"/>
          </a:p>
        </p:txBody>
      </p:sp>
      <p:sp>
        <p:nvSpPr>
          <p:cNvPr id="77" name="Text 74"/>
          <p:cNvSpPr/>
          <p:nvPr/>
        </p:nvSpPr>
        <p:spPr>
          <a:xfrm>
            <a:off x="2649270" y="9056904"/>
            <a:ext cx="14804502" cy="667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intelligent surveillance at roughly </a:t>
            </a:r>
            <a:r>
              <a:rPr lang="en-US" sz="18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of traditional infrastructure cost </a:t>
            </a:r>
            <a:r>
              <a:rPr lang="en-US" sz="180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without sacrificing autonomy, identification, or operator control.</a:t>
            </a:r>
            <a:endParaRPr lang="en-US" sz="1800" dirty="0"/>
          </a:p>
        </p:txBody>
      </p:sp>
      <p:sp>
        <p:nvSpPr>
          <p:cNvPr id="78" name="Shape 75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09548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 · TURN-KEY</a:t>
            </a:r>
            <a:endParaRPr lang="en-US" sz="1125" dirty="0"/>
          </a:p>
        </p:txBody>
      </p:sp>
      <p:sp>
        <p:nvSpPr>
          <p:cNvPr id="80" name="Text 77"/>
          <p:cNvSpPr/>
          <p:nvPr/>
        </p:nvSpPr>
        <p:spPr>
          <a:xfrm>
            <a:off x="16409531" y="9903542"/>
            <a:ext cx="134512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COST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7443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DELIVERY MATRIX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675969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PROMISED VS WHAT WE DELIVERED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8580541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8580541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for five — every committed KPI met or exceeded, each backed by verifiable evidence.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764387" y="2165643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266811" y="2355237"/>
            <a:ext cx="1106867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5 ✓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132120"/>
            <a:ext cx="16459356" cy="3683820"/>
          </a:xfrm>
          <a:prstGeom prst="roundRect">
            <a:avLst>
              <a:gd name="adj" fmla="val 1551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227379" y="3642924"/>
            <a:ext cx="380003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398829" y="3368899"/>
            <a:ext cx="3571136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27414" y="3642924"/>
            <a:ext cx="348335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98864" y="3368899"/>
            <a:ext cx="3244955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510769" y="3642924"/>
            <a:ext cx="3483355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682219" y="3368899"/>
            <a:ext cx="3244955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1994124" y="3642924"/>
            <a:ext cx="5066756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2165574" y="3368899"/>
            <a:ext cx="4875859" cy="178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227379" y="4245743"/>
            <a:ext cx="380003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398829" y="3807748"/>
            <a:ext cx="3571136" cy="32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flight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5027414" y="4245743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198864" y="3807748"/>
            <a:ext cx="3244955" cy="32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mission</a:t>
            </a:r>
            <a:endParaRPr lang="en-US" sz="1425" dirty="0"/>
          </a:p>
        </p:txBody>
      </p:sp>
      <p:sp>
        <p:nvSpPr>
          <p:cNvPr id="36" name="Shape 33"/>
          <p:cNvSpPr/>
          <p:nvPr/>
        </p:nvSpPr>
        <p:spPr>
          <a:xfrm>
            <a:off x="8510769" y="4245743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682219" y="3807748"/>
            <a:ext cx="3244955" cy="32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425" dirty="0"/>
          </a:p>
        </p:txBody>
      </p:sp>
      <p:sp>
        <p:nvSpPr>
          <p:cNvPr id="38" name="Shape 35"/>
          <p:cNvSpPr/>
          <p:nvPr/>
        </p:nvSpPr>
        <p:spPr>
          <a:xfrm>
            <a:off x="11994124" y="4245743"/>
            <a:ext cx="50667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165574" y="3807748"/>
            <a:ext cx="4875859" cy="323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Gazebo + field flights</a:t>
            </a:r>
            <a:endParaRPr lang="en-US" sz="1425" dirty="0"/>
          </a:p>
        </p:txBody>
      </p:sp>
      <p:sp>
        <p:nvSpPr>
          <p:cNvPr id="40" name="Shape 37"/>
          <p:cNvSpPr/>
          <p:nvPr/>
        </p:nvSpPr>
        <p:spPr>
          <a:xfrm>
            <a:off x="1227379" y="4840279"/>
            <a:ext cx="380003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398829" y="4406426"/>
            <a:ext cx="3571136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5027414" y="4840279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198864" y="4406426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 FPS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8510769" y="4840279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682219" y="4406426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FPS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1994124" y="4840279"/>
            <a:ext cx="50667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2165574" y="4406426"/>
            <a:ext cx="4875859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RPi5 benchmark · 640px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1227379" y="5434815"/>
            <a:ext cx="380003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398829" y="5000962"/>
            <a:ext cx="3571136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IFF classification</a:t>
            </a:r>
            <a:endParaRPr lang="en-US" sz="1425" dirty="0"/>
          </a:p>
        </p:txBody>
      </p:sp>
      <p:sp>
        <p:nvSpPr>
          <p:cNvPr id="50" name="Shape 47"/>
          <p:cNvSpPr/>
          <p:nvPr/>
        </p:nvSpPr>
        <p:spPr>
          <a:xfrm>
            <a:off x="5027414" y="5434815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198864" y="5000962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/ Unknown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8510769" y="5434815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8682219" y="5000962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425" dirty="0"/>
          </a:p>
        </p:txBody>
      </p:sp>
      <p:sp>
        <p:nvSpPr>
          <p:cNvPr id="54" name="Shape 51"/>
          <p:cNvSpPr/>
          <p:nvPr/>
        </p:nvSpPr>
        <p:spPr>
          <a:xfrm>
            <a:off x="11994124" y="5434815"/>
            <a:ext cx="50667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2165574" y="5000962"/>
            <a:ext cx="4875859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lookup tested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1227379" y="6029351"/>
            <a:ext cx="380003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398829" y="5595497"/>
            <a:ext cx="3571136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transmission</a:t>
            </a:r>
            <a:endParaRPr lang="en-US" sz="1425" dirty="0"/>
          </a:p>
        </p:txBody>
      </p:sp>
      <p:sp>
        <p:nvSpPr>
          <p:cNvPr id="58" name="Shape 55"/>
          <p:cNvSpPr/>
          <p:nvPr/>
        </p:nvSpPr>
        <p:spPr>
          <a:xfrm>
            <a:off x="5027414" y="6029351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5198864" y="5595497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3s latency</a:t>
            </a:r>
            <a:endParaRPr lang="en-US" sz="1425" dirty="0"/>
          </a:p>
        </p:txBody>
      </p:sp>
      <p:sp>
        <p:nvSpPr>
          <p:cNvPr id="60" name="Shape 57"/>
          <p:cNvSpPr/>
          <p:nvPr/>
        </p:nvSpPr>
        <p:spPr>
          <a:xfrm>
            <a:off x="8510769" y="6029351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8682219" y="5595497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~1.4s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1994124" y="6029351"/>
            <a:ext cx="50667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12165574" y="5595497"/>
            <a:ext cx="4875859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measurement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27379" y="6623887"/>
            <a:ext cx="380003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398829" y="6190034"/>
            <a:ext cx="3571136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dashboard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5027414" y="6623887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5198864" y="6190034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 + commands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8510769" y="6623887"/>
            <a:ext cx="3483355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8682219" y="6190034"/>
            <a:ext cx="3244955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4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1994124" y="6623887"/>
            <a:ext cx="5066756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12165574" y="6190034"/>
            <a:ext cx="4875859" cy="31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kern="0" spc="114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dashboard live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914322" y="7120714"/>
            <a:ext cx="2454758" cy="1168495"/>
          </a:xfrm>
          <a:prstGeom prst="roundRect">
            <a:avLst>
              <a:gd name="adj" fmla="val 3261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189201" y="7357545"/>
            <a:ext cx="1981200" cy="5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50" dirty="0"/>
          </a:p>
        </p:txBody>
      </p:sp>
      <p:sp>
        <p:nvSpPr>
          <p:cNvPr id="74" name="Text 71"/>
          <p:cNvSpPr/>
          <p:nvPr/>
        </p:nvSpPr>
        <p:spPr>
          <a:xfrm>
            <a:off x="1189201" y="7928139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 SET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3559581" y="7120714"/>
            <a:ext cx="2454758" cy="1168495"/>
          </a:xfrm>
          <a:prstGeom prst="roundRect">
            <a:avLst>
              <a:gd name="adj" fmla="val 3261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3834460" y="7357545"/>
            <a:ext cx="1981200" cy="5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kern="0" spc="-6" dirty="0">
                <a:solidFill>
                  <a:srgbClr val="6F8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50" dirty="0"/>
          </a:p>
        </p:txBody>
      </p:sp>
      <p:sp>
        <p:nvSpPr>
          <p:cNvPr id="77" name="Text 74"/>
          <p:cNvSpPr/>
          <p:nvPr/>
        </p:nvSpPr>
        <p:spPr>
          <a:xfrm>
            <a:off x="3834460" y="7928139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 MET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6204839" y="7120714"/>
            <a:ext cx="2454758" cy="1168495"/>
          </a:xfrm>
          <a:prstGeom prst="roundRect">
            <a:avLst>
              <a:gd name="adj" fmla="val 3261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6479718" y="7357545"/>
            <a:ext cx="1981200" cy="5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50" dirty="0"/>
          </a:p>
        </p:txBody>
      </p:sp>
      <p:sp>
        <p:nvSpPr>
          <p:cNvPr id="80" name="Text 77"/>
          <p:cNvSpPr/>
          <p:nvPr/>
        </p:nvSpPr>
        <p:spPr>
          <a:xfrm>
            <a:off x="6479718" y="7928139"/>
            <a:ext cx="1981200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EXCEEDED TARGET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8850097" y="7120714"/>
            <a:ext cx="8523581" cy="1168495"/>
          </a:xfrm>
          <a:prstGeom prst="roundRect">
            <a:avLst>
              <a:gd name="adj" fmla="val 3261"/>
            </a:avLst>
          </a:prstGeom>
          <a:solidFill>
            <a:srgbClr val="D4A24C">
              <a:alpha val="5000"/>
            </a:srgbClr>
          </a:solidFill>
          <a:ln w="8283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9124976" y="7357545"/>
            <a:ext cx="8213038" cy="61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FPS exceeded target by </a:t>
            </a:r>
            <a:r>
              <a:rPr lang="en-US" sz="16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r>
              <a:rPr lang="en-US" sz="165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alert latency came in at less than </a:t>
            </a:r>
            <a:r>
              <a:rPr lang="en-US" sz="165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</a:t>
            </a:r>
            <a:r>
              <a:rPr lang="en-US" sz="1650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requirement.</a:t>
            </a:r>
            <a:endParaRPr lang="en-US" sz="1650" dirty="0"/>
          </a:p>
        </p:txBody>
      </p:sp>
      <p:sp>
        <p:nvSpPr>
          <p:cNvPr id="83" name="Shape 80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609548" y="9903542"/>
            <a:ext cx="2085380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TARGETS · GREEN</a:t>
            </a:r>
            <a:endParaRPr lang="en-US" sz="1125" dirty="0"/>
          </a:p>
        </p:txBody>
      </p:sp>
      <p:sp>
        <p:nvSpPr>
          <p:cNvPr id="85" name="Text 82"/>
          <p:cNvSpPr/>
          <p:nvPr/>
        </p:nvSpPr>
        <p:spPr>
          <a:xfrm>
            <a:off x="15986471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DELIVERY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-952500" y="4000500"/>
            <a:ext cx="7429500" cy="7429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7443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LESSONS LEARNED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0441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BROKE — AND HOW WE FIXED 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7024950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7024950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engineering problems that shaped the final architecture.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764387" y="2165643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PIVOTS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270694" y="2355237"/>
            <a:ext cx="11029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MAJOR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208217"/>
            <a:ext cx="16459356" cy="1420985"/>
          </a:xfrm>
          <a:prstGeom prst="roundRect">
            <a:avLst>
              <a:gd name="adj" fmla="val 2681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51153" y="3445048"/>
            <a:ext cx="647700" cy="985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1951202" y="3445048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951202" y="3645383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forgetting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951202" y="3969958"/>
            <a:ext cx="7388988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 single YOLOv8 model on the custom drone class measurably degraded its accuracy on the COCO person and car classes — making the model worse at the things it was already good at.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9315424" y="3445048"/>
            <a:ext cx="457200" cy="985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29" name="Text 26"/>
          <p:cNvSpPr/>
          <p:nvPr/>
        </p:nvSpPr>
        <p:spPr>
          <a:xfrm>
            <a:off x="9963073" y="3445048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6F8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9963073" y="3645383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Dual-model parallel architecture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9963073" y="3969958"/>
            <a:ext cx="7388988" cy="46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stock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yolov8n.pt </a:t>
            </a: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custom </a:t>
            </a:r>
            <a:r>
              <a:rPr lang="en-US" sz="1125" kern="0" spc="-6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best.pt </a:t>
            </a: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 on every frame, then merge and filter. Each model stays specialised; nothing forgets.</a:t>
            </a:r>
            <a:endParaRPr lang="en-US" sz="1125" dirty="0"/>
          </a:p>
        </p:txBody>
      </p:sp>
      <p:sp>
        <p:nvSpPr>
          <p:cNvPr id="32" name="Shape 29"/>
          <p:cNvSpPr/>
          <p:nvPr/>
        </p:nvSpPr>
        <p:spPr>
          <a:xfrm>
            <a:off x="914322" y="4838726"/>
            <a:ext cx="16459356" cy="1412702"/>
          </a:xfrm>
          <a:prstGeom prst="roundRect">
            <a:avLst>
              <a:gd name="adj" fmla="val 2697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151153" y="5075557"/>
            <a:ext cx="647700" cy="97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34" name="Text 31"/>
          <p:cNvSpPr/>
          <p:nvPr/>
        </p:nvSpPr>
        <p:spPr>
          <a:xfrm>
            <a:off x="1951202" y="5075557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951202" y="5275893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LTE latency for piloting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951202" y="5600467"/>
            <a:ext cx="7388988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remote piloting over cellular incurs latency too high for safe low-altitude flight — control-loop lag became unacceptable as soon as we left line of sight.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9315424" y="5075557"/>
            <a:ext cx="457200" cy="97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38" name="Text 35"/>
          <p:cNvSpPr/>
          <p:nvPr/>
        </p:nvSpPr>
        <p:spPr>
          <a:xfrm>
            <a:off x="9963073" y="5075557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6F8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9963073" y="5275893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 FSM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9963073" y="5600467"/>
            <a:ext cx="7388988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the manual control loop entirely. Operator issues </a:t>
            </a:r>
            <a:r>
              <a:rPr lang="en-US" sz="1125" i="1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</a:t>
            </a: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(RTH, takeoff, waypoints); the FSM executes locally with onboard sensors at deterministic rates.</a:t>
            </a:r>
            <a:endParaRPr lang="en-US" sz="1125" dirty="0"/>
          </a:p>
        </p:txBody>
      </p:sp>
      <p:sp>
        <p:nvSpPr>
          <p:cNvPr id="41" name="Shape 38"/>
          <p:cNvSpPr/>
          <p:nvPr/>
        </p:nvSpPr>
        <p:spPr>
          <a:xfrm>
            <a:off x="914322" y="6460953"/>
            <a:ext cx="16459356" cy="1420985"/>
          </a:xfrm>
          <a:prstGeom prst="roundRect">
            <a:avLst>
              <a:gd name="adj" fmla="val 2681"/>
            </a:avLst>
          </a:prstGeom>
          <a:solidFill>
            <a:srgbClr val="FFFDF7">
              <a:alpha val="7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151153" y="6697784"/>
            <a:ext cx="647700" cy="985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43" name="Text 40"/>
          <p:cNvSpPr/>
          <p:nvPr/>
        </p:nvSpPr>
        <p:spPr>
          <a:xfrm>
            <a:off x="1951202" y="6697784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B2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951202" y="6898119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inference on RPi5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1951202" y="7222694"/>
            <a:ext cx="7388988" cy="452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GPU, no NPU. Larger YOLOv8 variants stalled below 3 FPS — well under our 5 FPS KPI — and risked thermal throttling during long missions.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9315424" y="6697784"/>
            <a:ext cx="457200" cy="985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50" dirty="0"/>
          </a:p>
        </p:txBody>
      </p:sp>
      <p:sp>
        <p:nvSpPr>
          <p:cNvPr id="47" name="Text 44"/>
          <p:cNvSpPr/>
          <p:nvPr/>
        </p:nvSpPr>
        <p:spPr>
          <a:xfrm>
            <a:off x="9963073" y="6697784"/>
            <a:ext cx="738898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6F8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9963073" y="6898119"/>
            <a:ext cx="7388988" cy="286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variant + frame-rate cap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9963073" y="7222694"/>
            <a:ext cx="7388988" cy="46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to YOLOv8 nano, capped the inference loop, and kept the input at 640px. Sustained </a:t>
            </a:r>
            <a:r>
              <a:rPr lang="en-US" sz="1125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 FPS </a:t>
            </a:r>
            <a:r>
              <a:rPr lang="en-US" sz="1125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stable thermals and headroom for tracker overhead.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09548" y="9903542"/>
            <a:ext cx="2296845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POST-MORTEM · 3 ITEMS</a:t>
            </a:r>
            <a:endParaRPr lang="en-US" sz="1125" dirty="0"/>
          </a:p>
        </p:txBody>
      </p:sp>
      <p:sp>
        <p:nvSpPr>
          <p:cNvPr id="52" name="Text 49"/>
          <p:cNvSpPr/>
          <p:nvPr/>
        </p:nvSpPr>
        <p:spPr>
          <a:xfrm>
            <a:off x="15775006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CHALLENGES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6000"/>
          </a:blip>
          <a:stretch>
            <a:fillRect/>
          </a:stretch>
        </p:blipFill>
        <p:spPr>
          <a:xfrm>
            <a:off x="10477500" y="-762000"/>
            <a:ext cx="8572501" cy="85725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8138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ROADMAP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2653968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EQAAB GOES NEXT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9394460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</a:t>
            </a:r>
            <a:r>
              <a:rPr lang="en-US" sz="5100" b="1" kern="0" spc="-10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914322" y="2338672"/>
            <a:ext cx="9394460" cy="336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directions that build directly on the v1 platform — none require throwing the architecture away.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662838" y="2165643"/>
            <a:ext cx="787040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6270694" y="2355237"/>
            <a:ext cx="1102985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V3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4322" y="3208217"/>
            <a:ext cx="8115404" cy="2406745"/>
          </a:xfrm>
          <a:prstGeom prst="roundRect">
            <a:avLst>
              <a:gd name="adj" fmla="val 2375"/>
            </a:avLst>
          </a:prstGeom>
          <a:solidFill>
            <a:srgbClr val="FFFDF7">
              <a:alpha val="8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379" y="3521273"/>
            <a:ext cx="457096" cy="4570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27379" y="4189577"/>
            <a:ext cx="7713969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COORDINATION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1227379" y="4409066"/>
            <a:ext cx="7713969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Multi-drone Coordination</a:t>
            </a:r>
            <a:endParaRPr lang="en-US" sz="1950" dirty="0"/>
          </a:p>
        </p:txBody>
      </p:sp>
      <p:sp>
        <p:nvSpPr>
          <p:cNvPr id="27" name="Text 23"/>
          <p:cNvSpPr/>
          <p:nvPr/>
        </p:nvSpPr>
        <p:spPr>
          <a:xfrm>
            <a:off x="1227379" y="4838079"/>
            <a:ext cx="7713969" cy="50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Eqaab airframes sharing a single GCS — unified alert feed, deconflicted patrol routes, and cooperative tracking of fast-moving targets.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258274" y="3208217"/>
            <a:ext cx="8115404" cy="2406745"/>
          </a:xfrm>
          <a:prstGeom prst="roundRect">
            <a:avLst>
              <a:gd name="adj" fmla="val 2375"/>
            </a:avLst>
          </a:prstGeom>
          <a:solidFill>
            <a:srgbClr val="FFFDF7">
              <a:alpha val="8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1331" y="3521273"/>
            <a:ext cx="457096" cy="4570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71331" y="4189577"/>
            <a:ext cx="7713969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SENSOR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9571331" y="4409066"/>
            <a:ext cx="7713969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Imaging</a:t>
            </a:r>
            <a:endParaRPr lang="en-US" sz="1950" dirty="0"/>
          </a:p>
        </p:txBody>
      </p:sp>
      <p:sp>
        <p:nvSpPr>
          <p:cNvPr id="32" name="Text 27"/>
          <p:cNvSpPr/>
          <p:nvPr/>
        </p:nvSpPr>
        <p:spPr>
          <a:xfrm>
            <a:off x="9571331" y="4838079"/>
            <a:ext cx="7713969" cy="50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thermal payload alongside the RGB camera. Detection at night, through smoke, and against camouflaged targets — same pipeline, fused channels.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914322" y="5843510"/>
            <a:ext cx="8115404" cy="2406745"/>
          </a:xfrm>
          <a:prstGeom prst="roundRect">
            <a:avLst>
              <a:gd name="adj" fmla="val 2375"/>
            </a:avLst>
          </a:prstGeom>
          <a:solidFill>
            <a:srgbClr val="FFFDF7">
              <a:alpha val="8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379" y="6156567"/>
            <a:ext cx="457096" cy="4570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27379" y="6824870"/>
            <a:ext cx="7713969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· SECURITY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1227379" y="7044359"/>
            <a:ext cx="7713969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IFF</a:t>
            </a:r>
            <a:endParaRPr lang="en-US" sz="1950" dirty="0"/>
          </a:p>
        </p:txBody>
      </p:sp>
      <p:sp>
        <p:nvSpPr>
          <p:cNvPr id="37" name="Text 31"/>
          <p:cNvSpPr/>
          <p:nvPr/>
        </p:nvSpPr>
        <p:spPr>
          <a:xfrm>
            <a:off x="1227379" y="7473372"/>
            <a:ext cx="7713969" cy="50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proximity-based identifier matching with hardware-authenticated transponders. Public-key challenge / response — spoof-resistant by design.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9258274" y="5843510"/>
            <a:ext cx="8115404" cy="2406745"/>
          </a:xfrm>
          <a:prstGeom prst="roundRect">
            <a:avLst>
              <a:gd name="adj" fmla="val 2375"/>
            </a:avLst>
          </a:prstGeom>
          <a:solidFill>
            <a:srgbClr val="FFFDF7">
              <a:alpha val="85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1331" y="6156567"/>
            <a:ext cx="457096" cy="45709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571331" y="6824870"/>
            <a:ext cx="7713969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· PERFORMANCE</a:t>
            </a:r>
            <a:endParaRPr lang="en-US" sz="825" dirty="0"/>
          </a:p>
        </p:txBody>
      </p:sp>
      <p:sp>
        <p:nvSpPr>
          <p:cNvPr id="41" name="Text 34"/>
          <p:cNvSpPr/>
          <p:nvPr/>
        </p:nvSpPr>
        <p:spPr>
          <a:xfrm>
            <a:off x="9571331" y="7044359"/>
            <a:ext cx="7713969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Optimization</a:t>
            </a:r>
            <a:endParaRPr lang="en-US" sz="1950" dirty="0"/>
          </a:p>
        </p:txBody>
      </p:sp>
      <p:sp>
        <p:nvSpPr>
          <p:cNvPr id="42" name="Text 35"/>
          <p:cNvSpPr/>
          <p:nvPr/>
        </p:nvSpPr>
        <p:spPr>
          <a:xfrm>
            <a:off x="9571331" y="7473372"/>
            <a:ext cx="7713969" cy="501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quantization and structured pruning of the YOLOv8 weights. Target: double the edge FPS without dropping mAP — opens headroom for larger backbones.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609548" y="9903542"/>
            <a:ext cx="1873914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 · 4 ITEMS</a:t>
            </a:r>
            <a:endParaRPr lang="en-US" sz="1125" dirty="0"/>
          </a:p>
        </p:txBody>
      </p:sp>
      <p:sp>
        <p:nvSpPr>
          <p:cNvPr id="45" name="Text 38"/>
          <p:cNvSpPr/>
          <p:nvPr/>
        </p:nvSpPr>
        <p:spPr>
          <a:xfrm>
            <a:off x="16198066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FUTURE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2952750" y="-1047750"/>
            <a:ext cx="12382500" cy="1238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1813865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CLOSING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40917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322" y="1066774"/>
            <a:ext cx="460850" cy="250031"/>
          </a:xfrm>
          <a:prstGeom prst="roundRect">
            <a:avLst>
              <a:gd name="adj" fmla="val 7619"/>
            </a:avLst>
          </a:prstGeom>
          <a:solidFill>
            <a:srgbClr val="C9A84C">
              <a:alpha val="8000"/>
            </a:srgbClr>
          </a:solidFill>
          <a:ln w="12424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1996" y="1117298"/>
            <a:ext cx="321702" cy="18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08470" y="1117246"/>
            <a:ext cx="4044135" cy="187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 · AND WHO BUILT IT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322" y="1488152"/>
            <a:ext cx="4656107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100" b="1" kern="0" spc="-10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5100" dirty="0"/>
          </a:p>
        </p:txBody>
      </p:sp>
      <p:sp>
        <p:nvSpPr>
          <p:cNvPr id="20" name="Text 17"/>
          <p:cNvSpPr/>
          <p:nvPr/>
        </p:nvSpPr>
        <p:spPr>
          <a:xfrm>
            <a:off x="16764387" y="1696123"/>
            <a:ext cx="685491" cy="170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21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5977308" y="1885717"/>
            <a:ext cx="1396370" cy="319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kern="0" spc="16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914322" y="2662600"/>
            <a:ext cx="8653189" cy="2423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i="1" kern="0" spc="-2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 </a:t>
            </a:r>
            <a:r>
              <a:rPr lang="en-US" sz="2250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Eqaab demonstrates that a seven-member student engineering team can design, build, and validate a complete production-grade intelligent aerial security platform — integrating autonomous flight, onboard AI, IFF classification, and live operator interfaces into a single cohesive system </a:t>
            </a:r>
            <a:r>
              <a:rPr lang="en-US" sz="2250" kern="0" spc="-2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fraction of traditional surveillance cost. </a:t>
            </a:r>
            <a:r>
              <a:rPr lang="en-US" sz="2250" i="1" kern="0" spc="-22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876222" y="5505088"/>
            <a:ext cx="746962" cy="526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900" dirty="0"/>
          </a:p>
        </p:txBody>
      </p:sp>
      <p:sp>
        <p:nvSpPr>
          <p:cNvPr id="24" name="Text 21"/>
          <p:cNvSpPr/>
          <p:nvPr/>
        </p:nvSpPr>
        <p:spPr>
          <a:xfrm>
            <a:off x="876222" y="6050834"/>
            <a:ext cx="74696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1889858" y="5505088"/>
            <a:ext cx="9525" cy="66998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165980" y="5505088"/>
            <a:ext cx="676042" cy="526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900" dirty="0"/>
          </a:p>
        </p:txBody>
      </p:sp>
      <p:sp>
        <p:nvSpPr>
          <p:cNvPr id="27" name="Text 24"/>
          <p:cNvSpPr/>
          <p:nvPr/>
        </p:nvSpPr>
        <p:spPr>
          <a:xfrm>
            <a:off x="2165980" y="6050834"/>
            <a:ext cx="67604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3108696" y="5505088"/>
            <a:ext cx="9525" cy="66998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384818" y="5505088"/>
            <a:ext cx="1082278" cy="526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kern="0" spc="-6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30" name="Text 27"/>
          <p:cNvSpPr/>
          <p:nvPr/>
        </p:nvSpPr>
        <p:spPr>
          <a:xfrm>
            <a:off x="3384818" y="6050834"/>
            <a:ext cx="1082278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FLYING DRONE</a:t>
            </a:r>
            <a:endParaRPr lang="en-US" sz="825" dirty="0"/>
          </a:p>
        </p:txBody>
      </p:sp>
      <p:sp>
        <p:nvSpPr>
          <p:cNvPr id="31" name="Shape 28"/>
          <p:cNvSpPr/>
          <p:nvPr/>
        </p:nvSpPr>
        <p:spPr>
          <a:xfrm>
            <a:off x="4733770" y="5505088"/>
            <a:ext cx="9525" cy="66998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009891" y="5505088"/>
            <a:ext cx="1315615" cy="526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90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</a:t>
            </a:r>
            <a:r>
              <a:rPr lang="en-US" sz="1800" b="1" kern="0" spc="-6" dirty="0">
                <a:solidFill>
                  <a:srgbClr val="A88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900" dirty="0"/>
          </a:p>
        </p:txBody>
      </p:sp>
      <p:sp>
        <p:nvSpPr>
          <p:cNvPr id="33" name="Text 30"/>
          <p:cNvSpPr/>
          <p:nvPr/>
        </p:nvSpPr>
        <p:spPr>
          <a:xfrm>
            <a:off x="5009891" y="6050834"/>
            <a:ext cx="131561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25" kern="0" spc="165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@ 50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9772573" y="2662600"/>
            <a:ext cx="7601106" cy="4956365"/>
          </a:xfrm>
          <a:prstGeom prst="roundRect">
            <a:avLst>
              <a:gd name="adj" fmla="val 1153"/>
            </a:avLst>
          </a:prstGeom>
          <a:solidFill>
            <a:srgbClr val="FFFFFF"/>
          </a:solidFill>
          <a:ln w="8283">
            <a:solidFill>
              <a:srgbClr val="C9A84C">
                <a:alpha val="28000"/>
              </a:srgbClr>
            </a:solidFill>
            <a:prstDash val="solid"/>
          </a:ln>
          <a:effectLst>
            <a:outerShdw blurRad="38100" dist="19050" dir="5400000" algn="bl" rotWithShape="0">
              <a:srgbClr val="3D302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0085630" y="2975657"/>
            <a:ext cx="7184242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825" dirty="0"/>
          </a:p>
        </p:txBody>
      </p:sp>
      <p:sp>
        <p:nvSpPr>
          <p:cNvPr id="36" name="Shape 33"/>
          <p:cNvSpPr/>
          <p:nvPr/>
        </p:nvSpPr>
        <p:spPr>
          <a:xfrm>
            <a:off x="10085630" y="3693655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0085630" y="3347468"/>
            <a:ext cx="2011742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Abdulrahman Al-otaibi</a:t>
            </a:r>
            <a:endParaRPr lang="en-US" sz="1425" dirty="0"/>
          </a:p>
        </p:txBody>
      </p:sp>
      <p:sp>
        <p:nvSpPr>
          <p:cNvPr id="38" name="Text 35"/>
          <p:cNvSpPr/>
          <p:nvPr/>
        </p:nvSpPr>
        <p:spPr>
          <a:xfrm>
            <a:off x="14680821" y="3401305"/>
            <a:ext cx="2379801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Lead · Systems Integration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085630" y="4295698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085630" y="3949510"/>
            <a:ext cx="1280414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 Al-otaibi</a:t>
            </a:r>
            <a:endParaRPr lang="en-US" sz="1425" dirty="0"/>
          </a:p>
        </p:txBody>
      </p:sp>
      <p:sp>
        <p:nvSpPr>
          <p:cNvPr id="41" name="Text 38"/>
          <p:cNvSpPr/>
          <p:nvPr/>
        </p:nvSpPr>
        <p:spPr>
          <a:xfrm>
            <a:off x="14755235" y="4003347"/>
            <a:ext cx="230538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Flight Controller · PX4 tuning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085630" y="4897740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0085630" y="4551552"/>
            <a:ext cx="1418112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Saeed Al-harthi</a:t>
            </a:r>
            <a:endParaRPr lang="en-US" sz="1425" dirty="0"/>
          </a:p>
        </p:txBody>
      </p:sp>
      <p:sp>
        <p:nvSpPr>
          <p:cNvPr id="44" name="Text 41"/>
          <p:cNvSpPr/>
          <p:nvPr/>
        </p:nvSpPr>
        <p:spPr>
          <a:xfrm>
            <a:off x="14903804" y="4605390"/>
            <a:ext cx="215681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· YOLOv8 training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085630" y="5499782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085630" y="5153595"/>
            <a:ext cx="1544551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Rayan Al-ghamdi</a:t>
            </a:r>
            <a:endParaRPr lang="en-US" sz="1425" dirty="0"/>
          </a:p>
        </p:txBody>
      </p:sp>
      <p:sp>
        <p:nvSpPr>
          <p:cNvPr id="47" name="Text 44"/>
          <p:cNvSpPr/>
          <p:nvPr/>
        </p:nvSpPr>
        <p:spPr>
          <a:xfrm>
            <a:off x="14903804" y="5207432"/>
            <a:ext cx="215681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· FastAPI · Postgres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0085630" y="6101824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085630" y="5755636"/>
            <a:ext cx="1776723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Hossain Al-hubailee</a:t>
            </a:r>
            <a:endParaRPr lang="en-US" sz="1425" dirty="0"/>
          </a:p>
        </p:txBody>
      </p:sp>
      <p:sp>
        <p:nvSpPr>
          <p:cNvPr id="50" name="Text 47"/>
          <p:cNvSpPr/>
          <p:nvPr/>
        </p:nvSpPr>
        <p:spPr>
          <a:xfrm>
            <a:off x="14755235" y="5809474"/>
            <a:ext cx="230538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GCS Frontend · React · Leaflet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085630" y="6703866"/>
            <a:ext cx="6974992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085630" y="6357679"/>
            <a:ext cx="1873656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Al-sharif</a:t>
            </a:r>
            <a:endParaRPr lang="en-US" sz="1425" dirty="0"/>
          </a:p>
        </p:txBody>
      </p:sp>
      <p:sp>
        <p:nvSpPr>
          <p:cNvPr id="53" name="Text 50"/>
          <p:cNvSpPr/>
          <p:nvPr/>
        </p:nvSpPr>
        <p:spPr>
          <a:xfrm>
            <a:off x="15275357" y="6411516"/>
            <a:ext cx="1785265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2 Mission FSM · IFF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0085630" y="6959721"/>
            <a:ext cx="1163163" cy="270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-6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Al-anzi</a:t>
            </a:r>
            <a:endParaRPr lang="en-US" sz="1425" dirty="0"/>
          </a:p>
        </p:txBody>
      </p:sp>
      <p:sp>
        <p:nvSpPr>
          <p:cNvPr id="55" name="Text 52"/>
          <p:cNvSpPr/>
          <p:nvPr/>
        </p:nvSpPr>
        <p:spPr>
          <a:xfrm>
            <a:off x="14755235" y="7013558"/>
            <a:ext cx="2305387" cy="162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00" kern="0" spc="45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Build · Field Testing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09548" y="9903542"/>
            <a:ext cx="1768182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COMPLETE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15775006" y="9903542"/>
            <a:ext cx="197964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CONCLUSION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2952750" y="-488951"/>
            <a:ext cx="12382500" cy="12382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48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54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361254" y="876274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6028" y="87627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9548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954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7361254" y="9474528"/>
            <a:ext cx="317198" cy="1242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7666028" y="9169754"/>
            <a:ext cx="12424" cy="31719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0" y="685774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9548" y="304774"/>
            <a:ext cx="76096" cy="76096"/>
          </a:xfrm>
          <a:prstGeom prst="ellipse">
            <a:avLst/>
          </a:prstGeom>
          <a:solidFill>
            <a:srgbClr val="C9A84C"/>
          </a:solidFill>
          <a:ln/>
          <a:effectLst>
            <a:outerShdw blurRad="114300" dist="50800" dir="16200000" algn="bl" rotWithShape="0">
              <a:srgbClr val="C9A84C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8943" y="255855"/>
            <a:ext cx="2744344" cy="21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END OF BRIEFING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666952" y="239290"/>
            <a:ext cx="1813736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24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709262" y="239290"/>
            <a:ext cx="2045390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ID </a:t>
            </a:r>
            <a:r>
              <a:rPr lang="en-US" sz="1200" b="1" kern="0" spc="192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503593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71959" y="2008662"/>
            <a:ext cx="2343952" cy="203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42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THANK YOU ◇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10190" y="2479089"/>
            <a:ext cx="3467620" cy="140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0" b="1" kern="0" spc="-4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19" name="Text 16"/>
          <p:cNvSpPr/>
          <p:nvPr/>
        </p:nvSpPr>
        <p:spPr>
          <a:xfrm>
            <a:off x="8367842" y="3998041"/>
            <a:ext cx="1552187" cy="81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0" spc="-6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شكراً لكم</a:t>
            </a:r>
            <a:endParaRPr lang="en-US" sz="3600" dirty="0"/>
          </a:p>
        </p:txBody>
      </p:sp>
      <p:sp>
        <p:nvSpPr>
          <p:cNvPr id="20" name="Shape 17"/>
          <p:cNvSpPr/>
          <p:nvPr/>
        </p:nvSpPr>
        <p:spPr>
          <a:xfrm>
            <a:off x="8572501" y="5157607"/>
            <a:ext cx="1143000" cy="952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29163" y="5471828"/>
            <a:ext cx="8829676" cy="717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kern="0" spc="-6" dirty="0">
                <a:solidFill>
                  <a:srgbClr val="3D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 — on architecture, training, comms, IFF, cost, or anything else.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476500" y="6760550"/>
            <a:ext cx="3105072" cy="644232"/>
          </a:xfrm>
          <a:prstGeom prst="roundRect">
            <a:avLst>
              <a:gd name="adj" fmla="val 5914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656129" y="6902131"/>
            <a:ext cx="2828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Abdulrahman Al-otaibi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656129" y="7130679"/>
            <a:ext cx="2828189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abdulrahman@tu.edu.sa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5886347" y="6760550"/>
            <a:ext cx="3105202" cy="644232"/>
          </a:xfrm>
          <a:prstGeom prst="roundRect">
            <a:avLst>
              <a:gd name="adj" fmla="val 5914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65976" y="6902131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 Al-otaibi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65976" y="7130679"/>
            <a:ext cx="2828322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turki@tu.edu.sa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9296323" y="6760550"/>
            <a:ext cx="3105202" cy="644232"/>
          </a:xfrm>
          <a:prstGeom prst="roundRect">
            <a:avLst>
              <a:gd name="adj" fmla="val 5914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475952" y="6902131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Saeed Al-harthi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475952" y="7130679"/>
            <a:ext cx="2828322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saeed@tu.edu.sa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12706299" y="6760550"/>
            <a:ext cx="3105202" cy="644232"/>
          </a:xfrm>
          <a:prstGeom prst="roundRect">
            <a:avLst>
              <a:gd name="adj" fmla="val 5914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2885927" y="6902131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Rayan Al-ghamdi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2885927" y="7130679"/>
            <a:ext cx="2828322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rayan@tu.edu.sa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2476500" y="7576128"/>
            <a:ext cx="3105072" cy="702210"/>
          </a:xfrm>
          <a:prstGeom prst="roundRect">
            <a:avLst>
              <a:gd name="adj" fmla="val 5426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656129" y="7717709"/>
            <a:ext cx="2828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Hossain Al-hubailee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656129" y="7946257"/>
            <a:ext cx="2828189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hossain@tu.edu.sa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5886347" y="7576128"/>
            <a:ext cx="3105202" cy="702210"/>
          </a:xfrm>
          <a:prstGeom prst="roundRect">
            <a:avLst>
              <a:gd name="adj" fmla="val 5426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065976" y="7717709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Al-sharif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065976" y="7946257"/>
            <a:ext cx="2828322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mohammed@tu.edu.sa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9296323" y="7576128"/>
            <a:ext cx="3105202" cy="702210"/>
          </a:xfrm>
          <a:prstGeom prst="roundRect">
            <a:avLst>
              <a:gd name="adj" fmla="val 5426"/>
            </a:avLst>
          </a:prstGeom>
          <a:solidFill>
            <a:srgbClr val="FFFDF7">
              <a:alpha val="70000"/>
            </a:srgbClr>
          </a:solidFill>
          <a:ln w="8283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9475952" y="7717709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Al-anzi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475952" y="7946257"/>
            <a:ext cx="2828322" cy="17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A88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omar@tu.edu.sa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2706299" y="7576128"/>
            <a:ext cx="3105202" cy="702210"/>
          </a:xfrm>
          <a:prstGeom prst="roundRect">
            <a:avLst>
              <a:gd name="adj" fmla="val 5426"/>
            </a:avLst>
          </a:prstGeom>
          <a:solidFill>
            <a:srgbClr val="D4A24C">
              <a:alpha val="6000"/>
            </a:srgbClr>
          </a:solidFill>
          <a:ln w="8283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2885927" y="7717709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2885927" y="7946257"/>
            <a:ext cx="28283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8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503593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0" y="9669170"/>
            <a:ext cx="18288001" cy="9525"/>
          </a:xfrm>
          <a:prstGeom prst="rect">
            <a:avLst/>
          </a:prstGeom>
          <a:solidFill>
            <a:srgbClr val="C9A84C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09548" y="9903542"/>
            <a:ext cx="1662449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TAIF UNIVERSITY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2348120" y="9903542"/>
            <a:ext cx="2722883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B5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CCIT · CAPSTONE II · 2026</a:t>
            </a:r>
            <a:endParaRPr lang="en-US" sz="1125" dirty="0"/>
          </a:p>
        </p:txBody>
      </p:sp>
      <p:sp>
        <p:nvSpPr>
          <p:cNvPr id="49" name="Text 46"/>
          <p:cNvSpPr/>
          <p:nvPr/>
        </p:nvSpPr>
        <p:spPr>
          <a:xfrm>
            <a:off x="16198066" y="9903542"/>
            <a:ext cx="1556587" cy="195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9B88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EQAAB · 503593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3631</Words>
  <Application>Microsoft Macintosh PowerPoint</Application>
  <PresentationFormat>Custom</PresentationFormat>
  <Paragraphs>868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Eqaab Eqaab</cp:lastModifiedBy>
  <cp:revision>3</cp:revision>
  <dcterms:created xsi:type="dcterms:W3CDTF">2026-05-21T02:08:28Z</dcterms:created>
  <dcterms:modified xsi:type="dcterms:W3CDTF">2026-05-21T23:40:02Z</dcterms:modified>
</cp:coreProperties>
</file>