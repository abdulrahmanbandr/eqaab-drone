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00" y="290146"/>
            <a:ext cx="2258541" cy="6435969"/>
          </a:xfrm>
          <a:prstGeom prst="rect">
            <a:avLst/>
          </a:prstGeom>
          <a:ln w="6350">
            <a:solidFill>
              <a:srgbClr val="888780"/>
            </a:solidFill>
            <a:prstDash val="sysDash"/>
          </a:ln>
        </p:spPr>
      </p:sp>
      <p:sp>
        <p:nvSpPr>
          <p:cNvPr id="3" name="Text 1"/>
          <p:cNvSpPr/>
          <p:nvPr/>
        </p:nvSpPr>
        <p:spPr>
          <a:xfrm>
            <a:off x="71700" y="303335"/>
            <a:ext cx="2258541" cy="158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887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2437790" y="290146"/>
            <a:ext cx="3190637" cy="6435969"/>
          </a:xfrm>
          <a:prstGeom prst="rect">
            <a:avLst/>
          </a:prstGeom>
          <a:ln w="6350">
            <a:solidFill>
              <a:srgbClr val="C9A84C"/>
            </a:solidFill>
            <a:prstDash val="sysDash"/>
          </a:ln>
        </p:spPr>
      </p:sp>
      <p:sp>
        <p:nvSpPr>
          <p:cNvPr id="5" name="Text 3"/>
          <p:cNvSpPr/>
          <p:nvPr/>
        </p:nvSpPr>
        <p:spPr>
          <a:xfrm>
            <a:off x="2437790" y="303335"/>
            <a:ext cx="3190637" cy="158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DRONE SOFTWARE — ROS 2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5735977" y="290146"/>
            <a:ext cx="2330241" cy="6435969"/>
          </a:xfrm>
          <a:prstGeom prst="rect">
            <a:avLst/>
          </a:prstGeom>
          <a:ln w="6350">
            <a:solidFill>
              <a:srgbClr val="888780"/>
            </a:solidFill>
            <a:prstDash val="sysDash"/>
          </a:ln>
        </p:spPr>
      </p:sp>
      <p:sp>
        <p:nvSpPr>
          <p:cNvPr id="7" name="Text 5"/>
          <p:cNvSpPr/>
          <p:nvPr/>
        </p:nvSpPr>
        <p:spPr>
          <a:xfrm>
            <a:off x="5735977" y="303335"/>
            <a:ext cx="2330241" cy="158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887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BACKEND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173768" y="290146"/>
            <a:ext cx="3943484" cy="6435969"/>
          </a:xfrm>
          <a:prstGeom prst="rect">
            <a:avLst/>
          </a:prstGeom>
          <a:ln w="6350">
            <a:solidFill>
              <a:srgbClr val="C9A84C"/>
            </a:solidFill>
            <a:prstDash val="sysDash"/>
          </a:ln>
        </p:spPr>
      </p:sp>
      <p:sp>
        <p:nvSpPr>
          <p:cNvPr id="9" name="Text 7"/>
          <p:cNvSpPr/>
          <p:nvPr/>
        </p:nvSpPr>
        <p:spPr>
          <a:xfrm>
            <a:off x="8173768" y="303335"/>
            <a:ext cx="3943484" cy="158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GCS DASHBOARD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215099" y="593481"/>
            <a:ext cx="1971742" cy="474785"/>
          </a:xfrm>
          <a:prstGeom prst="roundRect">
            <a:avLst>
              <a:gd name="adj" fmla="val 7704"/>
            </a:avLst>
          </a:prstGeom>
          <a:solidFill>
            <a:srgbClr val="1A1A1A"/>
          </a:solidFill>
          <a:ln w="10160">
            <a:solidFill>
              <a:srgbClr val="8887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099" y="619858"/>
            <a:ext cx="1971742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 Camera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15099" y="840369"/>
            <a:ext cx="1971742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12MP · CSI · 30fps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215099" y="1978269"/>
            <a:ext cx="1971742" cy="474785"/>
          </a:xfrm>
          <a:prstGeom prst="roundRect">
            <a:avLst>
              <a:gd name="adj" fmla="val 7704"/>
            </a:avLst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5099" y="2004646"/>
            <a:ext cx="1971742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Raspberry Pi 5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15099" y="2225157"/>
            <a:ext cx="1971742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8GB · Ubuntu 22.04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215099" y="3165231"/>
            <a:ext cx="1971742" cy="474785"/>
          </a:xfrm>
          <a:prstGeom prst="roundRect">
            <a:avLst>
              <a:gd name="adj" fmla="val 7704"/>
            </a:avLst>
          </a:prstGeom>
          <a:solidFill>
            <a:srgbClr val="1A1A1A"/>
          </a:solidFill>
          <a:ln w="10160">
            <a:solidFill>
              <a:srgbClr val="8887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5099" y="3191608"/>
            <a:ext cx="1971742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Pixhawk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15099" y="3412119"/>
            <a:ext cx="1971742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PX4 · IMU · Baro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215099" y="4352192"/>
            <a:ext cx="1971742" cy="474785"/>
          </a:xfrm>
          <a:prstGeom prst="roundRect">
            <a:avLst>
              <a:gd name="adj" fmla="val 7704"/>
            </a:avLst>
          </a:prstGeom>
          <a:solidFill>
            <a:srgbClr val="1A1A1A"/>
          </a:solidFill>
          <a:ln w="10160">
            <a:solidFill>
              <a:srgbClr val="8887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5099" y="4378569"/>
            <a:ext cx="1971742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GPS Module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15099" y="4599080"/>
            <a:ext cx="1971742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M8N · ±2m accuracy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215099" y="5539154"/>
            <a:ext cx="1971742" cy="474785"/>
          </a:xfrm>
          <a:prstGeom prst="roundRect">
            <a:avLst>
              <a:gd name="adj" fmla="val 7704"/>
            </a:avLst>
          </a:prstGeom>
          <a:solidFill>
            <a:srgbClr val="1A1A1A"/>
          </a:solidFill>
          <a:ln w="10160">
            <a:solidFill>
              <a:srgbClr val="8887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5099" y="5565531"/>
            <a:ext cx="1971742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4G LTE Dongle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15099" y="5786042"/>
            <a:ext cx="1971742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USB · wide-area link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215099" y="6198577"/>
            <a:ext cx="1971742" cy="474785"/>
          </a:xfrm>
          <a:prstGeom prst="roundRect">
            <a:avLst>
              <a:gd name="adj" fmla="val 7704"/>
            </a:avLst>
          </a:prstGeom>
          <a:solidFill>
            <a:srgbClr val="111111"/>
          </a:solidFill>
          <a:ln w="10160">
            <a:solidFill>
              <a:srgbClr val="E24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5099" y="6224954"/>
            <a:ext cx="1971742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RC Receiver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15099" y="6445465"/>
            <a:ext cx="1971742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2.4GHz · HW override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2581190" y="593481"/>
            <a:ext cx="2903839" cy="474785"/>
          </a:xfrm>
          <a:prstGeom prst="roundRect">
            <a:avLst>
              <a:gd name="adj" fmla="val 7704"/>
            </a:avLst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81190" y="619858"/>
            <a:ext cx="2903839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Frame Acquisition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81190" y="840369"/>
            <a:ext cx="2903839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OpenCV · BGR → RGB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2581190" y="1384788"/>
            <a:ext cx="1326445" cy="527538"/>
          </a:xfrm>
          <a:prstGeom prst="roundRect">
            <a:avLst>
              <a:gd name="adj" fmla="val 6933"/>
            </a:avLst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81190" y="1411165"/>
            <a:ext cx="1326445" cy="29014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YOLOv8n.pt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581190" y="1659108"/>
            <a:ext cx="1326445" cy="242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 · Car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4158584" y="1384788"/>
            <a:ext cx="1326445" cy="527538"/>
          </a:xfrm>
          <a:prstGeom prst="roundRect">
            <a:avLst>
              <a:gd name="adj" fmla="val 6933"/>
            </a:avLst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58584" y="1411165"/>
            <a:ext cx="1326445" cy="29014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best.pt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158584" y="1659108"/>
            <a:ext cx="1326445" cy="242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Drone (custom)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2545340" y="1213338"/>
            <a:ext cx="2975538" cy="145073"/>
          </a:xfrm>
          <a:prstGeom prst="rect">
            <a:avLst/>
          </a:prstGeom>
          <a:ln w="5080">
            <a:solidFill>
              <a:srgbClr val="C9A84C"/>
            </a:solidFill>
            <a:prstDash val="sysDash"/>
          </a:ln>
        </p:spPr>
      </p:sp>
      <p:sp>
        <p:nvSpPr>
          <p:cNvPr id="38" name="Text 36"/>
          <p:cNvSpPr/>
          <p:nvPr/>
        </p:nvSpPr>
        <p:spPr>
          <a:xfrm>
            <a:off x="2545340" y="1213338"/>
            <a:ext cx="2975538" cy="145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Parallel dual-model inference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2581190" y="2176096"/>
            <a:ext cx="2903839" cy="474785"/>
          </a:xfrm>
          <a:prstGeom prst="roundRect">
            <a:avLst>
              <a:gd name="adj" fmla="val 7704"/>
            </a:avLst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81190" y="2202473"/>
            <a:ext cx="2903839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Merge + Filter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581190" y="2422984"/>
            <a:ext cx="2903839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 ≥ 0.45 · class map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2581190" y="2967404"/>
            <a:ext cx="2903839" cy="474785"/>
          </a:xfrm>
          <a:prstGeom prst="roundRect">
            <a:avLst>
              <a:gd name="adj" fmla="val 7704"/>
            </a:avLst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81190" y="2993781"/>
            <a:ext cx="2903839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DeepSORT Tracker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581190" y="3214292"/>
            <a:ext cx="2903839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 ID · Kalman · IoU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2581190" y="3758712"/>
            <a:ext cx="2903839" cy="474785"/>
          </a:xfrm>
          <a:prstGeom prst="roundRect">
            <a:avLst>
              <a:gd name="adj" fmla="val 7704"/>
            </a:avLst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81190" y="3785088"/>
            <a:ext cx="2903839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GPS Fusion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581190" y="4005600"/>
            <a:ext cx="2903839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Pixel → lat/lon estimate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2581190" y="4484077"/>
            <a:ext cx="2903839" cy="659423"/>
          </a:xfrm>
          <a:prstGeom prst="diamond">
            <a:avLst/>
          </a:prstGeom>
          <a:solidFill>
            <a:srgbClr val="0F3D2E"/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81190" y="4536831"/>
            <a:ext cx="2903839" cy="3297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FE1C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IFF Node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581190" y="4813788"/>
            <a:ext cx="2903839" cy="329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DC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Friendly / Unknown?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2581190" y="5380892"/>
            <a:ext cx="1326445" cy="422031"/>
          </a:xfrm>
          <a:prstGeom prst="roundRect">
            <a:avLst>
              <a:gd name="adj" fmla="val 8667"/>
            </a:avLst>
          </a:prstGeom>
          <a:solidFill>
            <a:srgbClr val="0F3D2E"/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81190" y="5380892"/>
            <a:ext cx="1326445" cy="422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FE1C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Discard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158584" y="5380892"/>
            <a:ext cx="1326445" cy="422031"/>
          </a:xfrm>
          <a:prstGeom prst="roundRect">
            <a:avLst>
              <a:gd name="adj" fmla="val 8667"/>
            </a:avLst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58584" y="5380892"/>
            <a:ext cx="1326445" cy="422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 Publisher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581190" y="6040315"/>
            <a:ext cx="2903839" cy="474785"/>
          </a:xfrm>
          <a:prstGeom prst="roundRect">
            <a:avLst>
              <a:gd name="adj" fmla="val 7704"/>
            </a:avLst>
          </a:prstGeom>
          <a:solidFill>
            <a:srgbClr val="111111"/>
          </a:solidFill>
          <a:ln w="10160">
            <a:solidFill>
              <a:srgbClr val="8887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81190" y="6066692"/>
            <a:ext cx="2903839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Mission Manager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581190" y="6287203"/>
            <a:ext cx="2903839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FSM · waypoints · failsafe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5879377" y="2176096"/>
            <a:ext cx="2043442" cy="474785"/>
          </a:xfrm>
          <a:prstGeom prst="roundRect">
            <a:avLst>
              <a:gd name="adj" fmla="val 7704"/>
            </a:avLst>
          </a:prstGeom>
          <a:solidFill>
            <a:srgbClr val="111111"/>
          </a:solidFill>
          <a:ln w="10160">
            <a:solidFill>
              <a:srgbClr val="88878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79377" y="2202473"/>
            <a:ext cx="2043442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 API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879377" y="2422984"/>
            <a:ext cx="2043442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 /alerts · /telemetry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5879377" y="3758712"/>
            <a:ext cx="2043442" cy="474785"/>
          </a:xfrm>
          <a:prstGeom prst="roundRect">
            <a:avLst>
              <a:gd name="adj" fmla="val 7704"/>
            </a:avLst>
          </a:prstGeom>
          <a:solidFill>
            <a:srgbClr val="111111"/>
          </a:solidFill>
          <a:ln w="10160">
            <a:solidFill>
              <a:srgbClr val="88878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879377" y="3785088"/>
            <a:ext cx="2043442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879377" y="4005600"/>
            <a:ext cx="2043442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JSONB · alerts · telemetry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5879377" y="5249008"/>
            <a:ext cx="2043442" cy="474785"/>
          </a:xfrm>
          <a:prstGeom prst="roundRect">
            <a:avLst>
              <a:gd name="adj" fmla="val 7704"/>
            </a:avLst>
          </a:prstGeom>
          <a:solidFill>
            <a:srgbClr val="111111"/>
          </a:solidFill>
          <a:ln w="10160">
            <a:solidFill>
              <a:srgbClr val="88878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79377" y="5275385"/>
            <a:ext cx="2043442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FastAPI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879377" y="5495896"/>
            <a:ext cx="2043442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WebSocket relay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8317167" y="593481"/>
            <a:ext cx="3656686" cy="474785"/>
          </a:xfrm>
          <a:prstGeom prst="roundRect">
            <a:avLst>
              <a:gd name="adj" fmla="val 7704"/>
            </a:avLst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17167" y="619858"/>
            <a:ext cx="3656686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DroneContext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8317167" y="840369"/>
            <a:ext cx="3656686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 state hub · WS client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8317167" y="1780442"/>
            <a:ext cx="3656686" cy="474785"/>
          </a:xfrm>
          <a:prstGeom prst="roundRect">
            <a:avLst>
              <a:gd name="adj" fmla="val 7704"/>
            </a:avLst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17167" y="1806819"/>
            <a:ext cx="3656686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Leaflet.js Map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8317167" y="2027330"/>
            <a:ext cx="3656686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position · path · markers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8317167" y="2967404"/>
            <a:ext cx="3656686" cy="474785"/>
          </a:xfrm>
          <a:prstGeom prst="roundRect">
            <a:avLst>
              <a:gd name="adj" fmla="val 7704"/>
            </a:avLst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317167" y="2993781"/>
            <a:ext cx="3656686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 Feed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8317167" y="3214292"/>
            <a:ext cx="3656686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 · confidence · GPS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8317167" y="4154365"/>
            <a:ext cx="3656686" cy="474785"/>
          </a:xfrm>
          <a:prstGeom prst="roundRect">
            <a:avLst>
              <a:gd name="adj" fmla="val 7704"/>
            </a:avLst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317167" y="4180742"/>
            <a:ext cx="3656686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Telemetry Bar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8317167" y="4401253"/>
            <a:ext cx="3656686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Battery · Alt · Speed · Mode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8317167" y="5341327"/>
            <a:ext cx="3656686" cy="474785"/>
          </a:xfrm>
          <a:prstGeom prst="roundRect">
            <a:avLst>
              <a:gd name="adj" fmla="val 7704"/>
            </a:avLst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317167" y="5367704"/>
            <a:ext cx="3656686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Command Panel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8317167" y="5588215"/>
            <a:ext cx="3656686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RTH · Takeoff · Land · Waypoints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2186841" y="830873"/>
            <a:ext cx="394348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arrow"/>
          </a:ln>
        </p:spPr>
      </p:sp>
      <p:sp>
        <p:nvSpPr>
          <p:cNvPr id="83" name="Text 81"/>
          <p:cNvSpPr/>
          <p:nvPr/>
        </p:nvSpPr>
        <p:spPr>
          <a:xfrm>
            <a:off x="2186841" y="712177"/>
            <a:ext cx="394348" cy="118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BGR</a:t>
            </a:r>
            <a:endParaRPr lang="en-US" sz="550" dirty="0"/>
          </a:p>
        </p:txBody>
      </p:sp>
      <p:sp>
        <p:nvSpPr>
          <p:cNvPr id="84" name="Shape 82"/>
          <p:cNvSpPr/>
          <p:nvPr/>
        </p:nvSpPr>
        <p:spPr>
          <a:xfrm>
            <a:off x="4033109" y="1068265"/>
            <a:ext cx="0" cy="118696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none"/>
          </a:ln>
        </p:spPr>
      </p:sp>
      <p:sp>
        <p:nvSpPr>
          <p:cNvPr id="85" name="Shape 83"/>
          <p:cNvSpPr/>
          <p:nvPr/>
        </p:nvSpPr>
        <p:spPr>
          <a:xfrm>
            <a:off x="4033109" y="1186962"/>
            <a:ext cx="-788697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none"/>
          </a:ln>
        </p:spPr>
      </p:sp>
      <p:sp>
        <p:nvSpPr>
          <p:cNvPr id="86" name="Shape 84"/>
          <p:cNvSpPr/>
          <p:nvPr/>
        </p:nvSpPr>
        <p:spPr>
          <a:xfrm>
            <a:off x="3244412" y="1186962"/>
            <a:ext cx="0" cy="197827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arrow"/>
          </a:ln>
        </p:spPr>
      </p:sp>
      <p:sp>
        <p:nvSpPr>
          <p:cNvPr id="87" name="Shape 85"/>
          <p:cNvSpPr/>
          <p:nvPr/>
        </p:nvSpPr>
        <p:spPr>
          <a:xfrm>
            <a:off x="4033109" y="1186962"/>
            <a:ext cx="788697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4821806" y="1186962"/>
            <a:ext cx="0" cy="197827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arrow"/>
          </a:ln>
        </p:spPr>
      </p:sp>
      <p:sp>
        <p:nvSpPr>
          <p:cNvPr id="89" name="Shape 87"/>
          <p:cNvSpPr/>
          <p:nvPr/>
        </p:nvSpPr>
        <p:spPr>
          <a:xfrm>
            <a:off x="3244412" y="1912327"/>
            <a:ext cx="0" cy="131885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none"/>
          </a:ln>
        </p:spPr>
      </p:sp>
      <p:sp>
        <p:nvSpPr>
          <p:cNvPr id="90" name="Shape 88"/>
          <p:cNvSpPr/>
          <p:nvPr/>
        </p:nvSpPr>
        <p:spPr>
          <a:xfrm>
            <a:off x="4821806" y="1912327"/>
            <a:ext cx="0" cy="131885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none"/>
          </a:ln>
        </p:spPr>
      </p:sp>
      <p:sp>
        <p:nvSpPr>
          <p:cNvPr id="91" name="Shape 89"/>
          <p:cNvSpPr/>
          <p:nvPr/>
        </p:nvSpPr>
        <p:spPr>
          <a:xfrm>
            <a:off x="3244412" y="2044212"/>
            <a:ext cx="1577394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none"/>
          </a:ln>
        </p:spPr>
      </p:sp>
      <p:sp>
        <p:nvSpPr>
          <p:cNvPr id="92" name="Shape 90"/>
          <p:cNvSpPr/>
          <p:nvPr/>
        </p:nvSpPr>
        <p:spPr>
          <a:xfrm>
            <a:off x="4033109" y="2044212"/>
            <a:ext cx="0" cy="131885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arrow"/>
          </a:ln>
        </p:spPr>
      </p:sp>
      <p:sp>
        <p:nvSpPr>
          <p:cNvPr id="93" name="Shape 91"/>
          <p:cNvSpPr/>
          <p:nvPr/>
        </p:nvSpPr>
        <p:spPr>
          <a:xfrm>
            <a:off x="4033109" y="2650881"/>
            <a:ext cx="0" cy="316523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arrow"/>
          </a:ln>
        </p:spPr>
      </p:sp>
      <p:sp>
        <p:nvSpPr>
          <p:cNvPr id="94" name="Text 92"/>
          <p:cNvSpPr/>
          <p:nvPr/>
        </p:nvSpPr>
        <p:spPr>
          <a:xfrm>
            <a:off x="4230283" y="2769577"/>
            <a:ext cx="716997" cy="118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detections</a:t>
            </a:r>
            <a:endParaRPr lang="en-US" sz="550" dirty="0"/>
          </a:p>
        </p:txBody>
      </p:sp>
      <p:sp>
        <p:nvSpPr>
          <p:cNvPr id="95" name="Shape 93"/>
          <p:cNvSpPr/>
          <p:nvPr/>
        </p:nvSpPr>
        <p:spPr>
          <a:xfrm>
            <a:off x="2186841" y="4589585"/>
            <a:ext cx="394348" cy="-593481"/>
          </a:xfrm>
          <a:prstGeom prst="line">
            <a:avLst/>
          </a:prstGeom>
          <a:noFill/>
          <a:ln w="7620">
            <a:solidFill>
              <a:srgbClr val="888780"/>
            </a:solidFill>
            <a:prstDash val="lgDash"/>
            <a:headEnd type="none"/>
            <a:tailEnd type="arrow"/>
          </a:ln>
        </p:spPr>
      </p:sp>
      <p:sp>
        <p:nvSpPr>
          <p:cNvPr id="96" name="Text 94"/>
          <p:cNvSpPr/>
          <p:nvPr/>
        </p:nvSpPr>
        <p:spPr>
          <a:xfrm>
            <a:off x="2150992" y="4286250"/>
            <a:ext cx="394348" cy="118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coords</a:t>
            </a:r>
            <a:endParaRPr lang="en-US" sz="550" dirty="0"/>
          </a:p>
        </p:txBody>
      </p:sp>
      <p:sp>
        <p:nvSpPr>
          <p:cNvPr id="97" name="Shape 95"/>
          <p:cNvSpPr/>
          <p:nvPr/>
        </p:nvSpPr>
        <p:spPr>
          <a:xfrm>
            <a:off x="4033109" y="3442188"/>
            <a:ext cx="0" cy="316523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arrow"/>
          </a:ln>
        </p:spPr>
      </p:sp>
      <p:sp>
        <p:nvSpPr>
          <p:cNvPr id="98" name="Text 96"/>
          <p:cNvSpPr/>
          <p:nvPr/>
        </p:nvSpPr>
        <p:spPr>
          <a:xfrm>
            <a:off x="4230283" y="3587262"/>
            <a:ext cx="716997" cy="118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 ID</a:t>
            </a:r>
            <a:endParaRPr lang="en-US" sz="550" dirty="0"/>
          </a:p>
        </p:txBody>
      </p:sp>
      <p:sp>
        <p:nvSpPr>
          <p:cNvPr id="99" name="Shape 97"/>
          <p:cNvSpPr/>
          <p:nvPr/>
        </p:nvSpPr>
        <p:spPr>
          <a:xfrm>
            <a:off x="4033109" y="4233496"/>
            <a:ext cx="0" cy="250581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arrow"/>
          </a:ln>
        </p:spPr>
      </p:sp>
      <p:sp>
        <p:nvSpPr>
          <p:cNvPr id="100" name="Text 98"/>
          <p:cNvSpPr/>
          <p:nvPr/>
        </p:nvSpPr>
        <p:spPr>
          <a:xfrm>
            <a:off x="4266133" y="4325815"/>
            <a:ext cx="860397" cy="118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target+GPS</a:t>
            </a:r>
            <a:endParaRPr lang="en-US" sz="550" dirty="0"/>
          </a:p>
        </p:txBody>
      </p:sp>
      <p:sp>
        <p:nvSpPr>
          <p:cNvPr id="101" name="Shape 99"/>
          <p:cNvSpPr/>
          <p:nvPr/>
        </p:nvSpPr>
        <p:spPr>
          <a:xfrm>
            <a:off x="2581190" y="4813788"/>
            <a:ext cx="663222" cy="0"/>
          </a:xfrm>
          <a:prstGeom prst="line">
            <a:avLst/>
          </a:prstGeom>
          <a:noFill/>
          <a:ln w="15240">
            <a:solidFill>
              <a:srgbClr val="1D9E75"/>
            </a:solidFill>
            <a:prstDash val="solid"/>
            <a:headEnd type="none"/>
            <a:tailEnd type="none"/>
          </a:ln>
        </p:spPr>
      </p:sp>
      <p:sp>
        <p:nvSpPr>
          <p:cNvPr id="102" name="Shape 100"/>
          <p:cNvSpPr/>
          <p:nvPr/>
        </p:nvSpPr>
        <p:spPr>
          <a:xfrm>
            <a:off x="3244412" y="4813788"/>
            <a:ext cx="0" cy="567104"/>
          </a:xfrm>
          <a:prstGeom prst="line">
            <a:avLst/>
          </a:prstGeom>
          <a:noFill/>
          <a:ln w="15240">
            <a:solidFill>
              <a:srgbClr val="1D9E75"/>
            </a:solidFill>
            <a:prstDash val="solid"/>
            <a:headEnd type="none"/>
            <a:tailEnd type="arrow"/>
          </a:ln>
        </p:spPr>
      </p:sp>
      <p:sp>
        <p:nvSpPr>
          <p:cNvPr id="103" name="Text 101"/>
          <p:cNvSpPr/>
          <p:nvPr/>
        </p:nvSpPr>
        <p:spPr>
          <a:xfrm>
            <a:off x="2545340" y="5037992"/>
            <a:ext cx="645297" cy="118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D9E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Friendly</a:t>
            </a:r>
            <a:endParaRPr lang="en-US" sz="550" dirty="0"/>
          </a:p>
        </p:txBody>
      </p:sp>
      <p:sp>
        <p:nvSpPr>
          <p:cNvPr id="104" name="Shape 102"/>
          <p:cNvSpPr/>
          <p:nvPr/>
        </p:nvSpPr>
        <p:spPr>
          <a:xfrm>
            <a:off x="5485028" y="4813788"/>
            <a:ext cx="-663222" cy="0"/>
          </a:xfrm>
          <a:prstGeom prst="line">
            <a:avLst/>
          </a:prstGeom>
          <a:noFill/>
          <a:ln w="15240">
            <a:solidFill>
              <a:srgbClr val="E24B4A"/>
            </a:solidFill>
            <a:prstDash val="solid"/>
            <a:headEnd type="none"/>
            <a:tailEnd type="none"/>
          </a:ln>
        </p:spPr>
      </p:sp>
      <p:sp>
        <p:nvSpPr>
          <p:cNvPr id="105" name="Shape 103"/>
          <p:cNvSpPr/>
          <p:nvPr/>
        </p:nvSpPr>
        <p:spPr>
          <a:xfrm>
            <a:off x="4821806" y="4813788"/>
            <a:ext cx="0" cy="567104"/>
          </a:xfrm>
          <a:prstGeom prst="line">
            <a:avLst/>
          </a:prstGeom>
          <a:noFill/>
          <a:ln w="15240">
            <a:solidFill>
              <a:srgbClr val="E24B4A"/>
            </a:solidFill>
            <a:prstDash val="solid"/>
            <a:headEnd type="none"/>
            <a:tailEnd type="arrow"/>
          </a:ln>
        </p:spPr>
      </p:sp>
      <p:sp>
        <p:nvSpPr>
          <p:cNvPr id="106" name="Text 104"/>
          <p:cNvSpPr/>
          <p:nvPr/>
        </p:nvSpPr>
        <p:spPr>
          <a:xfrm>
            <a:off x="5305779" y="5037992"/>
            <a:ext cx="645297" cy="118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E24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Unknown</a:t>
            </a:r>
            <a:endParaRPr lang="en-US" sz="550" dirty="0"/>
          </a:p>
        </p:txBody>
      </p:sp>
      <p:sp>
        <p:nvSpPr>
          <p:cNvPr id="107" name="Shape 105"/>
          <p:cNvSpPr/>
          <p:nvPr/>
        </p:nvSpPr>
        <p:spPr>
          <a:xfrm>
            <a:off x="5485028" y="5591908"/>
            <a:ext cx="394348" cy="-105508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arrow"/>
          </a:ln>
        </p:spPr>
      </p:sp>
      <p:sp>
        <p:nvSpPr>
          <p:cNvPr id="108" name="Text 106"/>
          <p:cNvSpPr/>
          <p:nvPr/>
        </p:nvSpPr>
        <p:spPr>
          <a:xfrm>
            <a:off x="5485028" y="5354515"/>
            <a:ext cx="466048" cy="118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4G LTE</a:t>
            </a:r>
            <a:endParaRPr lang="en-US" sz="550" dirty="0"/>
          </a:p>
        </p:txBody>
      </p:sp>
      <p:sp>
        <p:nvSpPr>
          <p:cNvPr id="109" name="Text 107"/>
          <p:cNvSpPr/>
          <p:nvPr/>
        </p:nvSpPr>
        <p:spPr>
          <a:xfrm>
            <a:off x="5485028" y="5512777"/>
            <a:ext cx="466048" cy="118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WSS/TLS</a:t>
            </a:r>
            <a:endParaRPr lang="en-US" sz="550" dirty="0"/>
          </a:p>
        </p:txBody>
      </p:sp>
      <p:sp>
        <p:nvSpPr>
          <p:cNvPr id="110" name="Shape 108"/>
          <p:cNvSpPr/>
          <p:nvPr/>
        </p:nvSpPr>
        <p:spPr>
          <a:xfrm>
            <a:off x="6901098" y="5249008"/>
            <a:ext cx="0" cy="-1015512"/>
          </a:xfrm>
          <a:prstGeom prst="line">
            <a:avLst/>
          </a:prstGeom>
          <a:noFill/>
          <a:ln w="15240">
            <a:solidFill>
              <a:srgbClr val="888780"/>
            </a:solidFill>
            <a:prstDash val="solid"/>
            <a:headEnd type="none"/>
            <a:tailEnd type="arrow"/>
          </a:ln>
        </p:spPr>
      </p:sp>
      <p:sp>
        <p:nvSpPr>
          <p:cNvPr id="111" name="Text 109"/>
          <p:cNvSpPr/>
          <p:nvPr/>
        </p:nvSpPr>
        <p:spPr>
          <a:xfrm>
            <a:off x="7062422" y="4721469"/>
            <a:ext cx="501898" cy="118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persist</a:t>
            </a:r>
            <a:endParaRPr lang="en-US" sz="550" dirty="0"/>
          </a:p>
        </p:txBody>
      </p:sp>
      <p:sp>
        <p:nvSpPr>
          <p:cNvPr id="112" name="Shape 110"/>
          <p:cNvSpPr/>
          <p:nvPr/>
        </p:nvSpPr>
        <p:spPr>
          <a:xfrm>
            <a:off x="6901098" y="3758712"/>
            <a:ext cx="0" cy="-1107831"/>
          </a:xfrm>
          <a:prstGeom prst="line">
            <a:avLst/>
          </a:prstGeom>
          <a:noFill/>
          <a:ln w="15240">
            <a:solidFill>
              <a:srgbClr val="888780"/>
            </a:solidFill>
            <a:prstDash val="solid"/>
            <a:headEnd type="none"/>
            <a:tailEnd type="arrow"/>
          </a:ln>
        </p:spPr>
      </p:sp>
      <p:sp>
        <p:nvSpPr>
          <p:cNvPr id="113" name="Shape 111"/>
          <p:cNvSpPr/>
          <p:nvPr/>
        </p:nvSpPr>
        <p:spPr>
          <a:xfrm>
            <a:off x="7922819" y="5486400"/>
            <a:ext cx="179249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none"/>
          </a:ln>
        </p:spPr>
      </p:sp>
      <p:sp>
        <p:nvSpPr>
          <p:cNvPr id="114" name="Shape 112"/>
          <p:cNvSpPr/>
          <p:nvPr/>
        </p:nvSpPr>
        <p:spPr>
          <a:xfrm>
            <a:off x="8102068" y="5486400"/>
            <a:ext cx="0" cy="-4655527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none"/>
          </a:ln>
        </p:spPr>
      </p:sp>
      <p:sp>
        <p:nvSpPr>
          <p:cNvPr id="115" name="Shape 113"/>
          <p:cNvSpPr/>
          <p:nvPr/>
        </p:nvSpPr>
        <p:spPr>
          <a:xfrm>
            <a:off x="8102068" y="830873"/>
            <a:ext cx="215099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arrow"/>
          </a:ln>
        </p:spPr>
      </p:sp>
      <p:sp>
        <p:nvSpPr>
          <p:cNvPr id="116" name="Text 114"/>
          <p:cNvSpPr/>
          <p:nvPr/>
        </p:nvSpPr>
        <p:spPr>
          <a:xfrm>
            <a:off x="8030368" y="3165231"/>
            <a:ext cx="215099" cy="118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WSS</a:t>
            </a:r>
            <a:endParaRPr lang="en-US" sz="550" dirty="0"/>
          </a:p>
        </p:txBody>
      </p:sp>
      <p:sp>
        <p:nvSpPr>
          <p:cNvPr id="117" name="Shape 115"/>
          <p:cNvSpPr/>
          <p:nvPr/>
        </p:nvSpPr>
        <p:spPr>
          <a:xfrm>
            <a:off x="7922819" y="2413488"/>
            <a:ext cx="394348" cy="791308"/>
          </a:xfrm>
          <a:prstGeom prst="line">
            <a:avLst/>
          </a:prstGeom>
          <a:noFill/>
          <a:ln w="7620">
            <a:solidFill>
              <a:srgbClr val="888780"/>
            </a:solidFill>
            <a:prstDash val="lgDash"/>
            <a:headEnd type="none"/>
            <a:tailEnd type="arrow"/>
          </a:ln>
        </p:spPr>
      </p:sp>
      <p:sp>
        <p:nvSpPr>
          <p:cNvPr id="118" name="Text 116"/>
          <p:cNvSpPr/>
          <p:nvPr/>
        </p:nvSpPr>
        <p:spPr>
          <a:xfrm>
            <a:off x="8155843" y="2743200"/>
            <a:ext cx="394348" cy="118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history</a:t>
            </a:r>
            <a:endParaRPr lang="en-US" sz="550" dirty="0"/>
          </a:p>
        </p:txBody>
      </p:sp>
      <p:sp>
        <p:nvSpPr>
          <p:cNvPr id="119" name="Shape 117"/>
          <p:cNvSpPr/>
          <p:nvPr/>
        </p:nvSpPr>
        <p:spPr>
          <a:xfrm>
            <a:off x="10145510" y="1068265"/>
            <a:ext cx="0" cy="712177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arrow"/>
          </a:ln>
        </p:spPr>
      </p:sp>
      <p:sp>
        <p:nvSpPr>
          <p:cNvPr id="120" name="Shape 118"/>
          <p:cNvSpPr/>
          <p:nvPr/>
        </p:nvSpPr>
        <p:spPr>
          <a:xfrm>
            <a:off x="11973853" y="830873"/>
            <a:ext cx="7170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none"/>
          </a:ln>
        </p:spPr>
      </p:sp>
      <p:sp>
        <p:nvSpPr>
          <p:cNvPr id="121" name="Shape 119"/>
          <p:cNvSpPr/>
          <p:nvPr/>
        </p:nvSpPr>
        <p:spPr>
          <a:xfrm>
            <a:off x="12045553" y="830873"/>
            <a:ext cx="0" cy="2373923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none"/>
          </a:ln>
        </p:spPr>
      </p:sp>
      <p:sp>
        <p:nvSpPr>
          <p:cNvPr id="122" name="Shape 120"/>
          <p:cNvSpPr/>
          <p:nvPr/>
        </p:nvSpPr>
        <p:spPr>
          <a:xfrm>
            <a:off x="12045553" y="3204796"/>
            <a:ext cx="-71700" cy="0"/>
          </a:xfrm>
          <a:prstGeom prst="line">
            <a:avLst/>
          </a:prstGeom>
          <a:noFill/>
          <a:ln w="7620">
            <a:solidFill>
              <a:srgbClr val="C9A84C"/>
            </a:solidFill>
            <a:prstDash val="lgDash"/>
            <a:headEnd type="none"/>
            <a:tailEnd type="arrow"/>
          </a:ln>
        </p:spPr>
      </p:sp>
      <p:sp>
        <p:nvSpPr>
          <p:cNvPr id="123" name="Shape 121"/>
          <p:cNvSpPr/>
          <p:nvPr/>
        </p:nvSpPr>
        <p:spPr>
          <a:xfrm>
            <a:off x="12045553" y="4391758"/>
            <a:ext cx="-71700" cy="0"/>
          </a:xfrm>
          <a:prstGeom prst="line">
            <a:avLst/>
          </a:prstGeom>
          <a:noFill/>
          <a:ln w="7620">
            <a:solidFill>
              <a:srgbClr val="C9A84C"/>
            </a:solidFill>
            <a:prstDash val="lgDash"/>
            <a:headEnd type="none"/>
            <a:tailEnd type="arrow"/>
          </a:ln>
        </p:spPr>
      </p:sp>
      <p:sp>
        <p:nvSpPr>
          <p:cNvPr id="124" name="Shape 122"/>
          <p:cNvSpPr/>
          <p:nvPr/>
        </p:nvSpPr>
        <p:spPr>
          <a:xfrm>
            <a:off x="12045553" y="3204796"/>
            <a:ext cx="0" cy="1186962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none"/>
          </a:ln>
        </p:spPr>
      </p:sp>
      <p:sp>
        <p:nvSpPr>
          <p:cNvPr id="125" name="Shape 123"/>
          <p:cNvSpPr/>
          <p:nvPr/>
        </p:nvSpPr>
        <p:spPr>
          <a:xfrm>
            <a:off x="8317167" y="5578719"/>
            <a:ext cx="-215099" cy="0"/>
          </a:xfrm>
          <a:prstGeom prst="line">
            <a:avLst/>
          </a:prstGeom>
          <a:noFill/>
          <a:ln w="7620">
            <a:solidFill>
              <a:srgbClr val="888780"/>
            </a:solidFill>
            <a:prstDash val="lgDash"/>
            <a:headEnd type="none"/>
            <a:tailEnd type="none"/>
          </a:ln>
        </p:spPr>
      </p:sp>
      <p:sp>
        <p:nvSpPr>
          <p:cNvPr id="126" name="Shape 124"/>
          <p:cNvSpPr/>
          <p:nvPr/>
        </p:nvSpPr>
        <p:spPr>
          <a:xfrm>
            <a:off x="8102068" y="5578719"/>
            <a:ext cx="0" cy="224204"/>
          </a:xfrm>
          <a:prstGeom prst="line">
            <a:avLst/>
          </a:prstGeom>
          <a:noFill/>
          <a:ln w="7620">
            <a:solidFill>
              <a:srgbClr val="888780"/>
            </a:solidFill>
            <a:prstDash val="lgDash"/>
            <a:headEnd type="none"/>
            <a:tailEnd type="none"/>
          </a:ln>
        </p:spPr>
      </p:sp>
      <p:sp>
        <p:nvSpPr>
          <p:cNvPr id="127" name="Shape 125"/>
          <p:cNvSpPr/>
          <p:nvPr/>
        </p:nvSpPr>
        <p:spPr>
          <a:xfrm>
            <a:off x="8102068" y="5802923"/>
            <a:ext cx="-179249" cy="0"/>
          </a:xfrm>
          <a:prstGeom prst="line">
            <a:avLst/>
          </a:prstGeom>
          <a:noFill/>
          <a:ln w="7620">
            <a:solidFill>
              <a:srgbClr val="888780"/>
            </a:solidFill>
            <a:prstDash val="lgDash"/>
            <a:headEnd type="none"/>
            <a:tailEnd type="arrow"/>
          </a:ln>
        </p:spPr>
      </p:sp>
      <p:sp>
        <p:nvSpPr>
          <p:cNvPr id="128" name="Text 126"/>
          <p:cNvSpPr/>
          <p:nvPr/>
        </p:nvSpPr>
        <p:spPr>
          <a:xfrm>
            <a:off x="8030368" y="5895242"/>
            <a:ext cx="358499" cy="118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cmd</a:t>
            </a:r>
            <a:endParaRPr lang="en-US" sz="550" dirty="0"/>
          </a:p>
        </p:txBody>
      </p:sp>
      <p:sp>
        <p:nvSpPr>
          <p:cNvPr id="129" name="Shape 127"/>
          <p:cNvSpPr/>
          <p:nvPr/>
        </p:nvSpPr>
        <p:spPr>
          <a:xfrm>
            <a:off x="5879377" y="5802923"/>
            <a:ext cx="-179249" cy="0"/>
          </a:xfrm>
          <a:prstGeom prst="line">
            <a:avLst/>
          </a:prstGeom>
          <a:noFill/>
          <a:ln w="7620">
            <a:solidFill>
              <a:srgbClr val="888780"/>
            </a:solidFill>
            <a:prstDash val="lgDash"/>
            <a:headEnd type="none"/>
            <a:tailEnd type="none"/>
          </a:ln>
        </p:spPr>
      </p:sp>
      <p:sp>
        <p:nvSpPr>
          <p:cNvPr id="130" name="Shape 128"/>
          <p:cNvSpPr/>
          <p:nvPr/>
        </p:nvSpPr>
        <p:spPr>
          <a:xfrm>
            <a:off x="5700128" y="5802923"/>
            <a:ext cx="0" cy="474785"/>
          </a:xfrm>
          <a:prstGeom prst="line">
            <a:avLst/>
          </a:prstGeom>
          <a:noFill/>
          <a:ln w="7620">
            <a:solidFill>
              <a:srgbClr val="888780"/>
            </a:solidFill>
            <a:prstDash val="lgDash"/>
            <a:headEnd type="none"/>
            <a:tailEnd type="none"/>
          </a:ln>
        </p:spPr>
      </p:sp>
      <p:sp>
        <p:nvSpPr>
          <p:cNvPr id="131" name="Shape 129"/>
          <p:cNvSpPr/>
          <p:nvPr/>
        </p:nvSpPr>
        <p:spPr>
          <a:xfrm>
            <a:off x="5700128" y="6277708"/>
            <a:ext cx="-215099" cy="0"/>
          </a:xfrm>
          <a:prstGeom prst="line">
            <a:avLst/>
          </a:prstGeom>
          <a:noFill/>
          <a:ln w="7620">
            <a:solidFill>
              <a:srgbClr val="888780"/>
            </a:solidFill>
            <a:prstDash val="lgDash"/>
            <a:headEnd type="none"/>
            <a:tailEnd type="arrow"/>
          </a:ln>
        </p:spPr>
      </p:sp>
      <p:sp>
        <p:nvSpPr>
          <p:cNvPr id="132" name="Shape 130"/>
          <p:cNvSpPr/>
          <p:nvPr/>
        </p:nvSpPr>
        <p:spPr>
          <a:xfrm>
            <a:off x="2581190" y="6277708"/>
            <a:ext cx="-286799" cy="0"/>
          </a:xfrm>
          <a:prstGeom prst="line">
            <a:avLst/>
          </a:prstGeom>
          <a:noFill/>
          <a:ln w="7620">
            <a:solidFill>
              <a:srgbClr val="888780"/>
            </a:solidFill>
            <a:prstDash val="lgDash"/>
            <a:headEnd type="none"/>
            <a:tailEnd type="none"/>
          </a:ln>
        </p:spPr>
      </p:sp>
      <p:sp>
        <p:nvSpPr>
          <p:cNvPr id="133" name="Shape 131"/>
          <p:cNvSpPr/>
          <p:nvPr/>
        </p:nvSpPr>
        <p:spPr>
          <a:xfrm>
            <a:off x="2294391" y="6277708"/>
            <a:ext cx="0" cy="-2875085"/>
          </a:xfrm>
          <a:prstGeom prst="line">
            <a:avLst/>
          </a:prstGeom>
          <a:noFill/>
          <a:ln w="7620">
            <a:solidFill>
              <a:srgbClr val="888780"/>
            </a:solidFill>
            <a:prstDash val="lgDash"/>
            <a:headEnd type="none"/>
            <a:tailEnd type="none"/>
          </a:ln>
        </p:spPr>
      </p:sp>
      <p:sp>
        <p:nvSpPr>
          <p:cNvPr id="134" name="Shape 132"/>
          <p:cNvSpPr/>
          <p:nvPr/>
        </p:nvSpPr>
        <p:spPr>
          <a:xfrm>
            <a:off x="2294391" y="3402623"/>
            <a:ext cx="-107550" cy="0"/>
          </a:xfrm>
          <a:prstGeom prst="line">
            <a:avLst/>
          </a:prstGeom>
          <a:noFill/>
          <a:ln w="7620">
            <a:solidFill>
              <a:srgbClr val="888780"/>
            </a:solidFill>
            <a:prstDash val="lgDash"/>
            <a:headEnd type="none"/>
            <a:tailEnd type="arrow"/>
          </a:ln>
        </p:spPr>
      </p:sp>
      <p:sp>
        <p:nvSpPr>
          <p:cNvPr id="135" name="Text 133"/>
          <p:cNvSpPr/>
          <p:nvPr/>
        </p:nvSpPr>
        <p:spPr>
          <a:xfrm>
            <a:off x="1971742" y="4879731"/>
            <a:ext cx="358499" cy="118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MAVLink</a:t>
            </a:r>
            <a:endParaRPr lang="en-US" sz="550" dirty="0"/>
          </a:p>
        </p:txBody>
      </p:sp>
      <p:sp>
        <p:nvSpPr>
          <p:cNvPr id="136" name="Shape 134"/>
          <p:cNvSpPr/>
          <p:nvPr/>
        </p:nvSpPr>
        <p:spPr>
          <a:xfrm>
            <a:off x="2186841" y="2215662"/>
            <a:ext cx="394348" cy="0"/>
          </a:xfrm>
          <a:prstGeom prst="line">
            <a:avLst/>
          </a:prstGeom>
          <a:noFill/>
          <a:ln w="7620">
            <a:solidFill>
              <a:srgbClr val="C9A84C"/>
            </a:solidFill>
            <a:prstDash val="lgDash"/>
            <a:headEnd type="none"/>
            <a:tailEnd type="none"/>
          </a:ln>
        </p:spPr>
      </p:sp>
      <p:sp>
        <p:nvSpPr>
          <p:cNvPr id="137" name="Text 135"/>
          <p:cNvSpPr/>
          <p:nvPr/>
        </p:nvSpPr>
        <p:spPr>
          <a:xfrm>
            <a:off x="2186841" y="2110154"/>
            <a:ext cx="394348" cy="118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runs</a:t>
            </a:r>
            <a:endParaRPr lang="en-US" sz="550" dirty="0"/>
          </a:p>
        </p:txBody>
      </p:sp>
      <p:sp>
        <p:nvSpPr>
          <p:cNvPr id="138" name="Shape 136"/>
          <p:cNvSpPr/>
          <p:nvPr/>
        </p:nvSpPr>
        <p:spPr>
          <a:xfrm>
            <a:off x="2186841" y="6435969"/>
            <a:ext cx="107550" cy="0"/>
          </a:xfrm>
          <a:prstGeom prst="line">
            <a:avLst/>
          </a:prstGeom>
          <a:noFill/>
          <a:ln w="7620">
            <a:solidFill>
              <a:srgbClr val="E24B4A"/>
            </a:solidFill>
            <a:prstDash val="lgDash"/>
            <a:headEnd type="none"/>
            <a:tailEnd type="none"/>
          </a:ln>
        </p:spPr>
      </p:sp>
      <p:sp>
        <p:nvSpPr>
          <p:cNvPr id="139" name="Text 137"/>
          <p:cNvSpPr/>
          <p:nvPr/>
        </p:nvSpPr>
        <p:spPr>
          <a:xfrm>
            <a:off x="1075496" y="6093069"/>
            <a:ext cx="1254745" cy="118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E24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HW override →</a:t>
            </a:r>
            <a:endParaRPr lang="en-US" sz="550" dirty="0"/>
          </a:p>
        </p:txBody>
      </p:sp>
      <p:sp>
        <p:nvSpPr>
          <p:cNvPr id="140" name="Shape 138"/>
          <p:cNvSpPr/>
          <p:nvPr/>
        </p:nvSpPr>
        <p:spPr>
          <a:xfrm>
            <a:off x="71700" y="6660173"/>
            <a:ext cx="12045553" cy="17145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71700" y="6660173"/>
            <a:ext cx="12045553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data flow     ⇢ command / control     → RC override     ◇ IFF decision node</a:t>
            </a:r>
            <a:endParaRPr lang="en-US" sz="550" dirty="0"/>
          </a:p>
        </p:txBody>
      </p:sp>
      <p:sp>
        <p:nvSpPr>
          <p:cNvPr id="142" name="Text 140"/>
          <p:cNvSpPr/>
          <p:nvPr/>
        </p:nvSpPr>
        <p:spPr>
          <a:xfrm>
            <a:off x="71700" y="52754"/>
            <a:ext cx="12045553" cy="211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Eqaab — عقاب  |  System Architecture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2026-04-29T21:05:29Z</dcterms:created>
  <dcterms:modified xsi:type="dcterms:W3CDTF">2026-04-29T21:05:29Z</dcterms:modified>
</cp:coreProperties>
</file>