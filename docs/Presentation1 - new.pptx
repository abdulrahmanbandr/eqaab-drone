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8" r:id="rId13"/>
    <p:sldId id="296" r:id="rId14"/>
    <p:sldId id="297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8"/>
  </p:normalViewPr>
  <p:slideViewPr>
    <p:cSldViewPr snapToGrid="0">
      <p:cViewPr>
        <p:scale>
          <a:sx n="72" d="100"/>
          <a:sy n="72" d="100"/>
        </p:scale>
        <p:origin x="61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DE8E-C38A-F727-CA5F-C03E79684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58E51-02A4-CA01-101B-A5D3190FD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031A8-8636-1860-0A1A-36334252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376EA-3703-2F2C-2259-C284B812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CEFB3-A435-21DA-71A0-F9947BA0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3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B210-FF0F-DE54-BC5F-5D427A84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A199D-74E2-181F-30C6-DA7341406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EEF8-BB82-B7DE-0032-51FBD17E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0D6CF-FC44-251F-4B0D-73547688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0F52F-6DB0-902C-5C20-533FE409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8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85CC-F660-F9C0-A2F4-9A84E253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231A3-F5FE-BF17-C088-83D8CDC76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09B98-CCEF-B62A-E4D2-F3546A72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FD7DC-B2AB-DAF7-C18A-BC0A8F36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45167-FC3B-8CE6-B7BF-78CBF855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5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6E02-4DA6-3026-B4FD-97CFF5173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68D9F-375C-041E-3953-583E91EFF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A9F89-3277-C2CF-50C4-36A718FA6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6CE90-B5B9-5731-10CA-0E4967FE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43A6E-C352-26C2-9D93-43330CEB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96BD1-3A2D-3361-6137-4E5CDCBB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7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8D9D-0225-C2E0-93E9-A526E4CF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07921-8332-456B-CEA3-8D91A8644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7509F-3782-149F-5748-85808EB08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E0A49-21E9-0169-2334-A9A8B2D68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5A3C7-7337-84B1-43A7-7B9078802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21C02-B6BB-70AD-8046-F0696795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C2384-C434-968E-4A95-EE79A7FF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79EDA-EBD8-0940-4D7E-FB0903F1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6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790D-5E2B-E96C-5843-5E1838CE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9C4D76-9950-6FF3-4632-80B5D81F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FA87A-C7F7-4DA7-7DFC-E025FEFF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DB73E-FBC1-1315-3BE4-9CF21279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0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6A4D7-5C2C-0617-00D0-3D4CB7E6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903F6-854B-AE03-191C-2A18FE39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2141B-B814-0648-A2F0-83183640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8619-42C8-F6F0-2DCA-681E6671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ADDA-4859-A6FD-9188-FFB936568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24514-9999-A261-0FDE-5B12E5A19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4A577-6438-3490-B7E4-E8D6C899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600C0-5AE3-49E3-EFCA-378DEC35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7333F-2D44-6B4D-52EB-10E833B6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3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B2E6-8EB8-F694-F132-75A6144C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71D8C-5FA9-D957-9280-016ED431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613F3-0F34-6BEB-29D1-6C0E45D72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8E221-0D92-2217-8546-F03CB9AD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9FC39-0630-CB53-D04B-84407D12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5C5A3-D49E-62F4-44A0-808C3538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9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8536-6240-BE77-69EB-D58D70B8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CC035-282C-B903-B077-A0FEC01B1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E9B8-0BDF-317C-495F-4E9E2F44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38A5-B4CF-91B1-6A6D-A19832EC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53F42-7DA3-AD98-DAC2-6742B117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7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048DA-D07F-8316-5982-02442B1E4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2AF61-AA22-3811-EC42-87EE7512C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0EC49-583D-EC7C-8786-75BF9A95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1B90C-E9E4-5D79-73EA-D9CAD2B3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EE8B-71EB-A41E-4F03-F69A6AB4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1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90EA71-DC05-2104-12D9-FD482888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B547F-7577-ACDA-D599-8157D2BED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B3481-DEA2-0FAF-3156-E92D4DACB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5665E-5C70-E441-81CC-98264BC0B94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E5BF-46B1-B2BE-474F-B9F53A6D4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854F-8399-17AF-1139-36F430FA0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7AEB-FB15-FD46-9E85-44AEB4DFFCD4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TopHairline"/>
          <p:cNvSpPr/>
          <p:nvPr userDrawn="1"/>
        </p:nvSpPr>
        <p:spPr>
          <a:xfrm>
            <a:off x="0" y="685800"/>
            <a:ext cx="12192000" cy="952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BottomAccent"/>
          <p:cNvSpPr/>
          <p:nvPr userDrawn="1"/>
        </p:nvSpPr>
        <p:spPr>
          <a:xfrm>
            <a:off x="457200" y="6515100"/>
            <a:ext cx="685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Wordmark"/>
          <p:cNvSpPr txBox="1"/>
          <p:nvPr userDrawn="1"/>
        </p:nvSpPr>
        <p:spPr>
          <a:xfrm>
            <a:off x="10515600" y="304800"/>
            <a:ext cx="13716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100" b="1" spc="400">
                <a:solidFill>
                  <a:srgbClr val="C9A84C"/>
                </a:solidFill>
                <a:latin typeface="Times New Roman"/>
              </a:rPr>
              <a:t>EQAAB</a:t>
            </a:r>
            <a:r>
              <a:rPr lang="en-US" sz="1100" spc="200">
                <a:solidFill>
                  <a:srgbClr val="666666"/>
                </a:solidFill>
                <a:latin typeface="Times New Roman"/>
              </a:rPr>
              <a:t>  |  AERIAL SURVEILLANCE</a:t>
            </a:r>
          </a:p>
        </p:txBody>
      </p:sp>
      <p:sp>
        <p:nvSpPr>
          <p:cNvPr id="903" name="SlideNumberPH"/>
          <p:cNvSpPr>
            <a:spLocks noGrp="1"/>
          </p:cNvSpPr>
          <p:nvPr>
            <p:ph type="sldNum" sz="quarter" idx="20"/>
          </p:nvPr>
        </p:nvSpPr>
        <p:spPr>
          <a:xfrm>
            <a:off x="11201400" y="6553200"/>
            <a:ext cx="685800" cy="2286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/>
            <a:fld id="{D8E0F1A2-1234-4567-89AB-CDEF01234567}" type="slidenum">
              <a:rPr lang="en-US" sz="1000">
                <a:solidFill>
                  <a:srgbClr val="C9A84C"/>
                </a:solidFill>
                <a:latin typeface="Times New Roman"/>
              </a:rPr>
              <a:t>‹#›</a:t>
            </a:fld>
            <a:endParaRPr lang="en-US" sz="1000">
              <a:solidFill>
                <a:srgbClr val="C9A84C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23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9A84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5F5F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5F5F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5F5F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5F5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1008"/>
          <p:cNvSpPr txBox="1"/>
          <p:nvPr/>
        </p:nvSpPr>
        <p:spPr>
          <a:xfrm>
            <a:off x="0" y="711200"/>
            <a:ext cx="12192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C9A84C"/>
                </a:solidFill>
                <a:latin typeface="Times New Roman"/>
                <a:cs typeface="Times New Roman"/>
              </a:rPr>
              <a:t>عقاب</a:t>
            </a:r>
          </a:p>
        </p:txBody>
      </p:sp>
      <p:sp>
        <p:nvSpPr>
          <p:cNvPr id="1009" name="t1009"/>
          <p:cNvSpPr txBox="1"/>
          <p:nvPr/>
        </p:nvSpPr>
        <p:spPr>
          <a:xfrm>
            <a:off x="0" y="1319293"/>
            <a:ext cx="12192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b="1" spc="600" dirty="0">
                <a:solidFill>
                  <a:srgbClr val="E8C96D"/>
                </a:solidFill>
                <a:latin typeface="Times New Roman"/>
                <a:cs typeface="Times New Roman"/>
              </a:rPr>
              <a:t>EQAAB</a:t>
            </a:r>
          </a:p>
        </p:txBody>
      </p:sp>
      <p:sp>
        <p:nvSpPr>
          <p:cNvPr id="1010" name="t1010"/>
          <p:cNvSpPr txBox="1"/>
          <p:nvPr/>
        </p:nvSpPr>
        <p:spPr>
          <a:xfrm>
            <a:off x="0" y="5207000"/>
            <a:ext cx="1219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i="1" spc="200" dirty="0">
                <a:solidFill>
                  <a:srgbClr val="F5F5F5"/>
                </a:solidFill>
                <a:latin typeface="Times New Roman"/>
                <a:cs typeface="Times New Roman"/>
              </a:rPr>
              <a:t>Intelligent Autonomous Aerial Surveillance Drone System</a:t>
            </a:r>
          </a:p>
        </p:txBody>
      </p:sp>
      <p:sp>
        <p:nvSpPr>
          <p:cNvPr id="1012" name="t1012"/>
          <p:cNvSpPr txBox="1"/>
          <p:nvPr/>
        </p:nvSpPr>
        <p:spPr>
          <a:xfrm>
            <a:off x="0" y="5969000"/>
            <a:ext cx="1219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spc="400" dirty="0">
                <a:solidFill>
                  <a:srgbClr val="C9A84C"/>
                </a:solidFill>
                <a:latin typeface="Times New Roman"/>
                <a:cs typeface="Times New Roman"/>
              </a:rPr>
              <a:t>GRADUATION CAPSTONE PROJECT  ·  2026</a:t>
            </a:r>
          </a:p>
        </p:txBody>
      </p:sp>
      <p:sp>
        <p:nvSpPr>
          <p:cNvPr id="1013" name="t1013"/>
          <p:cNvSpPr txBox="1"/>
          <p:nvPr/>
        </p:nvSpPr>
        <p:spPr>
          <a:xfrm>
            <a:off x="0" y="6286500"/>
            <a:ext cx="1219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/>
                <a:cs typeface="Times New Roman"/>
              </a:rPr>
              <a:t>Presented by the Eqaab Team   |   Supervised by [Supervisor Name]   |   [University Name]</a:t>
            </a:r>
          </a:p>
        </p:txBody>
      </p:sp>
      <p:sp>
        <p:nvSpPr>
          <p:cNvPr id="4" name="t1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600" dirty="0">
                <a:solidFill>
                  <a:srgbClr val="C9A84C"/>
                </a:solidFill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5" name="t1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600" b="1" dirty="0">
                <a:solidFill>
                  <a:srgbClr val="E8C96D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sp>
        <p:nvSpPr>
          <p:cNvPr id="7" name="t1004"/>
          <p:cNvSpPr txBox="1"/>
          <p:nvPr/>
        </p:nvSpPr>
        <p:spPr>
          <a:xfrm>
            <a:off x="889000" y="25400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8" name="t1005"/>
          <p:cNvSpPr txBox="1"/>
          <p:nvPr/>
        </p:nvSpPr>
        <p:spPr>
          <a:xfrm>
            <a:off x="2032000" y="25908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Problem &amp; Solution</a:t>
            </a:r>
          </a:p>
        </p:txBody>
      </p:sp>
      <p:sp>
        <p:nvSpPr>
          <p:cNvPr id="9" name="t1006"/>
          <p:cNvSpPr txBox="1"/>
          <p:nvPr/>
        </p:nvSpPr>
        <p:spPr>
          <a:xfrm>
            <a:off x="8636000" y="26162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3 – 4</a:t>
            </a:r>
          </a:p>
        </p:txBody>
      </p:sp>
      <p:sp>
        <p:nvSpPr>
          <p:cNvPr id="11" name="t1008"/>
          <p:cNvSpPr txBox="1"/>
          <p:nvPr/>
        </p:nvSpPr>
        <p:spPr>
          <a:xfrm>
            <a:off x="889000" y="30734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12" name="t1009"/>
          <p:cNvSpPr txBox="1"/>
          <p:nvPr/>
        </p:nvSpPr>
        <p:spPr>
          <a:xfrm>
            <a:off x="2032000" y="31242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System Architecture</a:t>
            </a:r>
          </a:p>
        </p:txBody>
      </p:sp>
      <p:sp>
        <p:nvSpPr>
          <p:cNvPr id="13" name="t1010"/>
          <p:cNvSpPr txBox="1"/>
          <p:nvPr/>
        </p:nvSpPr>
        <p:spPr>
          <a:xfrm>
            <a:off x="8636000" y="3149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5 – 9</a:t>
            </a:r>
          </a:p>
        </p:txBody>
      </p:sp>
      <p:sp>
        <p:nvSpPr>
          <p:cNvPr id="15" name="t1012"/>
          <p:cNvSpPr txBox="1"/>
          <p:nvPr/>
        </p:nvSpPr>
        <p:spPr>
          <a:xfrm>
            <a:off x="889000" y="36068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6" name="t1013"/>
          <p:cNvSpPr txBox="1"/>
          <p:nvPr/>
        </p:nvSpPr>
        <p:spPr>
          <a:xfrm>
            <a:off x="2032000" y="36576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Hardware Platform</a:t>
            </a:r>
          </a:p>
        </p:txBody>
      </p:sp>
      <p:sp>
        <p:nvSpPr>
          <p:cNvPr id="1014" name="t1014"/>
          <p:cNvSpPr txBox="1"/>
          <p:nvPr/>
        </p:nvSpPr>
        <p:spPr>
          <a:xfrm>
            <a:off x="8636000" y="36830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10 – 12</a:t>
            </a:r>
          </a:p>
        </p:txBody>
      </p:sp>
      <p:sp>
        <p:nvSpPr>
          <p:cNvPr id="1016" name="t1016"/>
          <p:cNvSpPr txBox="1"/>
          <p:nvPr/>
        </p:nvSpPr>
        <p:spPr>
          <a:xfrm>
            <a:off x="889000" y="41402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1017" name="t1017"/>
          <p:cNvSpPr txBox="1"/>
          <p:nvPr/>
        </p:nvSpPr>
        <p:spPr>
          <a:xfrm>
            <a:off x="2032000" y="4191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AI &amp; Detection</a:t>
            </a:r>
          </a:p>
        </p:txBody>
      </p:sp>
      <p:sp>
        <p:nvSpPr>
          <p:cNvPr id="1018" name="t1018"/>
          <p:cNvSpPr txBox="1"/>
          <p:nvPr/>
        </p:nvSpPr>
        <p:spPr>
          <a:xfrm>
            <a:off x="8636000" y="4216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13 – 17</a:t>
            </a:r>
          </a:p>
        </p:txBody>
      </p:sp>
      <p:sp>
        <p:nvSpPr>
          <p:cNvPr id="1020" name="t1020"/>
          <p:cNvSpPr txBox="1"/>
          <p:nvPr/>
        </p:nvSpPr>
        <p:spPr>
          <a:xfrm>
            <a:off x="889000" y="46736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05</a:t>
            </a:r>
          </a:p>
        </p:txBody>
      </p:sp>
      <p:sp>
        <p:nvSpPr>
          <p:cNvPr id="1021" name="t1021"/>
          <p:cNvSpPr txBox="1"/>
          <p:nvPr/>
        </p:nvSpPr>
        <p:spPr>
          <a:xfrm>
            <a:off x="2032000" y="47244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Autonomy &amp; Mission</a:t>
            </a:r>
          </a:p>
        </p:txBody>
      </p:sp>
      <p:sp>
        <p:nvSpPr>
          <p:cNvPr id="1022" name="t1022"/>
          <p:cNvSpPr txBox="1"/>
          <p:nvPr/>
        </p:nvSpPr>
        <p:spPr>
          <a:xfrm>
            <a:off x="8636000" y="47498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18 – 20</a:t>
            </a:r>
          </a:p>
        </p:txBody>
      </p:sp>
      <p:sp>
        <p:nvSpPr>
          <p:cNvPr id="1024" name="t1024"/>
          <p:cNvSpPr txBox="1"/>
          <p:nvPr/>
        </p:nvSpPr>
        <p:spPr>
          <a:xfrm>
            <a:off x="889000" y="52070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06</a:t>
            </a:r>
          </a:p>
        </p:txBody>
      </p:sp>
      <p:sp>
        <p:nvSpPr>
          <p:cNvPr id="1025" name="t1025"/>
          <p:cNvSpPr txBox="1"/>
          <p:nvPr/>
        </p:nvSpPr>
        <p:spPr>
          <a:xfrm>
            <a:off x="2032000" y="52578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Validation &amp; Results</a:t>
            </a:r>
          </a:p>
        </p:txBody>
      </p:sp>
      <p:sp>
        <p:nvSpPr>
          <p:cNvPr id="1026" name="t1026"/>
          <p:cNvSpPr txBox="1"/>
          <p:nvPr/>
        </p:nvSpPr>
        <p:spPr>
          <a:xfrm>
            <a:off x="8636000" y="52832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21 – 24</a:t>
            </a:r>
          </a:p>
        </p:txBody>
      </p:sp>
      <p:sp>
        <p:nvSpPr>
          <p:cNvPr id="1028" name="t1028"/>
          <p:cNvSpPr txBox="1"/>
          <p:nvPr/>
        </p:nvSpPr>
        <p:spPr>
          <a:xfrm>
            <a:off x="889000" y="5740400"/>
            <a:ext cx="101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07</a:t>
            </a:r>
          </a:p>
        </p:txBody>
      </p:sp>
      <p:sp>
        <p:nvSpPr>
          <p:cNvPr id="1029" name="t1029"/>
          <p:cNvSpPr txBox="1"/>
          <p:nvPr/>
        </p:nvSpPr>
        <p:spPr>
          <a:xfrm>
            <a:off x="2032000" y="57912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800" dirty="0">
                <a:solidFill>
                  <a:srgbClr val="F5F5F5"/>
                </a:solidFill>
                <a:latin typeface="Times New Roman"/>
                <a:cs typeface="Times New Roman"/>
              </a:rPr>
              <a:t>Conclusions &amp; Future Work</a:t>
            </a:r>
          </a:p>
        </p:txBody>
      </p:sp>
      <p:sp>
        <p:nvSpPr>
          <p:cNvPr id="1030" name="t1030"/>
          <p:cNvSpPr txBox="1"/>
          <p:nvPr/>
        </p:nvSpPr>
        <p:spPr>
          <a:xfrm>
            <a:off x="8636000" y="581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/>
                <a:cs typeface="Times New Roman"/>
              </a:rPr>
              <a:t>Slides 25 – 27</a:t>
            </a:r>
          </a:p>
        </p:txBody>
      </p:sp>
    </p:spTree>
    <p:extLst>
      <p:ext uri="{BB962C8B-B14F-4D97-AF65-F5344CB8AC3E}">
        <p14:creationId xmlns:p14="http://schemas.microsoft.com/office/powerpoint/2010/main" val="65318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1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01  ·  PROBLEM DEFINITION</a:t>
            </a:r>
          </a:p>
        </p:txBody>
      </p:sp>
      <p:sp>
        <p:nvSpPr>
          <p:cNvPr id="1002" name="t1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Why Modern Surveillance Falls Short</a:t>
            </a:r>
          </a:p>
        </p:txBody>
      </p:sp>
      <p:sp>
        <p:nvSpPr>
          <p:cNvPr id="1003" name="s1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4" name="s1004"/>
          <p:cNvSpPr/>
          <p:nvPr/>
        </p:nvSpPr>
        <p:spPr>
          <a:xfrm>
            <a:off x="762000" y="2476500"/>
            <a:ext cx="508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5" name="s1005"/>
          <p:cNvSpPr/>
          <p:nvPr/>
        </p:nvSpPr>
        <p:spPr>
          <a:xfrm>
            <a:off x="762000" y="2476500"/>
            <a:ext cx="381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6" name="t1006"/>
          <p:cNvSpPr txBox="1"/>
          <p:nvPr/>
        </p:nvSpPr>
        <p:spPr>
          <a:xfrm>
            <a:off x="990600" y="26289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007" name="t1007"/>
          <p:cNvSpPr txBox="1"/>
          <p:nvPr/>
        </p:nvSpPr>
        <p:spPr>
          <a:xfrm>
            <a:off x="1778000" y="27051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BLIND SPOTS</a:t>
            </a:r>
          </a:p>
        </p:txBody>
      </p:sp>
      <p:sp>
        <p:nvSpPr>
          <p:cNvPr id="1008" name="t1008"/>
          <p:cNvSpPr txBox="1"/>
          <p:nvPr/>
        </p:nvSpPr>
        <p:spPr>
          <a:xfrm>
            <a:off x="1778000" y="30861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Fixed cameras and ground patrols leave wide gaps in perimeter coverage — entire approach corridors go unobserved.</a:t>
            </a:r>
          </a:p>
        </p:txBody>
      </p:sp>
      <p:sp>
        <p:nvSpPr>
          <p:cNvPr id="1009" name="s1009"/>
          <p:cNvSpPr/>
          <p:nvPr/>
        </p:nvSpPr>
        <p:spPr>
          <a:xfrm>
            <a:off x="6096000" y="2476500"/>
            <a:ext cx="508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0" name="s1010"/>
          <p:cNvSpPr/>
          <p:nvPr/>
        </p:nvSpPr>
        <p:spPr>
          <a:xfrm>
            <a:off x="6096000" y="2476500"/>
            <a:ext cx="381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1" name="t1011"/>
          <p:cNvSpPr txBox="1"/>
          <p:nvPr/>
        </p:nvSpPr>
        <p:spPr>
          <a:xfrm>
            <a:off x="6324600" y="26289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1012" name="t1012"/>
          <p:cNvSpPr txBox="1"/>
          <p:nvPr/>
        </p:nvSpPr>
        <p:spPr>
          <a:xfrm>
            <a:off x="7112000" y="27051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OPERATOR FATIGUE</a:t>
            </a:r>
          </a:p>
        </p:txBody>
      </p:sp>
      <p:sp>
        <p:nvSpPr>
          <p:cNvPr id="1013" name="t1013"/>
          <p:cNvSpPr txBox="1"/>
          <p:nvPr/>
        </p:nvSpPr>
        <p:spPr>
          <a:xfrm>
            <a:off x="7112000" y="30861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Human monitors lose focus after 20 minutes; detection rates drop sharply over multi-hour shifts.</a:t>
            </a:r>
          </a:p>
        </p:txBody>
      </p:sp>
      <p:sp>
        <p:nvSpPr>
          <p:cNvPr id="1014" name="s1014"/>
          <p:cNvSpPr/>
          <p:nvPr/>
        </p:nvSpPr>
        <p:spPr>
          <a:xfrm>
            <a:off x="762000" y="4381500"/>
            <a:ext cx="508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5" name="s1015"/>
          <p:cNvSpPr/>
          <p:nvPr/>
        </p:nvSpPr>
        <p:spPr>
          <a:xfrm>
            <a:off x="762000" y="4381500"/>
            <a:ext cx="381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6" name="t1016"/>
          <p:cNvSpPr txBox="1"/>
          <p:nvPr/>
        </p:nvSpPr>
        <p:spPr>
          <a:xfrm>
            <a:off x="990600" y="45339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017" name="t1017"/>
          <p:cNvSpPr txBox="1"/>
          <p:nvPr/>
        </p:nvSpPr>
        <p:spPr>
          <a:xfrm>
            <a:off x="1778000" y="46101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SLOW RESPONSE</a:t>
            </a:r>
          </a:p>
        </p:txBody>
      </p:sp>
      <p:sp>
        <p:nvSpPr>
          <p:cNvPr id="1018" name="t1018"/>
          <p:cNvSpPr txBox="1"/>
          <p:nvPr/>
        </p:nvSpPr>
        <p:spPr>
          <a:xfrm>
            <a:off x="1778000" y="49911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Manual dispatch chains add 5-15 minutes between sighting and intercept — too slow for fast-moving threats.</a:t>
            </a:r>
          </a:p>
        </p:txBody>
      </p:sp>
      <p:sp>
        <p:nvSpPr>
          <p:cNvPr id="1019" name="s1019"/>
          <p:cNvSpPr/>
          <p:nvPr/>
        </p:nvSpPr>
        <p:spPr>
          <a:xfrm>
            <a:off x="6096000" y="4381500"/>
            <a:ext cx="508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20" name="s1020"/>
          <p:cNvSpPr/>
          <p:nvPr/>
        </p:nvSpPr>
        <p:spPr>
          <a:xfrm>
            <a:off x="6096000" y="4381500"/>
            <a:ext cx="381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21" name="t1021"/>
          <p:cNvSpPr txBox="1"/>
          <p:nvPr/>
        </p:nvSpPr>
        <p:spPr>
          <a:xfrm>
            <a:off x="6324600" y="4533900"/>
            <a:ext cx="63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1022" name="t1022"/>
          <p:cNvSpPr txBox="1"/>
          <p:nvPr/>
        </p:nvSpPr>
        <p:spPr>
          <a:xfrm>
            <a:off x="7112000" y="4610100"/>
            <a:ext cx="381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RADAR LIMITS</a:t>
            </a:r>
          </a:p>
        </p:txBody>
      </p:sp>
      <p:sp>
        <p:nvSpPr>
          <p:cNvPr id="1023" name="t1023"/>
          <p:cNvSpPr txBox="1"/>
          <p:nvPr/>
        </p:nvSpPr>
        <p:spPr>
          <a:xfrm>
            <a:off x="7112000" y="49911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Conventional radar struggles to detect small, low-flying UAVs — hostile drones routinely slip through.</a:t>
            </a:r>
          </a:p>
        </p:txBody>
      </p:sp>
    </p:spTree>
    <p:extLst>
      <p:ext uri="{BB962C8B-B14F-4D97-AF65-F5344CB8AC3E}">
        <p14:creationId xmlns:p14="http://schemas.microsoft.com/office/powerpoint/2010/main" val="77623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t2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01  ·  THE EQAAB SOLUTION</a:t>
            </a:r>
          </a:p>
        </p:txBody>
      </p:sp>
      <p:sp>
        <p:nvSpPr>
          <p:cNvPr id="2002" name="t2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From Static Surveillance to Active Defense</a:t>
            </a:r>
          </a:p>
        </p:txBody>
      </p:sp>
      <p:sp>
        <p:nvSpPr>
          <p:cNvPr id="2003" name="s2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4" name="t2004"/>
          <p:cNvSpPr txBox="1"/>
          <p:nvPr/>
        </p:nvSpPr>
        <p:spPr>
          <a:xfrm>
            <a:off x="762000" y="24765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spc="400" dirty="0">
                <a:solidFill>
                  <a:srgbClr val="666666"/>
                </a:solidFill>
                <a:latin typeface="Times New Roman"/>
                <a:cs typeface="Times New Roman"/>
              </a:rPr>
              <a:t>THE PROBLEM</a:t>
            </a:r>
          </a:p>
        </p:txBody>
      </p:sp>
      <p:sp>
        <p:nvSpPr>
          <p:cNvPr id="2005" name="t2005"/>
          <p:cNvSpPr txBox="1"/>
          <p:nvPr/>
        </p:nvSpPr>
        <p:spPr>
          <a:xfrm>
            <a:off x="6604000" y="24765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THE EQAAB ANSWER</a:t>
            </a:r>
          </a:p>
        </p:txBody>
      </p:sp>
      <p:sp>
        <p:nvSpPr>
          <p:cNvPr id="2006" name="s2006"/>
          <p:cNvSpPr/>
          <p:nvPr/>
        </p:nvSpPr>
        <p:spPr>
          <a:xfrm>
            <a:off x="762000" y="2806700"/>
            <a:ext cx="482600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7" name="s2007"/>
          <p:cNvSpPr/>
          <p:nvPr/>
        </p:nvSpPr>
        <p:spPr>
          <a:xfrm>
            <a:off x="6604000" y="2806700"/>
            <a:ext cx="482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8" name="t2008"/>
          <p:cNvSpPr txBox="1"/>
          <p:nvPr/>
        </p:nvSpPr>
        <p:spPr>
          <a:xfrm>
            <a:off x="762000" y="299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Static cameras with fixed coverage</a:t>
            </a:r>
          </a:p>
        </p:txBody>
      </p:sp>
      <p:sp>
        <p:nvSpPr>
          <p:cNvPr id="2009" name="s2009"/>
          <p:cNvSpPr/>
          <p:nvPr/>
        </p:nvSpPr>
        <p:spPr>
          <a:xfrm>
            <a:off x="5842000" y="3073400"/>
            <a:ext cx="635000" cy="2794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10" name="t2010"/>
          <p:cNvSpPr txBox="1"/>
          <p:nvPr/>
        </p:nvSpPr>
        <p:spPr>
          <a:xfrm>
            <a:off x="6604000" y="299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Mobile aerial platform — flies the perimeter on demand</a:t>
            </a:r>
          </a:p>
        </p:txBody>
      </p:sp>
      <p:sp>
        <p:nvSpPr>
          <p:cNvPr id="2011" name="s2011"/>
          <p:cNvSpPr/>
          <p:nvPr/>
        </p:nvSpPr>
        <p:spPr>
          <a:xfrm>
            <a:off x="762000" y="35306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12" name="t2012"/>
          <p:cNvSpPr txBox="1"/>
          <p:nvPr/>
        </p:nvSpPr>
        <p:spPr>
          <a:xfrm>
            <a:off x="762000" y="3632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Human attention degrades over time</a:t>
            </a:r>
          </a:p>
        </p:txBody>
      </p:sp>
      <p:sp>
        <p:nvSpPr>
          <p:cNvPr id="2013" name="s2013"/>
          <p:cNvSpPr/>
          <p:nvPr/>
        </p:nvSpPr>
        <p:spPr>
          <a:xfrm>
            <a:off x="5842000" y="3708400"/>
            <a:ext cx="635000" cy="2794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14" name="t2014"/>
          <p:cNvSpPr txBox="1"/>
          <p:nvPr/>
        </p:nvSpPr>
        <p:spPr>
          <a:xfrm>
            <a:off x="6604000" y="3632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AI vision running at 8.3 FPS, no fatigue, 24/7 ready</a:t>
            </a:r>
          </a:p>
        </p:txBody>
      </p:sp>
      <p:sp>
        <p:nvSpPr>
          <p:cNvPr id="2015" name="s2015"/>
          <p:cNvSpPr/>
          <p:nvPr/>
        </p:nvSpPr>
        <p:spPr>
          <a:xfrm>
            <a:off x="762000" y="41656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16" name="t2016"/>
          <p:cNvSpPr txBox="1"/>
          <p:nvPr/>
        </p:nvSpPr>
        <p:spPr>
          <a:xfrm>
            <a:off x="762000" y="426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Manual dispatch chains delay response</a:t>
            </a:r>
          </a:p>
        </p:txBody>
      </p:sp>
      <p:sp>
        <p:nvSpPr>
          <p:cNvPr id="2017" name="s2017"/>
          <p:cNvSpPr/>
          <p:nvPr/>
        </p:nvSpPr>
        <p:spPr>
          <a:xfrm>
            <a:off x="5842000" y="4343400"/>
            <a:ext cx="635000" cy="2794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18" name="t2018"/>
          <p:cNvSpPr txBox="1"/>
          <p:nvPr/>
        </p:nvSpPr>
        <p:spPr>
          <a:xfrm>
            <a:off x="6604000" y="426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Sub-2-second alert latency from detection to GCS</a:t>
            </a:r>
          </a:p>
        </p:txBody>
      </p:sp>
      <p:sp>
        <p:nvSpPr>
          <p:cNvPr id="2019" name="s2019"/>
          <p:cNvSpPr/>
          <p:nvPr/>
        </p:nvSpPr>
        <p:spPr>
          <a:xfrm>
            <a:off x="762000" y="48006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20" name="t2020"/>
          <p:cNvSpPr txBox="1"/>
          <p:nvPr/>
        </p:nvSpPr>
        <p:spPr>
          <a:xfrm>
            <a:off x="762000" y="4902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Radar misses small, low UAVs</a:t>
            </a:r>
          </a:p>
        </p:txBody>
      </p:sp>
      <p:sp>
        <p:nvSpPr>
          <p:cNvPr id="2021" name="s2021"/>
          <p:cNvSpPr/>
          <p:nvPr/>
        </p:nvSpPr>
        <p:spPr>
          <a:xfrm>
            <a:off x="5842000" y="4978400"/>
            <a:ext cx="635000" cy="2794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22" name="t2022"/>
          <p:cNvSpPr txBox="1"/>
          <p:nvPr/>
        </p:nvSpPr>
        <p:spPr>
          <a:xfrm>
            <a:off x="6604000" y="4902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Custom YOLOv8 model trained specifically for drones</a:t>
            </a:r>
          </a:p>
        </p:txBody>
      </p:sp>
      <p:sp>
        <p:nvSpPr>
          <p:cNvPr id="2023" name="s2023"/>
          <p:cNvSpPr/>
          <p:nvPr/>
        </p:nvSpPr>
        <p:spPr>
          <a:xfrm>
            <a:off x="762000" y="54356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24" name="t2024"/>
          <p:cNvSpPr txBox="1"/>
          <p:nvPr/>
        </p:nvSpPr>
        <p:spPr>
          <a:xfrm>
            <a:off x="762000" y="553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No friend-or-foe discrimination</a:t>
            </a:r>
          </a:p>
        </p:txBody>
      </p:sp>
      <p:sp>
        <p:nvSpPr>
          <p:cNvPr id="2025" name="s2025"/>
          <p:cNvSpPr/>
          <p:nvPr/>
        </p:nvSpPr>
        <p:spPr>
          <a:xfrm>
            <a:off x="5842000" y="5613400"/>
            <a:ext cx="635000" cy="2794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26" name="t2026"/>
          <p:cNvSpPr txBox="1"/>
          <p:nvPr/>
        </p:nvSpPr>
        <p:spPr>
          <a:xfrm>
            <a:off x="6604000" y="553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IFF registry classifies every track, fail-safe to Unknown</a:t>
            </a:r>
          </a:p>
        </p:txBody>
      </p:sp>
      <p:sp>
        <p:nvSpPr>
          <p:cNvPr id="2027" name="s2027"/>
          <p:cNvSpPr/>
          <p:nvPr/>
        </p:nvSpPr>
        <p:spPr>
          <a:xfrm>
            <a:off x="762000" y="60706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6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t3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02  ·  OBJECTIVES &amp; KPIs</a:t>
            </a:r>
          </a:p>
        </p:txBody>
      </p:sp>
      <p:sp>
        <p:nvSpPr>
          <p:cNvPr id="3002" name="t3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Five Measurable Mission Goals</a:t>
            </a:r>
          </a:p>
        </p:txBody>
      </p:sp>
      <p:sp>
        <p:nvSpPr>
          <p:cNvPr id="3003" name="s3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04" name="t3004"/>
          <p:cNvSpPr txBox="1"/>
          <p:nvPr/>
        </p:nvSpPr>
        <p:spPr>
          <a:xfrm>
            <a:off x="762000" y="2476500"/>
            <a:ext cx="76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200" dirty="0">
                <a:solidFill>
                  <a:srgbClr val="666666"/>
                </a:solidFill>
                <a:latin typeface="Times New Roman"/>
                <a:cs typeface="Times New Roman"/>
              </a:rPr>
              <a:t>#</a:t>
            </a:r>
          </a:p>
        </p:txBody>
      </p:sp>
      <p:sp>
        <p:nvSpPr>
          <p:cNvPr id="3005" name="t3005"/>
          <p:cNvSpPr txBox="1"/>
          <p:nvPr/>
        </p:nvSpPr>
        <p:spPr>
          <a:xfrm>
            <a:off x="1778000" y="2476500"/>
            <a:ext cx="3556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3006" name="t3006"/>
          <p:cNvSpPr txBox="1"/>
          <p:nvPr/>
        </p:nvSpPr>
        <p:spPr>
          <a:xfrm>
            <a:off x="5588000" y="24765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SUCCESS CRITERION</a:t>
            </a:r>
          </a:p>
        </p:txBody>
      </p:sp>
      <p:sp>
        <p:nvSpPr>
          <p:cNvPr id="3007" name="t3007"/>
          <p:cNvSpPr txBox="1"/>
          <p:nvPr/>
        </p:nvSpPr>
        <p:spPr>
          <a:xfrm>
            <a:off x="9906000" y="24765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1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ACHIEVED</a:t>
            </a:r>
          </a:p>
        </p:txBody>
      </p:sp>
      <p:sp>
        <p:nvSpPr>
          <p:cNvPr id="3008" name="s3008"/>
          <p:cNvSpPr/>
          <p:nvPr/>
        </p:nvSpPr>
        <p:spPr>
          <a:xfrm>
            <a:off x="762000" y="2781300"/>
            <a:ext cx="10668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09" name="t3009"/>
          <p:cNvSpPr txBox="1"/>
          <p:nvPr/>
        </p:nvSpPr>
        <p:spPr>
          <a:xfrm>
            <a:off x="762000" y="29845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3010" name="t3010"/>
          <p:cNvSpPr txBox="1"/>
          <p:nvPr/>
        </p:nvSpPr>
        <p:spPr>
          <a:xfrm>
            <a:off x="1778000" y="30099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dirty="0">
                <a:solidFill>
                  <a:srgbClr val="F5F5F5"/>
                </a:solidFill>
                <a:latin typeface="Times New Roman"/>
                <a:cs typeface="Times New Roman"/>
              </a:rPr>
              <a:t>Real-time aerial detection</a:t>
            </a:r>
          </a:p>
        </p:txBody>
      </p:sp>
      <p:sp>
        <p:nvSpPr>
          <p:cNvPr id="3011" name="t3011"/>
          <p:cNvSpPr txBox="1"/>
          <p:nvPr/>
        </p:nvSpPr>
        <p:spPr>
          <a:xfrm>
            <a:off x="5588000" y="3035300"/>
            <a:ext cx="406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mAP@50 ≥ 90% on drone class</a:t>
            </a:r>
          </a:p>
        </p:txBody>
      </p:sp>
      <p:sp>
        <p:nvSpPr>
          <p:cNvPr id="3012" name="s3012"/>
          <p:cNvSpPr/>
          <p:nvPr/>
        </p:nvSpPr>
        <p:spPr>
          <a:xfrm>
            <a:off x="9906000" y="3009900"/>
            <a:ext cx="1524000" cy="3556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13" name="t3013"/>
          <p:cNvSpPr txBox="1"/>
          <p:nvPr/>
        </p:nvSpPr>
        <p:spPr>
          <a:xfrm>
            <a:off x="9906000" y="30353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94.3%</a:t>
            </a:r>
          </a:p>
        </p:txBody>
      </p:sp>
      <p:sp>
        <p:nvSpPr>
          <p:cNvPr id="3014" name="s3014"/>
          <p:cNvSpPr/>
          <p:nvPr/>
        </p:nvSpPr>
        <p:spPr>
          <a:xfrm>
            <a:off x="762000" y="35687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15" name="t3015"/>
          <p:cNvSpPr txBox="1"/>
          <p:nvPr/>
        </p:nvSpPr>
        <p:spPr>
          <a:xfrm>
            <a:off x="762000" y="36957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3016" name="t3016"/>
          <p:cNvSpPr txBox="1"/>
          <p:nvPr/>
        </p:nvSpPr>
        <p:spPr>
          <a:xfrm>
            <a:off x="1778000" y="37211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dirty="0">
                <a:solidFill>
                  <a:srgbClr val="F5F5F5"/>
                </a:solidFill>
                <a:latin typeface="Times New Roman"/>
                <a:cs typeface="Times New Roman"/>
              </a:rPr>
              <a:t>On-board edge inference</a:t>
            </a:r>
          </a:p>
        </p:txBody>
      </p:sp>
      <p:sp>
        <p:nvSpPr>
          <p:cNvPr id="3017" name="t3017"/>
          <p:cNvSpPr txBox="1"/>
          <p:nvPr/>
        </p:nvSpPr>
        <p:spPr>
          <a:xfrm>
            <a:off x="5588000" y="3746500"/>
            <a:ext cx="406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≥ 8 FPS sustained on RPi 5</a:t>
            </a:r>
          </a:p>
        </p:txBody>
      </p:sp>
      <p:sp>
        <p:nvSpPr>
          <p:cNvPr id="3018" name="s3018"/>
          <p:cNvSpPr/>
          <p:nvPr/>
        </p:nvSpPr>
        <p:spPr>
          <a:xfrm>
            <a:off x="9906000" y="3721100"/>
            <a:ext cx="1524000" cy="3556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19" name="t3019"/>
          <p:cNvSpPr txBox="1"/>
          <p:nvPr/>
        </p:nvSpPr>
        <p:spPr>
          <a:xfrm>
            <a:off x="9906000" y="37465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8.3 FPS</a:t>
            </a:r>
          </a:p>
        </p:txBody>
      </p:sp>
      <p:sp>
        <p:nvSpPr>
          <p:cNvPr id="3020" name="s3020"/>
          <p:cNvSpPr/>
          <p:nvPr/>
        </p:nvSpPr>
        <p:spPr>
          <a:xfrm>
            <a:off x="762000" y="42799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21" name="t3021"/>
          <p:cNvSpPr txBox="1"/>
          <p:nvPr/>
        </p:nvSpPr>
        <p:spPr>
          <a:xfrm>
            <a:off x="762000" y="44069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3022" name="t3022"/>
          <p:cNvSpPr txBox="1"/>
          <p:nvPr/>
        </p:nvSpPr>
        <p:spPr>
          <a:xfrm>
            <a:off x="1778000" y="44323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dirty="0">
                <a:solidFill>
                  <a:srgbClr val="F5F5F5"/>
                </a:solidFill>
                <a:latin typeface="Times New Roman"/>
                <a:cs typeface="Times New Roman"/>
              </a:rPr>
              <a:t>Low-latency alerting</a:t>
            </a:r>
          </a:p>
        </p:txBody>
      </p:sp>
      <p:sp>
        <p:nvSpPr>
          <p:cNvPr id="3023" name="t3023"/>
          <p:cNvSpPr txBox="1"/>
          <p:nvPr/>
        </p:nvSpPr>
        <p:spPr>
          <a:xfrm>
            <a:off x="5588000" y="4457700"/>
            <a:ext cx="406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End-to-end alert latency &lt; 2 s</a:t>
            </a:r>
          </a:p>
        </p:txBody>
      </p:sp>
      <p:sp>
        <p:nvSpPr>
          <p:cNvPr id="3024" name="s3024"/>
          <p:cNvSpPr/>
          <p:nvPr/>
        </p:nvSpPr>
        <p:spPr>
          <a:xfrm>
            <a:off x="9906000" y="4432300"/>
            <a:ext cx="1524000" cy="3556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25" name="t3025"/>
          <p:cNvSpPr txBox="1"/>
          <p:nvPr/>
        </p:nvSpPr>
        <p:spPr>
          <a:xfrm>
            <a:off x="9906000" y="44577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~1.4 s</a:t>
            </a:r>
          </a:p>
        </p:txBody>
      </p:sp>
      <p:sp>
        <p:nvSpPr>
          <p:cNvPr id="3026" name="s3026"/>
          <p:cNvSpPr/>
          <p:nvPr/>
        </p:nvSpPr>
        <p:spPr>
          <a:xfrm>
            <a:off x="762000" y="49911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27" name="t3027"/>
          <p:cNvSpPr txBox="1"/>
          <p:nvPr/>
        </p:nvSpPr>
        <p:spPr>
          <a:xfrm>
            <a:off x="762000" y="51181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3028" name="t3028"/>
          <p:cNvSpPr txBox="1"/>
          <p:nvPr/>
        </p:nvSpPr>
        <p:spPr>
          <a:xfrm>
            <a:off x="1778000" y="51435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dirty="0">
                <a:solidFill>
                  <a:srgbClr val="F5F5F5"/>
                </a:solidFill>
                <a:latin typeface="Times New Roman"/>
                <a:cs typeface="Times New Roman"/>
              </a:rPr>
              <a:t>Reliable IFF classification</a:t>
            </a:r>
          </a:p>
        </p:txBody>
      </p:sp>
      <p:sp>
        <p:nvSpPr>
          <p:cNvPr id="3029" name="t3029"/>
          <p:cNvSpPr txBox="1"/>
          <p:nvPr/>
        </p:nvSpPr>
        <p:spPr>
          <a:xfrm>
            <a:off x="5588000" y="5168900"/>
            <a:ext cx="406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Fail-safe defaults to Unknown</a:t>
            </a:r>
          </a:p>
        </p:txBody>
      </p:sp>
      <p:sp>
        <p:nvSpPr>
          <p:cNvPr id="3030" name="s3030"/>
          <p:cNvSpPr/>
          <p:nvPr/>
        </p:nvSpPr>
        <p:spPr>
          <a:xfrm>
            <a:off x="9906000" y="5143500"/>
            <a:ext cx="1524000" cy="3556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31" name="t3031"/>
          <p:cNvSpPr txBox="1"/>
          <p:nvPr/>
        </p:nvSpPr>
        <p:spPr>
          <a:xfrm>
            <a:off x="9906000" y="51689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100% safe</a:t>
            </a:r>
          </a:p>
        </p:txBody>
      </p:sp>
      <p:sp>
        <p:nvSpPr>
          <p:cNvPr id="3032" name="s3032"/>
          <p:cNvSpPr/>
          <p:nvPr/>
        </p:nvSpPr>
        <p:spPr>
          <a:xfrm>
            <a:off x="762000" y="57023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33" name="t3033"/>
          <p:cNvSpPr txBox="1"/>
          <p:nvPr/>
        </p:nvSpPr>
        <p:spPr>
          <a:xfrm>
            <a:off x="762000" y="58293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C9A84C"/>
                </a:solidFill>
                <a:latin typeface="Times New Roman"/>
                <a:cs typeface="Times New Roman"/>
              </a:rPr>
              <a:t>05</a:t>
            </a:r>
          </a:p>
        </p:txBody>
      </p:sp>
      <p:sp>
        <p:nvSpPr>
          <p:cNvPr id="3034" name="t3034"/>
          <p:cNvSpPr txBox="1"/>
          <p:nvPr/>
        </p:nvSpPr>
        <p:spPr>
          <a:xfrm>
            <a:off x="1778000" y="58547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dirty="0">
                <a:solidFill>
                  <a:srgbClr val="F5F5F5"/>
                </a:solidFill>
                <a:latin typeface="Times New Roman"/>
                <a:cs typeface="Times New Roman"/>
              </a:rPr>
              <a:t>Autonomous patrol</a:t>
            </a:r>
          </a:p>
        </p:txBody>
      </p:sp>
      <p:sp>
        <p:nvSpPr>
          <p:cNvPr id="3035" name="t3035"/>
          <p:cNvSpPr txBox="1"/>
          <p:nvPr/>
        </p:nvSpPr>
        <p:spPr>
          <a:xfrm>
            <a:off x="5588000" y="5880100"/>
            <a:ext cx="4064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Times New Roman"/>
                <a:cs typeface="Times New Roman"/>
              </a:rPr>
              <a:t>Geofenced FSM with failsafes</a:t>
            </a:r>
          </a:p>
        </p:txBody>
      </p:sp>
      <p:sp>
        <p:nvSpPr>
          <p:cNvPr id="3036" name="s3036"/>
          <p:cNvSpPr/>
          <p:nvPr/>
        </p:nvSpPr>
        <p:spPr>
          <a:xfrm>
            <a:off x="9906000" y="5854700"/>
            <a:ext cx="1524000" cy="3556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037" name="t3037"/>
          <p:cNvSpPr txBox="1"/>
          <p:nvPr/>
        </p:nvSpPr>
        <p:spPr>
          <a:xfrm>
            <a:off x="9906000" y="5880100"/>
            <a:ext cx="1524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6 states</a:t>
            </a:r>
          </a:p>
        </p:txBody>
      </p:sp>
      <p:sp>
        <p:nvSpPr>
          <p:cNvPr id="3038" name="s3038"/>
          <p:cNvSpPr/>
          <p:nvPr/>
        </p:nvSpPr>
        <p:spPr>
          <a:xfrm>
            <a:off x="762000" y="6413500"/>
            <a:ext cx="10668000" cy="381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4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1" name="t4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02  ·  HIGH-LEVEL ARCHITECTURE</a:t>
            </a:r>
          </a:p>
        </p:txBody>
      </p:sp>
      <p:sp>
        <p:nvSpPr>
          <p:cNvPr id="4002" name="t4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Three-Tier System Topology</a:t>
            </a:r>
          </a:p>
        </p:txBody>
      </p:sp>
      <p:sp>
        <p:nvSpPr>
          <p:cNvPr id="4003" name="s4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04" name="t4004"/>
          <p:cNvSpPr txBox="1"/>
          <p:nvPr/>
        </p:nvSpPr>
        <p:spPr>
          <a:xfrm>
            <a:off x="762000" y="26416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TIER 1  ·  EDGE</a:t>
            </a:r>
          </a:p>
        </p:txBody>
      </p:sp>
      <p:sp>
        <p:nvSpPr>
          <p:cNvPr id="4005" name="s4005"/>
          <p:cNvSpPr/>
          <p:nvPr/>
        </p:nvSpPr>
        <p:spPr>
          <a:xfrm>
            <a:off x="762000" y="2921000"/>
            <a:ext cx="3048000" cy="25400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06" name="t4006"/>
          <p:cNvSpPr txBox="1"/>
          <p:nvPr/>
        </p:nvSpPr>
        <p:spPr>
          <a:xfrm>
            <a:off x="762000" y="314960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E8C96D"/>
                </a:solidFill>
                <a:latin typeface="Times New Roman"/>
                <a:cs typeface="Times New Roman"/>
              </a:rPr>
              <a:t>Drone</a:t>
            </a:r>
          </a:p>
        </p:txBody>
      </p:sp>
      <p:sp>
        <p:nvSpPr>
          <p:cNvPr id="4007" name="s4007"/>
          <p:cNvSpPr/>
          <p:nvPr/>
        </p:nvSpPr>
        <p:spPr>
          <a:xfrm>
            <a:off x="1143000" y="3556000"/>
            <a:ext cx="2286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08" name="t4008"/>
          <p:cNvSpPr txBox="1"/>
          <p:nvPr/>
        </p:nvSpPr>
        <p:spPr>
          <a:xfrm>
            <a:off x="952500" y="37084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Pixhawk PX4 flight stack</a:t>
            </a:r>
          </a:p>
        </p:txBody>
      </p:sp>
      <p:sp>
        <p:nvSpPr>
          <p:cNvPr id="4009" name="t4009"/>
          <p:cNvSpPr txBox="1"/>
          <p:nvPr/>
        </p:nvSpPr>
        <p:spPr>
          <a:xfrm>
            <a:off x="952500" y="39878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Raspberry Pi 5 companion</a:t>
            </a:r>
          </a:p>
        </p:txBody>
      </p:sp>
      <p:sp>
        <p:nvSpPr>
          <p:cNvPr id="4010" name="t4010"/>
          <p:cNvSpPr txBox="1"/>
          <p:nvPr/>
        </p:nvSpPr>
        <p:spPr>
          <a:xfrm>
            <a:off x="952500" y="42672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Pi Camera + GPS module</a:t>
            </a:r>
          </a:p>
        </p:txBody>
      </p:sp>
      <p:sp>
        <p:nvSpPr>
          <p:cNvPr id="4011" name="t4011"/>
          <p:cNvSpPr txBox="1"/>
          <p:nvPr/>
        </p:nvSpPr>
        <p:spPr>
          <a:xfrm>
            <a:off x="952500" y="45466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ROS 2 (Ubuntu 22.04)</a:t>
            </a:r>
          </a:p>
        </p:txBody>
      </p:sp>
      <p:sp>
        <p:nvSpPr>
          <p:cNvPr id="4012" name="t4012"/>
          <p:cNvSpPr txBox="1"/>
          <p:nvPr/>
        </p:nvSpPr>
        <p:spPr>
          <a:xfrm>
            <a:off x="952500" y="4826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On-board YOLOv8 inference</a:t>
            </a:r>
          </a:p>
        </p:txBody>
      </p:sp>
      <p:sp>
        <p:nvSpPr>
          <p:cNvPr id="4013" name="t4013"/>
          <p:cNvSpPr txBox="1"/>
          <p:nvPr/>
        </p:nvSpPr>
        <p:spPr>
          <a:xfrm>
            <a:off x="4572000" y="26416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TIER 2  ·  CLOUD</a:t>
            </a:r>
          </a:p>
        </p:txBody>
      </p:sp>
      <p:sp>
        <p:nvSpPr>
          <p:cNvPr id="4014" name="s4014"/>
          <p:cNvSpPr/>
          <p:nvPr/>
        </p:nvSpPr>
        <p:spPr>
          <a:xfrm>
            <a:off x="4572000" y="2921000"/>
            <a:ext cx="3048000" cy="25400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15" name="t4015"/>
          <p:cNvSpPr txBox="1"/>
          <p:nvPr/>
        </p:nvSpPr>
        <p:spPr>
          <a:xfrm>
            <a:off x="4572000" y="314960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E8C96D"/>
                </a:solidFill>
                <a:latin typeface="Times New Roman"/>
                <a:cs typeface="Times New Roman"/>
              </a:rPr>
              <a:t>Backend</a:t>
            </a:r>
          </a:p>
        </p:txBody>
      </p:sp>
      <p:sp>
        <p:nvSpPr>
          <p:cNvPr id="4016" name="s4016"/>
          <p:cNvSpPr/>
          <p:nvPr/>
        </p:nvSpPr>
        <p:spPr>
          <a:xfrm>
            <a:off x="4953000" y="3556000"/>
            <a:ext cx="2286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17" name="t4017"/>
          <p:cNvSpPr txBox="1"/>
          <p:nvPr/>
        </p:nvSpPr>
        <p:spPr>
          <a:xfrm>
            <a:off x="4762500" y="37084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FastAPI service</a:t>
            </a:r>
          </a:p>
        </p:txBody>
      </p:sp>
      <p:sp>
        <p:nvSpPr>
          <p:cNvPr id="4018" name="t4018"/>
          <p:cNvSpPr txBox="1"/>
          <p:nvPr/>
        </p:nvSpPr>
        <p:spPr>
          <a:xfrm>
            <a:off x="4762500" y="39878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PostgreSQL database</a:t>
            </a:r>
          </a:p>
        </p:txBody>
      </p:sp>
      <p:sp>
        <p:nvSpPr>
          <p:cNvPr id="4019" name="t4019"/>
          <p:cNvSpPr txBox="1"/>
          <p:nvPr/>
        </p:nvSpPr>
        <p:spPr>
          <a:xfrm>
            <a:off x="4762500" y="42672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WebSocket (WSS / TLS)</a:t>
            </a:r>
          </a:p>
        </p:txBody>
      </p:sp>
      <p:sp>
        <p:nvSpPr>
          <p:cNvPr id="4020" name="t4020"/>
          <p:cNvSpPr txBox="1"/>
          <p:nvPr/>
        </p:nvSpPr>
        <p:spPr>
          <a:xfrm>
            <a:off x="4762500" y="45466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Hosted on Railway</a:t>
            </a:r>
          </a:p>
        </p:txBody>
      </p:sp>
      <p:sp>
        <p:nvSpPr>
          <p:cNvPr id="4021" name="t4021"/>
          <p:cNvSpPr txBox="1"/>
          <p:nvPr/>
        </p:nvSpPr>
        <p:spPr>
          <a:xfrm>
            <a:off x="4762500" y="4826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Alert relay &amp; persistence</a:t>
            </a:r>
          </a:p>
        </p:txBody>
      </p:sp>
      <p:sp>
        <p:nvSpPr>
          <p:cNvPr id="4022" name="t4022"/>
          <p:cNvSpPr txBox="1"/>
          <p:nvPr/>
        </p:nvSpPr>
        <p:spPr>
          <a:xfrm>
            <a:off x="8382000" y="26416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TIER 3  ·  OPERATOR</a:t>
            </a:r>
          </a:p>
        </p:txBody>
      </p:sp>
      <p:sp>
        <p:nvSpPr>
          <p:cNvPr id="4023" name="s4023"/>
          <p:cNvSpPr/>
          <p:nvPr/>
        </p:nvSpPr>
        <p:spPr>
          <a:xfrm>
            <a:off x="8382000" y="2921000"/>
            <a:ext cx="3048000" cy="25400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24" name="t4024"/>
          <p:cNvSpPr txBox="1"/>
          <p:nvPr/>
        </p:nvSpPr>
        <p:spPr>
          <a:xfrm>
            <a:off x="8382000" y="314960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E8C96D"/>
                </a:solidFill>
                <a:latin typeface="Times New Roman"/>
                <a:cs typeface="Times New Roman"/>
              </a:rPr>
              <a:t>Ground Control</a:t>
            </a:r>
          </a:p>
        </p:txBody>
      </p:sp>
      <p:sp>
        <p:nvSpPr>
          <p:cNvPr id="4025" name="s4025"/>
          <p:cNvSpPr/>
          <p:nvPr/>
        </p:nvSpPr>
        <p:spPr>
          <a:xfrm>
            <a:off x="8763000" y="3556000"/>
            <a:ext cx="2286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26" name="t4026"/>
          <p:cNvSpPr txBox="1"/>
          <p:nvPr/>
        </p:nvSpPr>
        <p:spPr>
          <a:xfrm>
            <a:off x="8572500" y="37084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React.js dashboard</a:t>
            </a:r>
          </a:p>
        </p:txBody>
      </p:sp>
      <p:sp>
        <p:nvSpPr>
          <p:cNvPr id="4027" name="t4027"/>
          <p:cNvSpPr txBox="1"/>
          <p:nvPr/>
        </p:nvSpPr>
        <p:spPr>
          <a:xfrm>
            <a:off x="8572500" y="39878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Leaflet.js live map</a:t>
            </a:r>
          </a:p>
        </p:txBody>
      </p:sp>
      <p:sp>
        <p:nvSpPr>
          <p:cNvPr id="4028" name="t4028"/>
          <p:cNvSpPr txBox="1"/>
          <p:nvPr/>
        </p:nvSpPr>
        <p:spPr>
          <a:xfrm>
            <a:off x="8572500" y="42672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DroneContext state</a:t>
            </a:r>
          </a:p>
        </p:txBody>
      </p:sp>
      <p:sp>
        <p:nvSpPr>
          <p:cNvPr id="4029" name="t4029"/>
          <p:cNvSpPr txBox="1"/>
          <p:nvPr/>
        </p:nvSpPr>
        <p:spPr>
          <a:xfrm>
            <a:off x="8572500" y="45466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Alert feed + command panel</a:t>
            </a:r>
          </a:p>
        </p:txBody>
      </p:sp>
      <p:sp>
        <p:nvSpPr>
          <p:cNvPr id="4030" name="t4030"/>
          <p:cNvSpPr txBox="1"/>
          <p:nvPr/>
        </p:nvSpPr>
        <p:spPr>
          <a:xfrm>
            <a:off x="8572500" y="4826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· Browser-based, any device</a:t>
            </a:r>
          </a:p>
        </p:txBody>
      </p:sp>
      <p:sp>
        <p:nvSpPr>
          <p:cNvPr id="4031" name="s4031"/>
          <p:cNvSpPr/>
          <p:nvPr/>
        </p:nvSpPr>
        <p:spPr>
          <a:xfrm>
            <a:off x="3810000" y="4000500"/>
            <a:ext cx="762000" cy="3810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32" name="s4032"/>
          <p:cNvSpPr/>
          <p:nvPr/>
        </p:nvSpPr>
        <p:spPr>
          <a:xfrm>
            <a:off x="7620000" y="4000500"/>
            <a:ext cx="762000" cy="3810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33" name="t4033"/>
          <p:cNvSpPr txBox="1"/>
          <p:nvPr/>
        </p:nvSpPr>
        <p:spPr>
          <a:xfrm>
            <a:off x="3746500" y="3683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4G LTE</a:t>
            </a:r>
          </a:p>
        </p:txBody>
      </p:sp>
      <p:sp>
        <p:nvSpPr>
          <p:cNvPr id="4034" name="t4034"/>
          <p:cNvSpPr txBox="1"/>
          <p:nvPr/>
        </p:nvSpPr>
        <p:spPr>
          <a:xfrm>
            <a:off x="3746500" y="4470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i="1" dirty="0">
                <a:solidFill>
                  <a:srgbClr val="666666"/>
                </a:solidFill>
                <a:latin typeface="Times New Roman"/>
                <a:cs typeface="Times New Roman"/>
              </a:rPr>
              <a:t>JSON</a:t>
            </a:r>
          </a:p>
        </p:txBody>
      </p:sp>
      <p:sp>
        <p:nvSpPr>
          <p:cNvPr id="4035" name="t4035"/>
          <p:cNvSpPr txBox="1"/>
          <p:nvPr/>
        </p:nvSpPr>
        <p:spPr>
          <a:xfrm>
            <a:off x="7556500" y="3683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WSS / TLS</a:t>
            </a:r>
          </a:p>
        </p:txBody>
      </p:sp>
      <p:sp>
        <p:nvSpPr>
          <p:cNvPr id="4036" name="t4036"/>
          <p:cNvSpPr txBox="1"/>
          <p:nvPr/>
        </p:nvSpPr>
        <p:spPr>
          <a:xfrm>
            <a:off x="7556500" y="4470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i="1" dirty="0">
                <a:solidFill>
                  <a:srgbClr val="666666"/>
                </a:solidFill>
                <a:latin typeface="Times New Roman"/>
                <a:cs typeface="Times New Roman"/>
              </a:rPr>
              <a:t>WebSocket</a:t>
            </a:r>
          </a:p>
        </p:txBody>
      </p:sp>
      <p:sp>
        <p:nvSpPr>
          <p:cNvPr id="4037" name="s4037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38" name="s4038"/>
          <p:cNvSpPr/>
          <p:nvPr/>
        </p:nvSpPr>
        <p:spPr>
          <a:xfrm>
            <a:off x="762000" y="5969000"/>
            <a:ext cx="38100" cy="38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039" name="t4039"/>
          <p:cNvSpPr txBox="1"/>
          <p:nvPr/>
        </p:nvSpPr>
        <p:spPr>
          <a:xfrm>
            <a:off x="1016000" y="60579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 dirty="0">
                <a:solidFill>
                  <a:srgbClr val="F5F5F5"/>
                </a:solidFill>
                <a:latin typeface="Times New Roman"/>
                <a:cs typeface="Times New Roman"/>
              </a:rPr>
              <a:t>Design principle:  alerts as structured JSON, not video streams — minimizes bandwidth, maximizes reliability over LTE.</a:t>
            </a:r>
          </a:p>
        </p:txBody>
      </p:sp>
    </p:spTree>
    <p:extLst>
      <p:ext uri="{BB962C8B-B14F-4D97-AF65-F5344CB8AC3E}">
        <p14:creationId xmlns:p14="http://schemas.microsoft.com/office/powerpoint/2010/main" val="321161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t5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02  ·  DRONE-SIDE STACK</a:t>
            </a:r>
          </a:p>
        </p:txBody>
      </p:sp>
      <p:sp>
        <p:nvSpPr>
          <p:cNvPr id="5002" name="t5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600" b="1" dirty="0">
                <a:solidFill>
                  <a:srgbClr val="E8C96D"/>
                </a:solidFill>
                <a:latin typeface="Times New Roman"/>
                <a:cs typeface="Times New Roman"/>
              </a:rPr>
              <a:t>ROS 2 Node Topology on the Companion Computer</a:t>
            </a:r>
          </a:p>
        </p:txBody>
      </p:sp>
      <p:sp>
        <p:nvSpPr>
          <p:cNvPr id="5003" name="s5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04" name="s5004"/>
          <p:cNvSpPr/>
          <p:nvPr/>
        </p:nvSpPr>
        <p:spPr>
          <a:xfrm>
            <a:off x="762000" y="2540000"/>
            <a:ext cx="7620000" cy="381000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05" name="t5005"/>
          <p:cNvSpPr txBox="1"/>
          <p:nvPr/>
        </p:nvSpPr>
        <p:spPr>
          <a:xfrm>
            <a:off x="762000" y="2667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ROS 2 (Ubuntu 22.04)  ·  Raspberry Pi 5</a:t>
            </a:r>
          </a:p>
        </p:txBody>
      </p:sp>
      <p:sp>
        <p:nvSpPr>
          <p:cNvPr id="5006" name="s5006"/>
          <p:cNvSpPr/>
          <p:nvPr/>
        </p:nvSpPr>
        <p:spPr>
          <a:xfrm>
            <a:off x="1143000" y="2984500"/>
            <a:ext cx="6858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07" name="s5007"/>
          <p:cNvSpPr/>
          <p:nvPr/>
        </p:nvSpPr>
        <p:spPr>
          <a:xfrm>
            <a:off x="1016000" y="3175000"/>
            <a:ext cx="3302000" cy="15240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08" name="t5008"/>
          <p:cNvSpPr txBox="1"/>
          <p:nvPr/>
        </p:nvSpPr>
        <p:spPr>
          <a:xfrm>
            <a:off x="1143000" y="3302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spc="100" dirty="0">
                <a:solidFill>
                  <a:srgbClr val="C9A84C"/>
                </a:solidFill>
                <a:latin typeface="Times New Roman"/>
                <a:cs typeface="Times New Roman"/>
              </a:rPr>
              <a:t>mission_manager</a:t>
            </a:r>
          </a:p>
        </p:txBody>
      </p:sp>
      <p:sp>
        <p:nvSpPr>
          <p:cNvPr id="5009" name="s5009"/>
          <p:cNvSpPr/>
          <p:nvPr/>
        </p:nvSpPr>
        <p:spPr>
          <a:xfrm>
            <a:off x="1143000" y="3606800"/>
            <a:ext cx="381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10" name="t5010"/>
          <p:cNvSpPr txBox="1"/>
          <p:nvPr/>
        </p:nvSpPr>
        <p:spPr>
          <a:xfrm>
            <a:off x="1143000" y="3708400"/>
            <a:ext cx="304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Owns the FSM. Sets state, issues waypoints to MAVROS, listens for failsafe events.</a:t>
            </a:r>
          </a:p>
        </p:txBody>
      </p:sp>
      <p:sp>
        <p:nvSpPr>
          <p:cNvPr id="5011" name="s5011"/>
          <p:cNvSpPr/>
          <p:nvPr/>
        </p:nvSpPr>
        <p:spPr>
          <a:xfrm>
            <a:off x="4445000" y="3175000"/>
            <a:ext cx="3302000" cy="15240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12" name="t5012"/>
          <p:cNvSpPr txBox="1"/>
          <p:nvPr/>
        </p:nvSpPr>
        <p:spPr>
          <a:xfrm>
            <a:off x="4572000" y="3302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spc="100" dirty="0">
                <a:solidFill>
                  <a:srgbClr val="C9A84C"/>
                </a:solidFill>
                <a:latin typeface="Times New Roman"/>
                <a:cs typeface="Times New Roman"/>
              </a:rPr>
              <a:t>detection_node</a:t>
            </a:r>
          </a:p>
        </p:txBody>
      </p:sp>
      <p:sp>
        <p:nvSpPr>
          <p:cNvPr id="5013" name="s5013"/>
          <p:cNvSpPr/>
          <p:nvPr/>
        </p:nvSpPr>
        <p:spPr>
          <a:xfrm>
            <a:off x="4572000" y="3606800"/>
            <a:ext cx="381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14" name="t5014"/>
          <p:cNvSpPr txBox="1"/>
          <p:nvPr/>
        </p:nvSpPr>
        <p:spPr>
          <a:xfrm>
            <a:off x="4572000" y="3708400"/>
            <a:ext cx="304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Runs dual YOLOv8 inference + DeepSORT, fuses GPS, publishes track topics.</a:t>
            </a:r>
          </a:p>
        </p:txBody>
      </p:sp>
      <p:sp>
        <p:nvSpPr>
          <p:cNvPr id="5015" name="s5015"/>
          <p:cNvSpPr/>
          <p:nvPr/>
        </p:nvSpPr>
        <p:spPr>
          <a:xfrm>
            <a:off x="1016000" y="4826000"/>
            <a:ext cx="3302000" cy="15240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16" name="t5016"/>
          <p:cNvSpPr txBox="1"/>
          <p:nvPr/>
        </p:nvSpPr>
        <p:spPr>
          <a:xfrm>
            <a:off x="1143000" y="4953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spc="100" dirty="0">
                <a:solidFill>
                  <a:srgbClr val="C9A84C"/>
                </a:solidFill>
                <a:latin typeface="Times New Roman"/>
                <a:cs typeface="Times New Roman"/>
              </a:rPr>
              <a:t>iff_node</a:t>
            </a:r>
          </a:p>
        </p:txBody>
      </p:sp>
      <p:sp>
        <p:nvSpPr>
          <p:cNvPr id="5017" name="s5017"/>
          <p:cNvSpPr/>
          <p:nvPr/>
        </p:nvSpPr>
        <p:spPr>
          <a:xfrm>
            <a:off x="1143000" y="5257800"/>
            <a:ext cx="381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18" name="t5018"/>
          <p:cNvSpPr txBox="1"/>
          <p:nvPr/>
        </p:nvSpPr>
        <p:spPr>
          <a:xfrm>
            <a:off x="1143000" y="5359400"/>
            <a:ext cx="304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Looks up each track in the IFF JSON registry, tags Friendly or Unknown.</a:t>
            </a:r>
          </a:p>
        </p:txBody>
      </p:sp>
      <p:sp>
        <p:nvSpPr>
          <p:cNvPr id="5019" name="s5019"/>
          <p:cNvSpPr/>
          <p:nvPr/>
        </p:nvSpPr>
        <p:spPr>
          <a:xfrm>
            <a:off x="4445000" y="4826000"/>
            <a:ext cx="3302000" cy="15240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20" name="t5020"/>
          <p:cNvSpPr txBox="1"/>
          <p:nvPr/>
        </p:nvSpPr>
        <p:spPr>
          <a:xfrm>
            <a:off x="4572000" y="4953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spc="100" dirty="0">
                <a:solidFill>
                  <a:srgbClr val="C9A84C"/>
                </a:solidFill>
                <a:latin typeface="Times New Roman"/>
                <a:cs typeface="Times New Roman"/>
              </a:rPr>
              <a:t>alert_publisher</a:t>
            </a:r>
          </a:p>
        </p:txBody>
      </p:sp>
      <p:sp>
        <p:nvSpPr>
          <p:cNvPr id="5021" name="s5021"/>
          <p:cNvSpPr/>
          <p:nvPr/>
        </p:nvSpPr>
        <p:spPr>
          <a:xfrm>
            <a:off x="4572000" y="5257800"/>
            <a:ext cx="381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22" name="t5022"/>
          <p:cNvSpPr txBox="1"/>
          <p:nvPr/>
        </p:nvSpPr>
        <p:spPr>
          <a:xfrm>
            <a:off x="4572000" y="5359400"/>
            <a:ext cx="304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Serializes alerts to JSON and pushes them over WebSocket via 4G LTE.</a:t>
            </a:r>
          </a:p>
        </p:txBody>
      </p:sp>
      <p:sp>
        <p:nvSpPr>
          <p:cNvPr id="5023" name="t5023"/>
          <p:cNvSpPr txBox="1"/>
          <p:nvPr/>
        </p:nvSpPr>
        <p:spPr>
          <a:xfrm>
            <a:off x="8636000" y="2540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INTERFACES</a:t>
            </a:r>
          </a:p>
        </p:txBody>
      </p:sp>
      <p:sp>
        <p:nvSpPr>
          <p:cNvPr id="5024" name="s5024"/>
          <p:cNvSpPr/>
          <p:nvPr/>
        </p:nvSpPr>
        <p:spPr>
          <a:xfrm>
            <a:off x="8636000" y="28448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25" name="s5025"/>
          <p:cNvSpPr/>
          <p:nvPr/>
        </p:nvSpPr>
        <p:spPr>
          <a:xfrm>
            <a:off x="8636000" y="3048000"/>
            <a:ext cx="508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26" name="t5026"/>
          <p:cNvSpPr txBox="1"/>
          <p:nvPr/>
        </p:nvSpPr>
        <p:spPr>
          <a:xfrm>
            <a:off x="8788400" y="30734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MAVROS</a:t>
            </a:r>
          </a:p>
        </p:txBody>
      </p:sp>
      <p:sp>
        <p:nvSpPr>
          <p:cNvPr id="5027" name="t5027"/>
          <p:cNvSpPr txBox="1"/>
          <p:nvPr/>
        </p:nvSpPr>
        <p:spPr>
          <a:xfrm>
            <a:off x="8788400" y="3327400"/>
            <a:ext cx="279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Bridge to PX4 / Pixhawk flight controller</a:t>
            </a:r>
          </a:p>
        </p:txBody>
      </p:sp>
      <p:sp>
        <p:nvSpPr>
          <p:cNvPr id="5028" name="s5028"/>
          <p:cNvSpPr/>
          <p:nvPr/>
        </p:nvSpPr>
        <p:spPr>
          <a:xfrm>
            <a:off x="8636000" y="3708400"/>
            <a:ext cx="508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29" name="t5029"/>
          <p:cNvSpPr txBox="1"/>
          <p:nvPr/>
        </p:nvSpPr>
        <p:spPr>
          <a:xfrm>
            <a:off x="8788400" y="37338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Pi Camera</a:t>
            </a:r>
          </a:p>
        </p:txBody>
      </p:sp>
      <p:sp>
        <p:nvSpPr>
          <p:cNvPr id="5030" name="t5030"/>
          <p:cNvSpPr txBox="1"/>
          <p:nvPr/>
        </p:nvSpPr>
        <p:spPr>
          <a:xfrm>
            <a:off x="8788400" y="3987800"/>
            <a:ext cx="279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1080p video frames @ ~10 Hz</a:t>
            </a:r>
          </a:p>
        </p:txBody>
      </p:sp>
      <p:sp>
        <p:nvSpPr>
          <p:cNvPr id="5031" name="s5031"/>
          <p:cNvSpPr/>
          <p:nvPr/>
        </p:nvSpPr>
        <p:spPr>
          <a:xfrm>
            <a:off x="8636000" y="4368800"/>
            <a:ext cx="508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32" name="t5032"/>
          <p:cNvSpPr txBox="1"/>
          <p:nvPr/>
        </p:nvSpPr>
        <p:spPr>
          <a:xfrm>
            <a:off x="8788400" y="4394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GPS Module</a:t>
            </a:r>
          </a:p>
        </p:txBody>
      </p:sp>
      <p:sp>
        <p:nvSpPr>
          <p:cNvPr id="5033" name="t5033"/>
          <p:cNvSpPr txBox="1"/>
          <p:nvPr/>
        </p:nvSpPr>
        <p:spPr>
          <a:xfrm>
            <a:off x="8788400" y="4648200"/>
            <a:ext cx="279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NMEA stream → fused into tracks</a:t>
            </a:r>
          </a:p>
        </p:txBody>
      </p:sp>
      <p:sp>
        <p:nvSpPr>
          <p:cNvPr id="5034" name="s5034"/>
          <p:cNvSpPr/>
          <p:nvPr/>
        </p:nvSpPr>
        <p:spPr>
          <a:xfrm>
            <a:off x="8636000" y="5029200"/>
            <a:ext cx="508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35" name="t5035"/>
          <p:cNvSpPr txBox="1"/>
          <p:nvPr/>
        </p:nvSpPr>
        <p:spPr>
          <a:xfrm>
            <a:off x="8788400" y="50546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4G LTE</a:t>
            </a:r>
          </a:p>
        </p:txBody>
      </p:sp>
      <p:sp>
        <p:nvSpPr>
          <p:cNvPr id="5036" name="t5036"/>
          <p:cNvSpPr txBox="1"/>
          <p:nvPr/>
        </p:nvSpPr>
        <p:spPr>
          <a:xfrm>
            <a:off x="8788400" y="5308600"/>
            <a:ext cx="279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Outbound WSS connection to backend</a:t>
            </a:r>
          </a:p>
        </p:txBody>
      </p:sp>
      <p:sp>
        <p:nvSpPr>
          <p:cNvPr id="5037" name="s5037"/>
          <p:cNvSpPr/>
          <p:nvPr/>
        </p:nvSpPr>
        <p:spPr>
          <a:xfrm>
            <a:off x="8636000" y="5689600"/>
            <a:ext cx="508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038" name="t5038"/>
          <p:cNvSpPr txBox="1"/>
          <p:nvPr/>
        </p:nvSpPr>
        <p:spPr>
          <a:xfrm>
            <a:off x="8788400" y="57150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RC Receiver</a:t>
            </a:r>
          </a:p>
        </p:txBody>
      </p:sp>
      <p:sp>
        <p:nvSpPr>
          <p:cNvPr id="5039" name="t5039"/>
          <p:cNvSpPr txBox="1"/>
          <p:nvPr/>
        </p:nvSpPr>
        <p:spPr>
          <a:xfrm>
            <a:off x="8788400" y="5969000"/>
            <a:ext cx="279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3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Manual override at any time</a:t>
            </a:r>
          </a:p>
        </p:txBody>
      </p:sp>
    </p:spTree>
    <p:extLst>
      <p:ext uri="{BB962C8B-B14F-4D97-AF65-F5344CB8AC3E}">
        <p14:creationId xmlns:p14="http://schemas.microsoft.com/office/powerpoint/2010/main" val="169925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1" name="t6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02  ·  BACKEND &amp; COMMUNICATION</a:t>
            </a:r>
          </a:p>
        </p:txBody>
      </p:sp>
      <p:sp>
        <p:nvSpPr>
          <p:cNvPr id="6002" name="t6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FastAPI · PostgreSQL · WebSocket</a:t>
            </a:r>
          </a:p>
        </p:txBody>
      </p:sp>
      <p:sp>
        <p:nvSpPr>
          <p:cNvPr id="6003" name="s6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04" name="t6004"/>
          <p:cNvSpPr txBox="1"/>
          <p:nvPr/>
        </p:nvSpPr>
        <p:spPr>
          <a:xfrm>
            <a:off x="762000" y="25400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CLOUD STACK</a:t>
            </a:r>
          </a:p>
        </p:txBody>
      </p:sp>
      <p:sp>
        <p:nvSpPr>
          <p:cNvPr id="6005" name="s6005"/>
          <p:cNvSpPr/>
          <p:nvPr/>
        </p:nvSpPr>
        <p:spPr>
          <a:xfrm>
            <a:off x="762000" y="2819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06" name="s6006"/>
          <p:cNvSpPr/>
          <p:nvPr/>
        </p:nvSpPr>
        <p:spPr>
          <a:xfrm>
            <a:off x="762000" y="2984500"/>
            <a:ext cx="4826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07" name="s6007"/>
          <p:cNvSpPr/>
          <p:nvPr/>
        </p:nvSpPr>
        <p:spPr>
          <a:xfrm>
            <a:off x="762000" y="29845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08" name="t6008"/>
          <p:cNvSpPr txBox="1"/>
          <p:nvPr/>
        </p:nvSpPr>
        <p:spPr>
          <a:xfrm>
            <a:off x="952500" y="3086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FastAPI</a:t>
            </a:r>
          </a:p>
        </p:txBody>
      </p:sp>
      <p:sp>
        <p:nvSpPr>
          <p:cNvPr id="6009" name="t6009"/>
          <p:cNvSpPr txBox="1"/>
          <p:nvPr/>
        </p:nvSpPr>
        <p:spPr>
          <a:xfrm>
            <a:off x="952500" y="33655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Async Python service · REST endpoints + WS handler</a:t>
            </a:r>
          </a:p>
        </p:txBody>
      </p:sp>
      <p:sp>
        <p:nvSpPr>
          <p:cNvPr id="6010" name="s6010"/>
          <p:cNvSpPr/>
          <p:nvPr/>
        </p:nvSpPr>
        <p:spPr>
          <a:xfrm>
            <a:off x="762000" y="3746500"/>
            <a:ext cx="4826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11" name="s6011"/>
          <p:cNvSpPr/>
          <p:nvPr/>
        </p:nvSpPr>
        <p:spPr>
          <a:xfrm>
            <a:off x="762000" y="37465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12" name="t6012"/>
          <p:cNvSpPr txBox="1"/>
          <p:nvPr/>
        </p:nvSpPr>
        <p:spPr>
          <a:xfrm>
            <a:off x="952500" y="3848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PostgreSQL</a:t>
            </a:r>
          </a:p>
        </p:txBody>
      </p:sp>
      <p:sp>
        <p:nvSpPr>
          <p:cNvPr id="6013" name="t6013"/>
          <p:cNvSpPr txBox="1"/>
          <p:nvPr/>
        </p:nvSpPr>
        <p:spPr>
          <a:xfrm>
            <a:off x="952500" y="41275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Persists alerts, registry, mission logs</a:t>
            </a:r>
          </a:p>
        </p:txBody>
      </p:sp>
      <p:sp>
        <p:nvSpPr>
          <p:cNvPr id="6014" name="s6014"/>
          <p:cNvSpPr/>
          <p:nvPr/>
        </p:nvSpPr>
        <p:spPr>
          <a:xfrm>
            <a:off x="762000" y="4508500"/>
            <a:ext cx="4826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15" name="s6015"/>
          <p:cNvSpPr/>
          <p:nvPr/>
        </p:nvSpPr>
        <p:spPr>
          <a:xfrm>
            <a:off x="762000" y="45085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16" name="t6016"/>
          <p:cNvSpPr txBox="1"/>
          <p:nvPr/>
        </p:nvSpPr>
        <p:spPr>
          <a:xfrm>
            <a:off x="952500" y="4610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WebSocket (WSS / TLS)</a:t>
            </a:r>
          </a:p>
        </p:txBody>
      </p:sp>
      <p:sp>
        <p:nvSpPr>
          <p:cNvPr id="6017" name="t6017"/>
          <p:cNvSpPr txBox="1"/>
          <p:nvPr/>
        </p:nvSpPr>
        <p:spPr>
          <a:xfrm>
            <a:off x="952500" y="48895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Bidirectional channel: drone ⇄ backend ⇄ GCS</a:t>
            </a:r>
          </a:p>
        </p:txBody>
      </p:sp>
      <p:sp>
        <p:nvSpPr>
          <p:cNvPr id="6018" name="s6018"/>
          <p:cNvSpPr/>
          <p:nvPr/>
        </p:nvSpPr>
        <p:spPr>
          <a:xfrm>
            <a:off x="762000" y="5270500"/>
            <a:ext cx="4826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19" name="s6019"/>
          <p:cNvSpPr/>
          <p:nvPr/>
        </p:nvSpPr>
        <p:spPr>
          <a:xfrm>
            <a:off x="762000" y="52705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20" name="t6020"/>
          <p:cNvSpPr txBox="1"/>
          <p:nvPr/>
        </p:nvSpPr>
        <p:spPr>
          <a:xfrm>
            <a:off x="952500" y="5372100"/>
            <a:ext cx="444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/>
                <a:cs typeface="Times New Roman"/>
              </a:rPr>
              <a:t>Railway</a:t>
            </a:r>
          </a:p>
        </p:txBody>
      </p:sp>
      <p:sp>
        <p:nvSpPr>
          <p:cNvPr id="6021" name="t6021"/>
          <p:cNvSpPr txBox="1"/>
          <p:nvPr/>
        </p:nvSpPr>
        <p:spPr>
          <a:xfrm>
            <a:off x="952500" y="56515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Container host with managed TLS + DB</a:t>
            </a:r>
          </a:p>
        </p:txBody>
      </p:sp>
      <p:sp>
        <p:nvSpPr>
          <p:cNvPr id="6022" name="t6022"/>
          <p:cNvSpPr txBox="1"/>
          <p:nvPr/>
        </p:nvSpPr>
        <p:spPr>
          <a:xfrm>
            <a:off x="6096000" y="25400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ALERT JSON SCHEMA</a:t>
            </a:r>
          </a:p>
        </p:txBody>
      </p:sp>
      <p:sp>
        <p:nvSpPr>
          <p:cNvPr id="6023" name="s6023"/>
          <p:cNvSpPr/>
          <p:nvPr/>
        </p:nvSpPr>
        <p:spPr>
          <a:xfrm>
            <a:off x="6096000" y="2819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24" name="s6024"/>
          <p:cNvSpPr/>
          <p:nvPr/>
        </p:nvSpPr>
        <p:spPr>
          <a:xfrm>
            <a:off x="6096000" y="2984500"/>
            <a:ext cx="5334000" cy="31115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25" name="s6025"/>
          <p:cNvSpPr/>
          <p:nvPr/>
        </p:nvSpPr>
        <p:spPr>
          <a:xfrm>
            <a:off x="6096000" y="2984500"/>
            <a:ext cx="5334000" cy="279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026" name="t6026"/>
          <p:cNvSpPr txBox="1"/>
          <p:nvPr/>
        </p:nvSpPr>
        <p:spPr>
          <a:xfrm>
            <a:off x="6248400" y="30226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666666"/>
                </a:solidFill>
                <a:latin typeface="Consolas"/>
                <a:cs typeface="Consolas"/>
              </a:rPr>
              <a:t>alert.json</a:t>
            </a:r>
          </a:p>
        </p:txBody>
      </p:sp>
      <p:sp>
        <p:nvSpPr>
          <p:cNvPr id="6027" name="t6027"/>
          <p:cNvSpPr txBox="1"/>
          <p:nvPr/>
        </p:nvSpPr>
        <p:spPr>
          <a:xfrm>
            <a:off x="10795000" y="30226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000" dirty="0">
                <a:solidFill>
                  <a:srgbClr val="C9A84C"/>
                </a:solidFill>
                <a:latin typeface="Consolas"/>
                <a:cs typeface="Consolas"/>
              </a:rPr>
              <a:t>●●●</a:t>
            </a:r>
          </a:p>
        </p:txBody>
      </p:sp>
      <p:sp>
        <p:nvSpPr>
          <p:cNvPr id="6028" name="t6028"/>
          <p:cNvSpPr txBox="1"/>
          <p:nvPr/>
        </p:nvSpPr>
        <p:spPr>
          <a:xfrm>
            <a:off x="6248400" y="33655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{</a:t>
            </a:r>
          </a:p>
        </p:txBody>
      </p:sp>
      <p:sp>
        <p:nvSpPr>
          <p:cNvPr id="6029" name="t6029"/>
          <p:cNvSpPr txBox="1"/>
          <p:nvPr/>
        </p:nvSpPr>
        <p:spPr>
          <a:xfrm>
            <a:off x="6248400" y="36449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"drone_id":  </a:t>
            </a:r>
            <a:r>
              <a:rPr lang="en-US" sz="1100" dirty="0">
                <a:solidFill>
                  <a:srgbClr val="E8C96D"/>
                </a:solidFill>
                <a:latin typeface="Consolas"/>
                <a:cs typeface="Consolas"/>
              </a:rPr>
              <a:t>"eqaab-01"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0" name="t6030"/>
          <p:cNvSpPr txBox="1"/>
          <p:nvPr/>
        </p:nvSpPr>
        <p:spPr>
          <a:xfrm>
            <a:off x="6248400" y="39243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"timestamp": </a:t>
            </a:r>
            <a:r>
              <a:rPr lang="en-US" sz="1100" dirty="0">
                <a:solidFill>
                  <a:srgbClr val="E8C96D"/>
                </a:solidFill>
                <a:latin typeface="Consolas"/>
                <a:cs typeface="Consolas"/>
              </a:rPr>
              <a:t>"2026-04-30T12:34:56Z"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1" name="t6031"/>
          <p:cNvSpPr txBox="1"/>
          <p:nvPr/>
        </p:nvSpPr>
        <p:spPr>
          <a:xfrm>
            <a:off x="6248400" y="42037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"track_id":  </a:t>
            </a:r>
            <a:r>
              <a:rPr lang="en-US" sz="1100" dirty="0">
                <a:solidFill>
                  <a:srgbClr val="C9A84C"/>
                </a:solidFill>
                <a:latin typeface="Consolas"/>
                <a:cs typeface="Consolas"/>
              </a:rPr>
              <a:t>4521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2" name="t6032"/>
          <p:cNvSpPr txBox="1"/>
          <p:nvPr/>
        </p:nvSpPr>
        <p:spPr>
          <a:xfrm>
            <a:off x="6248400" y="44831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"class":     </a:t>
            </a:r>
            <a:r>
              <a:rPr lang="en-US" sz="1100" dirty="0">
                <a:solidFill>
                  <a:srgbClr val="E8C96D"/>
                </a:solidFill>
                <a:latin typeface="Consolas"/>
                <a:cs typeface="Consolas"/>
              </a:rPr>
              <a:t>"drone"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3" name="t6033"/>
          <p:cNvSpPr txBox="1"/>
          <p:nvPr/>
        </p:nvSpPr>
        <p:spPr>
          <a:xfrm>
            <a:off x="6248400" y="47625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"iff":       </a:t>
            </a:r>
            <a:r>
              <a:rPr lang="en-US" sz="1100" dirty="0">
                <a:solidFill>
                  <a:srgbClr val="E8C96D"/>
                </a:solidFill>
                <a:latin typeface="Consolas"/>
                <a:cs typeface="Consolas"/>
              </a:rPr>
              <a:t>"unknown"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4" name="t6034"/>
          <p:cNvSpPr txBox="1"/>
          <p:nvPr/>
        </p:nvSpPr>
        <p:spPr>
          <a:xfrm>
            <a:off x="6248400" y="50419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"confidence":</a:t>
            </a:r>
            <a:r>
              <a:rPr lang="en-US" sz="1100" dirty="0">
                <a:solidFill>
                  <a:srgbClr val="C9A84C"/>
                </a:solidFill>
                <a:latin typeface="Consolas"/>
                <a:cs typeface="Consolas"/>
              </a:rPr>
              <a:t>0.87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</a:t>
            </a:r>
          </a:p>
        </p:txBody>
      </p:sp>
      <p:sp>
        <p:nvSpPr>
          <p:cNvPr id="6035" name="t6035"/>
          <p:cNvSpPr txBox="1"/>
          <p:nvPr/>
        </p:nvSpPr>
        <p:spPr>
          <a:xfrm>
            <a:off x="6248400" y="53213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  "lat": </a:t>
            </a:r>
            <a:r>
              <a:rPr lang="en-US" sz="1100" dirty="0">
                <a:solidFill>
                  <a:srgbClr val="C9A84C"/>
                </a:solidFill>
                <a:latin typeface="Consolas"/>
                <a:cs typeface="Consolas"/>
              </a:rPr>
              <a:t>24.7136</a:t>
            </a: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, "lon": </a:t>
            </a:r>
            <a:r>
              <a:rPr lang="en-US" sz="1100" dirty="0">
                <a:solidFill>
                  <a:srgbClr val="C9A84C"/>
                </a:solidFill>
                <a:latin typeface="Consolas"/>
                <a:cs typeface="Consolas"/>
              </a:rPr>
              <a:t>46.6753</a:t>
            </a:r>
          </a:p>
        </p:txBody>
      </p:sp>
      <p:sp>
        <p:nvSpPr>
          <p:cNvPr id="6036" name="t6036"/>
          <p:cNvSpPr txBox="1"/>
          <p:nvPr/>
        </p:nvSpPr>
        <p:spPr>
          <a:xfrm>
            <a:off x="6248400" y="56007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078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1" name="t7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02  ·  GCS DASHBOARD</a:t>
            </a:r>
          </a:p>
        </p:txBody>
      </p:sp>
      <p:sp>
        <p:nvSpPr>
          <p:cNvPr id="7002" name="t7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800" b="1" dirty="0">
                <a:solidFill>
                  <a:srgbClr val="E8C96D"/>
                </a:solidFill>
                <a:latin typeface="Times New Roman"/>
                <a:cs typeface="Times New Roman"/>
              </a:rPr>
              <a:t>React + Leaflet · Single Source of Truth</a:t>
            </a:r>
          </a:p>
        </p:txBody>
      </p:sp>
      <p:sp>
        <p:nvSpPr>
          <p:cNvPr id="7003" name="s7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04" name="t7004"/>
          <p:cNvSpPr txBox="1"/>
          <p:nvPr/>
        </p:nvSpPr>
        <p:spPr>
          <a:xfrm>
            <a:off x="762000" y="25400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DATA FLOW</a:t>
            </a:r>
          </a:p>
        </p:txBody>
      </p:sp>
      <p:sp>
        <p:nvSpPr>
          <p:cNvPr id="7005" name="s7005"/>
          <p:cNvSpPr/>
          <p:nvPr/>
        </p:nvSpPr>
        <p:spPr>
          <a:xfrm>
            <a:off x="762000" y="2819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06" name="s7006"/>
          <p:cNvSpPr/>
          <p:nvPr/>
        </p:nvSpPr>
        <p:spPr>
          <a:xfrm>
            <a:off x="762000" y="3048000"/>
            <a:ext cx="3048000" cy="711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07" name="t7007"/>
          <p:cNvSpPr txBox="1"/>
          <p:nvPr/>
        </p:nvSpPr>
        <p:spPr>
          <a:xfrm>
            <a:off x="952500" y="31496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WebSocket Client</a:t>
            </a:r>
          </a:p>
        </p:txBody>
      </p:sp>
      <p:sp>
        <p:nvSpPr>
          <p:cNvPr id="7008" name="t7008"/>
          <p:cNvSpPr txBox="1"/>
          <p:nvPr/>
        </p:nvSpPr>
        <p:spPr>
          <a:xfrm>
            <a:off x="952500" y="3429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Subscribes to backend WSS</a:t>
            </a:r>
          </a:p>
        </p:txBody>
      </p:sp>
      <p:sp>
        <p:nvSpPr>
          <p:cNvPr id="7009" name="s7009"/>
          <p:cNvSpPr/>
          <p:nvPr/>
        </p:nvSpPr>
        <p:spPr>
          <a:xfrm>
            <a:off x="2095500" y="3784600"/>
            <a:ext cx="381000" cy="279400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0" name="s7010"/>
          <p:cNvSpPr/>
          <p:nvPr/>
        </p:nvSpPr>
        <p:spPr>
          <a:xfrm>
            <a:off x="762000" y="4140200"/>
            <a:ext cx="3048000" cy="711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1" name="t7011"/>
          <p:cNvSpPr txBox="1"/>
          <p:nvPr/>
        </p:nvSpPr>
        <p:spPr>
          <a:xfrm>
            <a:off x="952500" y="42418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DroneContext</a:t>
            </a:r>
          </a:p>
        </p:txBody>
      </p:sp>
      <p:sp>
        <p:nvSpPr>
          <p:cNvPr id="7012" name="t7012"/>
          <p:cNvSpPr txBox="1"/>
          <p:nvPr/>
        </p:nvSpPr>
        <p:spPr>
          <a:xfrm>
            <a:off x="952500" y="45212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Centralized React state (provider)</a:t>
            </a:r>
          </a:p>
        </p:txBody>
      </p:sp>
      <p:sp>
        <p:nvSpPr>
          <p:cNvPr id="7013" name="s7013"/>
          <p:cNvSpPr/>
          <p:nvPr/>
        </p:nvSpPr>
        <p:spPr>
          <a:xfrm>
            <a:off x="2095500" y="4876800"/>
            <a:ext cx="381000" cy="279400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4" name="s7014"/>
          <p:cNvSpPr/>
          <p:nvPr/>
        </p:nvSpPr>
        <p:spPr>
          <a:xfrm>
            <a:off x="762000" y="5232400"/>
            <a:ext cx="3048000" cy="711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5" name="t7015"/>
          <p:cNvSpPr txBox="1"/>
          <p:nvPr/>
        </p:nvSpPr>
        <p:spPr>
          <a:xfrm>
            <a:off x="952500" y="53340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UI Components</a:t>
            </a:r>
          </a:p>
        </p:txBody>
      </p:sp>
      <p:sp>
        <p:nvSpPr>
          <p:cNvPr id="7016" name="t7016"/>
          <p:cNvSpPr txBox="1"/>
          <p:nvPr/>
        </p:nvSpPr>
        <p:spPr>
          <a:xfrm>
            <a:off x="952500" y="5613400"/>
            <a:ext cx="279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Map · Alert Feed · Command Panel</a:t>
            </a:r>
          </a:p>
        </p:txBody>
      </p:sp>
      <p:sp>
        <p:nvSpPr>
          <p:cNvPr id="7017" name="s7017"/>
          <p:cNvSpPr/>
          <p:nvPr/>
        </p:nvSpPr>
        <p:spPr>
          <a:xfrm>
            <a:off x="4318000" y="2540000"/>
            <a:ext cx="7112000" cy="355600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8" name="s7018"/>
          <p:cNvSpPr/>
          <p:nvPr/>
        </p:nvSpPr>
        <p:spPr>
          <a:xfrm>
            <a:off x="4318000" y="2540000"/>
            <a:ext cx="7112000" cy="330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19" name="s7019"/>
          <p:cNvSpPr/>
          <p:nvPr/>
        </p:nvSpPr>
        <p:spPr>
          <a:xfrm>
            <a:off x="4445000" y="26543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0" name="s7020"/>
          <p:cNvSpPr/>
          <p:nvPr/>
        </p:nvSpPr>
        <p:spPr>
          <a:xfrm>
            <a:off x="4597400" y="2654300"/>
            <a:ext cx="101600" cy="1016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1" name="s7021"/>
          <p:cNvSpPr/>
          <p:nvPr/>
        </p:nvSpPr>
        <p:spPr>
          <a:xfrm>
            <a:off x="4749800" y="2654300"/>
            <a:ext cx="101600" cy="1016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2" name="t7022"/>
          <p:cNvSpPr txBox="1"/>
          <p:nvPr/>
        </p:nvSpPr>
        <p:spPr>
          <a:xfrm>
            <a:off x="5080000" y="2603500"/>
            <a:ext cx="558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Eqaab GCS  /  Live Operations</a:t>
            </a:r>
          </a:p>
        </p:txBody>
      </p:sp>
      <p:sp>
        <p:nvSpPr>
          <p:cNvPr id="7023" name="s7023"/>
          <p:cNvSpPr/>
          <p:nvPr/>
        </p:nvSpPr>
        <p:spPr>
          <a:xfrm>
            <a:off x="4445000" y="2971800"/>
            <a:ext cx="4064000" cy="29972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4" name="s7024"/>
          <p:cNvSpPr/>
          <p:nvPr/>
        </p:nvSpPr>
        <p:spPr>
          <a:xfrm>
            <a:off x="4445000" y="3571240"/>
            <a:ext cx="4064000" cy="254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5" name="s7025"/>
          <p:cNvSpPr/>
          <p:nvPr/>
        </p:nvSpPr>
        <p:spPr>
          <a:xfrm>
            <a:off x="5257800" y="2971800"/>
            <a:ext cx="2540" cy="29972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6" name="s7026"/>
          <p:cNvSpPr/>
          <p:nvPr/>
        </p:nvSpPr>
        <p:spPr>
          <a:xfrm>
            <a:off x="4445000" y="4170680"/>
            <a:ext cx="4064000" cy="254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7" name="s7027"/>
          <p:cNvSpPr/>
          <p:nvPr/>
        </p:nvSpPr>
        <p:spPr>
          <a:xfrm>
            <a:off x="6070600" y="2971800"/>
            <a:ext cx="2540" cy="29972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8" name="s7028"/>
          <p:cNvSpPr/>
          <p:nvPr/>
        </p:nvSpPr>
        <p:spPr>
          <a:xfrm>
            <a:off x="4445000" y="4770120"/>
            <a:ext cx="4064000" cy="254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29" name="s7029"/>
          <p:cNvSpPr/>
          <p:nvPr/>
        </p:nvSpPr>
        <p:spPr>
          <a:xfrm>
            <a:off x="6883400" y="2971800"/>
            <a:ext cx="2540" cy="29972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0" name="s7030"/>
          <p:cNvSpPr/>
          <p:nvPr/>
        </p:nvSpPr>
        <p:spPr>
          <a:xfrm>
            <a:off x="4445000" y="5369560"/>
            <a:ext cx="4064000" cy="254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1" name="s7031"/>
          <p:cNvSpPr/>
          <p:nvPr/>
        </p:nvSpPr>
        <p:spPr>
          <a:xfrm>
            <a:off x="7696200" y="2971800"/>
            <a:ext cx="2540" cy="29972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2" name="s7032"/>
          <p:cNvSpPr/>
          <p:nvPr/>
        </p:nvSpPr>
        <p:spPr>
          <a:xfrm>
            <a:off x="6223000" y="4114800"/>
            <a:ext cx="177800" cy="177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3" name="s7033"/>
          <p:cNvSpPr/>
          <p:nvPr/>
        </p:nvSpPr>
        <p:spPr>
          <a:xfrm>
            <a:off x="6159500" y="4051300"/>
            <a:ext cx="304800" cy="304800"/>
          </a:xfrm>
          <a:prstGeom prst="ellipse">
            <a:avLst/>
          </a:prstGeom>
          <a:noFill/>
          <a:ln w="635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4" name="s7034"/>
          <p:cNvSpPr/>
          <p:nvPr/>
        </p:nvSpPr>
        <p:spPr>
          <a:xfrm>
            <a:off x="7239000" y="4876800"/>
            <a:ext cx="177800" cy="177800"/>
          </a:xfrm>
          <a:prstGeom prst="diamond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5" name="s7035"/>
          <p:cNvSpPr/>
          <p:nvPr/>
        </p:nvSpPr>
        <p:spPr>
          <a:xfrm>
            <a:off x="4826000" y="3352800"/>
            <a:ext cx="3302000" cy="2235200"/>
          </a:xfrm>
          <a:prstGeom prst="rect">
            <a:avLst/>
          </a:prstGeom>
          <a:noFill/>
          <a:ln w="635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6" name="t7036"/>
          <p:cNvSpPr txBox="1"/>
          <p:nvPr/>
        </p:nvSpPr>
        <p:spPr>
          <a:xfrm>
            <a:off x="4546600" y="3073400"/>
            <a:ext cx="38608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LIVE MAP  ·  LEAFLET.JS</a:t>
            </a:r>
          </a:p>
        </p:txBody>
      </p:sp>
      <p:sp>
        <p:nvSpPr>
          <p:cNvPr id="7037" name="s7037"/>
          <p:cNvSpPr/>
          <p:nvPr/>
        </p:nvSpPr>
        <p:spPr>
          <a:xfrm>
            <a:off x="8636000" y="2971800"/>
            <a:ext cx="2667000" cy="2997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38" name="t7038"/>
          <p:cNvSpPr txBox="1"/>
          <p:nvPr/>
        </p:nvSpPr>
        <p:spPr>
          <a:xfrm>
            <a:off x="8763000" y="3073400"/>
            <a:ext cx="241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ALERT FEED</a:t>
            </a:r>
          </a:p>
        </p:txBody>
      </p:sp>
      <p:sp>
        <p:nvSpPr>
          <p:cNvPr id="7039" name="s7039"/>
          <p:cNvSpPr/>
          <p:nvPr/>
        </p:nvSpPr>
        <p:spPr>
          <a:xfrm>
            <a:off x="8763000" y="3276600"/>
            <a:ext cx="381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40" name="s7040"/>
          <p:cNvSpPr/>
          <p:nvPr/>
        </p:nvSpPr>
        <p:spPr>
          <a:xfrm>
            <a:off x="8737600" y="3403600"/>
            <a:ext cx="2463800" cy="55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41" name="s7041"/>
          <p:cNvSpPr/>
          <p:nvPr/>
        </p:nvSpPr>
        <p:spPr>
          <a:xfrm>
            <a:off x="8737600" y="3403600"/>
            <a:ext cx="38100" cy="55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42" name="t7042"/>
          <p:cNvSpPr txBox="1"/>
          <p:nvPr/>
        </p:nvSpPr>
        <p:spPr>
          <a:xfrm>
            <a:off x="8864600" y="34544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200" dirty="0">
                <a:solidFill>
                  <a:srgbClr val="C9A84C"/>
                </a:solidFill>
                <a:latin typeface="Times New Roman"/>
                <a:cs typeface="Times New Roman"/>
              </a:rPr>
              <a:t>UNKNOWN</a:t>
            </a:r>
          </a:p>
        </p:txBody>
      </p:sp>
      <p:sp>
        <p:nvSpPr>
          <p:cNvPr id="7043" name="t7043"/>
          <p:cNvSpPr txBox="1"/>
          <p:nvPr/>
        </p:nvSpPr>
        <p:spPr>
          <a:xfrm>
            <a:off x="8864600" y="36576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dirty="0">
                <a:solidFill>
                  <a:srgbClr val="F5F5F5"/>
                </a:solidFill>
                <a:latin typeface="Times New Roman"/>
                <a:cs typeface="Times New Roman"/>
              </a:rPr>
              <a:t>drone · 0.91</a:t>
            </a:r>
          </a:p>
        </p:txBody>
      </p:sp>
      <p:sp>
        <p:nvSpPr>
          <p:cNvPr id="7044" name="t7044"/>
          <p:cNvSpPr txBox="1"/>
          <p:nvPr/>
        </p:nvSpPr>
        <p:spPr>
          <a:xfrm>
            <a:off x="8864600" y="3835400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/>
                <a:cs typeface="Times New Roman"/>
              </a:rPr>
              <a:t>12:34:56</a:t>
            </a:r>
          </a:p>
        </p:txBody>
      </p:sp>
      <p:sp>
        <p:nvSpPr>
          <p:cNvPr id="7045" name="s7045"/>
          <p:cNvSpPr/>
          <p:nvPr/>
        </p:nvSpPr>
        <p:spPr>
          <a:xfrm>
            <a:off x="8737600" y="4064000"/>
            <a:ext cx="2463800" cy="55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46" name="s7046"/>
          <p:cNvSpPr/>
          <p:nvPr/>
        </p:nvSpPr>
        <p:spPr>
          <a:xfrm>
            <a:off x="8737600" y="4064000"/>
            <a:ext cx="38100" cy="5588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47" name="t7047"/>
          <p:cNvSpPr txBox="1"/>
          <p:nvPr/>
        </p:nvSpPr>
        <p:spPr>
          <a:xfrm>
            <a:off x="8864600" y="41148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200" dirty="0">
                <a:solidFill>
                  <a:srgbClr val="8C7430"/>
                </a:solidFill>
                <a:latin typeface="Times New Roman"/>
                <a:cs typeface="Times New Roman"/>
              </a:rPr>
              <a:t>FRIENDLY</a:t>
            </a:r>
          </a:p>
        </p:txBody>
      </p:sp>
      <p:sp>
        <p:nvSpPr>
          <p:cNvPr id="7048" name="t7048"/>
          <p:cNvSpPr txBox="1"/>
          <p:nvPr/>
        </p:nvSpPr>
        <p:spPr>
          <a:xfrm>
            <a:off x="8864600" y="43180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dirty="0">
                <a:solidFill>
                  <a:srgbClr val="F5F5F5"/>
                </a:solidFill>
                <a:latin typeface="Times New Roman"/>
                <a:cs typeface="Times New Roman"/>
              </a:rPr>
              <a:t>drone · 0.78</a:t>
            </a:r>
          </a:p>
        </p:txBody>
      </p:sp>
      <p:sp>
        <p:nvSpPr>
          <p:cNvPr id="7049" name="t7049"/>
          <p:cNvSpPr txBox="1"/>
          <p:nvPr/>
        </p:nvSpPr>
        <p:spPr>
          <a:xfrm>
            <a:off x="8864600" y="4495800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/>
                <a:cs typeface="Times New Roman"/>
              </a:rPr>
              <a:t>12:31:22</a:t>
            </a:r>
          </a:p>
        </p:txBody>
      </p:sp>
      <p:sp>
        <p:nvSpPr>
          <p:cNvPr id="7050" name="s7050"/>
          <p:cNvSpPr/>
          <p:nvPr/>
        </p:nvSpPr>
        <p:spPr>
          <a:xfrm>
            <a:off x="8737600" y="4724400"/>
            <a:ext cx="2463800" cy="55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51" name="s7051"/>
          <p:cNvSpPr/>
          <p:nvPr/>
        </p:nvSpPr>
        <p:spPr>
          <a:xfrm>
            <a:off x="8737600" y="4724400"/>
            <a:ext cx="38100" cy="55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7052" name="t7052"/>
          <p:cNvSpPr txBox="1"/>
          <p:nvPr/>
        </p:nvSpPr>
        <p:spPr>
          <a:xfrm>
            <a:off x="8864600" y="47752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200" dirty="0">
                <a:solidFill>
                  <a:srgbClr val="C9A84C"/>
                </a:solidFill>
                <a:latin typeface="Times New Roman"/>
                <a:cs typeface="Times New Roman"/>
              </a:rPr>
              <a:t>UNKNOWN</a:t>
            </a:r>
          </a:p>
        </p:txBody>
      </p:sp>
      <p:sp>
        <p:nvSpPr>
          <p:cNvPr id="7053" name="t7053"/>
          <p:cNvSpPr txBox="1"/>
          <p:nvPr/>
        </p:nvSpPr>
        <p:spPr>
          <a:xfrm>
            <a:off x="8864600" y="4978400"/>
            <a:ext cx="228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dirty="0">
                <a:solidFill>
                  <a:srgbClr val="F5F5F5"/>
                </a:solidFill>
                <a:latin typeface="Times New Roman"/>
                <a:cs typeface="Times New Roman"/>
              </a:rPr>
              <a:t>person · 0.69</a:t>
            </a:r>
          </a:p>
        </p:txBody>
      </p:sp>
      <p:sp>
        <p:nvSpPr>
          <p:cNvPr id="7054" name="t7054"/>
          <p:cNvSpPr txBox="1"/>
          <p:nvPr/>
        </p:nvSpPr>
        <p:spPr>
          <a:xfrm>
            <a:off x="8864600" y="5156200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/>
                <a:cs typeface="Times New Roman"/>
              </a:rPr>
              <a:t>12:28:04</a:t>
            </a:r>
          </a:p>
        </p:txBody>
      </p:sp>
    </p:spTree>
    <p:extLst>
      <p:ext uri="{BB962C8B-B14F-4D97-AF65-F5344CB8AC3E}">
        <p14:creationId xmlns:p14="http://schemas.microsoft.com/office/powerpoint/2010/main" val="425077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1" name="t8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03  ·  HARDWARE</a:t>
            </a:r>
          </a:p>
        </p:txBody>
      </p:sp>
      <p:sp>
        <p:nvSpPr>
          <p:cNvPr id="8002" name="t8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Component Inventory</a:t>
            </a:r>
          </a:p>
        </p:txBody>
      </p:sp>
      <p:sp>
        <p:nvSpPr>
          <p:cNvPr id="8003" name="s8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04" name="t8004"/>
          <p:cNvSpPr txBox="1"/>
          <p:nvPr/>
        </p:nvSpPr>
        <p:spPr>
          <a:xfrm>
            <a:off x="762000" y="25400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COMPONENT</a:t>
            </a:r>
          </a:p>
        </p:txBody>
      </p:sp>
      <p:sp>
        <p:nvSpPr>
          <p:cNvPr id="8005" name="t8005"/>
          <p:cNvSpPr txBox="1"/>
          <p:nvPr/>
        </p:nvSpPr>
        <p:spPr>
          <a:xfrm>
            <a:off x="2667000" y="2540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MODEL / PART</a:t>
            </a:r>
          </a:p>
        </p:txBody>
      </p:sp>
      <p:sp>
        <p:nvSpPr>
          <p:cNvPr id="8006" name="t8006"/>
          <p:cNvSpPr txBox="1"/>
          <p:nvPr/>
        </p:nvSpPr>
        <p:spPr>
          <a:xfrm>
            <a:off x="4953000" y="2540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KEY SPEC</a:t>
            </a:r>
          </a:p>
        </p:txBody>
      </p:sp>
      <p:sp>
        <p:nvSpPr>
          <p:cNvPr id="8007" name="t8007"/>
          <p:cNvSpPr txBox="1"/>
          <p:nvPr/>
        </p:nvSpPr>
        <p:spPr>
          <a:xfrm>
            <a:off x="7620000" y="2540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ROLE IN SYSTEM</a:t>
            </a:r>
          </a:p>
        </p:txBody>
      </p:sp>
      <p:sp>
        <p:nvSpPr>
          <p:cNvPr id="8008" name="s8008"/>
          <p:cNvSpPr/>
          <p:nvPr/>
        </p:nvSpPr>
        <p:spPr>
          <a:xfrm>
            <a:off x="762000" y="2844800"/>
            <a:ext cx="10668000" cy="76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09" name="s8009"/>
          <p:cNvSpPr/>
          <p:nvPr/>
        </p:nvSpPr>
        <p:spPr>
          <a:xfrm>
            <a:off x="762000" y="2921000"/>
            <a:ext cx="10668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10" name="t8010"/>
          <p:cNvSpPr txBox="1"/>
          <p:nvPr/>
        </p:nvSpPr>
        <p:spPr>
          <a:xfrm>
            <a:off x="762000" y="30480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Flight Controller</a:t>
            </a:r>
          </a:p>
        </p:txBody>
      </p:sp>
      <p:sp>
        <p:nvSpPr>
          <p:cNvPr id="8011" name="t8011"/>
          <p:cNvSpPr txBox="1"/>
          <p:nvPr/>
        </p:nvSpPr>
        <p:spPr>
          <a:xfrm>
            <a:off x="2667000" y="30480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Pixhawk (PX4)</a:t>
            </a:r>
          </a:p>
        </p:txBody>
      </p:sp>
      <p:sp>
        <p:nvSpPr>
          <p:cNvPr id="8012" name="t8012"/>
          <p:cNvSpPr txBox="1"/>
          <p:nvPr/>
        </p:nvSpPr>
        <p:spPr>
          <a:xfrm>
            <a:off x="4953000" y="30480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32-bit · IMU + Baro</a:t>
            </a:r>
          </a:p>
        </p:txBody>
      </p:sp>
      <p:sp>
        <p:nvSpPr>
          <p:cNvPr id="8013" name="t8013"/>
          <p:cNvSpPr txBox="1"/>
          <p:nvPr/>
        </p:nvSpPr>
        <p:spPr>
          <a:xfrm>
            <a:off x="7620000" y="30480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Low-level stabilization &amp; motor control</a:t>
            </a:r>
          </a:p>
        </p:txBody>
      </p:sp>
      <p:sp>
        <p:nvSpPr>
          <p:cNvPr id="8014" name="t8014"/>
          <p:cNvSpPr txBox="1"/>
          <p:nvPr/>
        </p:nvSpPr>
        <p:spPr>
          <a:xfrm>
            <a:off x="762000" y="3530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Companion Compute</a:t>
            </a:r>
          </a:p>
        </p:txBody>
      </p:sp>
      <p:sp>
        <p:nvSpPr>
          <p:cNvPr id="8015" name="t8015"/>
          <p:cNvSpPr txBox="1"/>
          <p:nvPr/>
        </p:nvSpPr>
        <p:spPr>
          <a:xfrm>
            <a:off x="2667000" y="35306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Raspberry Pi 5</a:t>
            </a:r>
          </a:p>
        </p:txBody>
      </p:sp>
      <p:sp>
        <p:nvSpPr>
          <p:cNvPr id="8016" name="t8016"/>
          <p:cNvSpPr txBox="1"/>
          <p:nvPr/>
        </p:nvSpPr>
        <p:spPr>
          <a:xfrm>
            <a:off x="4953000" y="35306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Quad-core ARM · 8 GB RAM</a:t>
            </a:r>
          </a:p>
        </p:txBody>
      </p:sp>
      <p:sp>
        <p:nvSpPr>
          <p:cNvPr id="8017" name="t8017"/>
          <p:cNvSpPr txBox="1"/>
          <p:nvPr/>
        </p:nvSpPr>
        <p:spPr>
          <a:xfrm>
            <a:off x="7620000" y="35306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Runs ROS 2 nodes + YOLOv8 inference</a:t>
            </a:r>
          </a:p>
        </p:txBody>
      </p:sp>
      <p:sp>
        <p:nvSpPr>
          <p:cNvPr id="8018" name="s8018"/>
          <p:cNvSpPr/>
          <p:nvPr/>
        </p:nvSpPr>
        <p:spPr>
          <a:xfrm>
            <a:off x="762000" y="3886200"/>
            <a:ext cx="10668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19" name="t8019"/>
          <p:cNvSpPr txBox="1"/>
          <p:nvPr/>
        </p:nvSpPr>
        <p:spPr>
          <a:xfrm>
            <a:off x="762000" y="40132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Vision Sensor</a:t>
            </a:r>
          </a:p>
        </p:txBody>
      </p:sp>
      <p:sp>
        <p:nvSpPr>
          <p:cNvPr id="8020" name="t8020"/>
          <p:cNvSpPr txBox="1"/>
          <p:nvPr/>
        </p:nvSpPr>
        <p:spPr>
          <a:xfrm>
            <a:off x="2667000" y="40132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Pi Camera Module</a:t>
            </a:r>
          </a:p>
        </p:txBody>
      </p:sp>
      <p:sp>
        <p:nvSpPr>
          <p:cNvPr id="8021" name="t8021"/>
          <p:cNvSpPr txBox="1"/>
          <p:nvPr/>
        </p:nvSpPr>
        <p:spPr>
          <a:xfrm>
            <a:off x="4953000" y="40132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1080p @ 30 fps</a:t>
            </a:r>
          </a:p>
        </p:txBody>
      </p:sp>
      <p:sp>
        <p:nvSpPr>
          <p:cNvPr id="8022" name="t8022"/>
          <p:cNvSpPr txBox="1"/>
          <p:nvPr/>
        </p:nvSpPr>
        <p:spPr>
          <a:xfrm>
            <a:off x="7620000" y="40132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Source frames for detection pipeline</a:t>
            </a:r>
          </a:p>
        </p:txBody>
      </p:sp>
      <p:sp>
        <p:nvSpPr>
          <p:cNvPr id="8023" name="t8023"/>
          <p:cNvSpPr txBox="1"/>
          <p:nvPr/>
        </p:nvSpPr>
        <p:spPr>
          <a:xfrm>
            <a:off x="762000" y="44958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Localization</a:t>
            </a:r>
          </a:p>
        </p:txBody>
      </p:sp>
      <p:sp>
        <p:nvSpPr>
          <p:cNvPr id="8024" name="t8024"/>
          <p:cNvSpPr txBox="1"/>
          <p:nvPr/>
        </p:nvSpPr>
        <p:spPr>
          <a:xfrm>
            <a:off x="2667000" y="4495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GPS Module</a:t>
            </a:r>
          </a:p>
        </p:txBody>
      </p:sp>
      <p:sp>
        <p:nvSpPr>
          <p:cNvPr id="8025" name="t8025"/>
          <p:cNvSpPr txBox="1"/>
          <p:nvPr/>
        </p:nvSpPr>
        <p:spPr>
          <a:xfrm>
            <a:off x="4953000" y="44958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u-blox · 1 Hz NMEA</a:t>
            </a:r>
          </a:p>
        </p:txBody>
      </p:sp>
      <p:sp>
        <p:nvSpPr>
          <p:cNvPr id="8026" name="t8026"/>
          <p:cNvSpPr txBox="1"/>
          <p:nvPr/>
        </p:nvSpPr>
        <p:spPr>
          <a:xfrm>
            <a:off x="7620000" y="44958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Provides position for fused track output</a:t>
            </a:r>
          </a:p>
        </p:txBody>
      </p:sp>
      <p:sp>
        <p:nvSpPr>
          <p:cNvPr id="8027" name="s8027"/>
          <p:cNvSpPr/>
          <p:nvPr/>
        </p:nvSpPr>
        <p:spPr>
          <a:xfrm>
            <a:off x="762000" y="4851400"/>
            <a:ext cx="10668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28" name="t8028"/>
          <p:cNvSpPr txBox="1"/>
          <p:nvPr/>
        </p:nvSpPr>
        <p:spPr>
          <a:xfrm>
            <a:off x="762000" y="49784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Comms Link</a:t>
            </a:r>
          </a:p>
        </p:txBody>
      </p:sp>
      <p:sp>
        <p:nvSpPr>
          <p:cNvPr id="8029" name="t8029"/>
          <p:cNvSpPr txBox="1"/>
          <p:nvPr/>
        </p:nvSpPr>
        <p:spPr>
          <a:xfrm>
            <a:off x="2667000" y="49784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4G LTE Dongle</a:t>
            </a:r>
          </a:p>
        </p:txBody>
      </p:sp>
      <p:sp>
        <p:nvSpPr>
          <p:cNvPr id="8030" name="t8030"/>
          <p:cNvSpPr txBox="1"/>
          <p:nvPr/>
        </p:nvSpPr>
        <p:spPr>
          <a:xfrm>
            <a:off x="4953000" y="49784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USB · global coverage</a:t>
            </a:r>
          </a:p>
        </p:txBody>
      </p:sp>
      <p:sp>
        <p:nvSpPr>
          <p:cNvPr id="8031" name="t8031"/>
          <p:cNvSpPr txBox="1"/>
          <p:nvPr/>
        </p:nvSpPr>
        <p:spPr>
          <a:xfrm>
            <a:off x="7620000" y="49784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Outbound WSS to backend</a:t>
            </a:r>
          </a:p>
        </p:txBody>
      </p:sp>
      <p:sp>
        <p:nvSpPr>
          <p:cNvPr id="8032" name="t8032"/>
          <p:cNvSpPr txBox="1"/>
          <p:nvPr/>
        </p:nvSpPr>
        <p:spPr>
          <a:xfrm>
            <a:off x="762000" y="54610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Power</a:t>
            </a:r>
          </a:p>
        </p:txBody>
      </p:sp>
      <p:sp>
        <p:nvSpPr>
          <p:cNvPr id="8033" name="t8033"/>
          <p:cNvSpPr txBox="1"/>
          <p:nvPr/>
        </p:nvSpPr>
        <p:spPr>
          <a:xfrm>
            <a:off x="2667000" y="54610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LiPo Battery</a:t>
            </a:r>
          </a:p>
        </p:txBody>
      </p:sp>
      <p:sp>
        <p:nvSpPr>
          <p:cNvPr id="8034" name="t8034"/>
          <p:cNvSpPr txBox="1"/>
          <p:nvPr/>
        </p:nvSpPr>
        <p:spPr>
          <a:xfrm>
            <a:off x="4953000" y="54610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4S / 5000 mAh</a:t>
            </a:r>
          </a:p>
        </p:txBody>
      </p:sp>
      <p:sp>
        <p:nvSpPr>
          <p:cNvPr id="8035" name="t8035"/>
          <p:cNvSpPr txBox="1"/>
          <p:nvPr/>
        </p:nvSpPr>
        <p:spPr>
          <a:xfrm>
            <a:off x="7620000" y="54610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~15 min flight endurance</a:t>
            </a:r>
          </a:p>
        </p:txBody>
      </p:sp>
      <p:sp>
        <p:nvSpPr>
          <p:cNvPr id="8036" name="s8036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037" name="t8037"/>
          <p:cNvSpPr txBox="1"/>
          <p:nvPr/>
        </p:nvSpPr>
        <p:spPr>
          <a:xfrm>
            <a:off x="762000" y="5943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Manual Override</a:t>
            </a:r>
          </a:p>
        </p:txBody>
      </p:sp>
      <p:sp>
        <p:nvSpPr>
          <p:cNvPr id="8038" name="t8038"/>
          <p:cNvSpPr txBox="1"/>
          <p:nvPr/>
        </p:nvSpPr>
        <p:spPr>
          <a:xfrm>
            <a:off x="2667000" y="59436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RC Receiver</a:t>
            </a:r>
          </a:p>
        </p:txBody>
      </p:sp>
      <p:sp>
        <p:nvSpPr>
          <p:cNvPr id="8039" name="t8039"/>
          <p:cNvSpPr txBox="1"/>
          <p:nvPr/>
        </p:nvSpPr>
        <p:spPr>
          <a:xfrm>
            <a:off x="4953000" y="59436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2.4 GHz</a:t>
            </a:r>
          </a:p>
        </p:txBody>
      </p:sp>
      <p:sp>
        <p:nvSpPr>
          <p:cNvPr id="8040" name="t8040"/>
          <p:cNvSpPr txBox="1"/>
          <p:nvPr/>
        </p:nvSpPr>
        <p:spPr>
          <a:xfrm>
            <a:off x="7620000" y="5943600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Pilot can take control at any time</a:t>
            </a:r>
          </a:p>
        </p:txBody>
      </p:sp>
    </p:spTree>
    <p:extLst>
      <p:ext uri="{BB962C8B-B14F-4D97-AF65-F5344CB8AC3E}">
        <p14:creationId xmlns:p14="http://schemas.microsoft.com/office/powerpoint/2010/main" val="158007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t9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03  ·  PHYSICAL BUILD</a:t>
            </a:r>
          </a:p>
        </p:txBody>
      </p:sp>
      <p:sp>
        <p:nvSpPr>
          <p:cNvPr id="9002" name="t9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Assembly &amp; Integration</a:t>
            </a:r>
          </a:p>
        </p:txBody>
      </p:sp>
      <p:sp>
        <p:nvSpPr>
          <p:cNvPr id="9003" name="s9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04" name="s9004"/>
          <p:cNvSpPr/>
          <p:nvPr/>
        </p:nvSpPr>
        <p:spPr>
          <a:xfrm>
            <a:off x="762000" y="2476500"/>
            <a:ext cx="6858000" cy="3873500"/>
          </a:xfrm>
          <a:prstGeom prst="rect">
            <a:avLst/>
          </a:prstGeom>
          <a:solidFill>
            <a:srgbClr val="0A0A0A"/>
          </a:solidFill>
          <a:ln w="19050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05" name="s9005"/>
          <p:cNvSpPr/>
          <p:nvPr/>
        </p:nvSpPr>
        <p:spPr>
          <a:xfrm>
            <a:off x="3810000" y="4095750"/>
            <a:ext cx="762000" cy="508000"/>
          </a:xfrm>
          <a:prstGeom prst="roundRect">
            <a:avLst/>
          </a:prstGeom>
          <a:noFill/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06" name="s9006"/>
          <p:cNvSpPr/>
          <p:nvPr/>
        </p:nvSpPr>
        <p:spPr>
          <a:xfrm>
            <a:off x="4064000" y="4222750"/>
            <a:ext cx="254000" cy="254000"/>
          </a:xfrm>
          <a:prstGeom prst="ellipse">
            <a:avLst/>
          </a:prstGeom>
          <a:noFill/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07" name="t9007"/>
          <p:cNvSpPr txBox="1"/>
          <p:nvPr/>
        </p:nvSpPr>
        <p:spPr>
          <a:xfrm>
            <a:off x="762000" y="4794250"/>
            <a:ext cx="685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INSERT BUILD PHOTO</a:t>
            </a:r>
          </a:p>
        </p:txBody>
      </p:sp>
      <p:sp>
        <p:nvSpPr>
          <p:cNvPr id="9008" name="t9008"/>
          <p:cNvSpPr txBox="1"/>
          <p:nvPr/>
        </p:nvSpPr>
        <p:spPr>
          <a:xfrm>
            <a:off x="762000" y="5111750"/>
            <a:ext cx="685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Recommended: 1920×1080  ·  top-down or 3/4 view of fully-assembled drone</a:t>
            </a:r>
          </a:p>
        </p:txBody>
      </p:sp>
      <p:sp>
        <p:nvSpPr>
          <p:cNvPr id="9009" name="t9009"/>
          <p:cNvSpPr txBox="1"/>
          <p:nvPr/>
        </p:nvSpPr>
        <p:spPr>
          <a:xfrm>
            <a:off x="7874000" y="24765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ANNOTATIONS</a:t>
            </a:r>
          </a:p>
        </p:txBody>
      </p:sp>
      <p:sp>
        <p:nvSpPr>
          <p:cNvPr id="9010" name="s9010"/>
          <p:cNvSpPr/>
          <p:nvPr/>
        </p:nvSpPr>
        <p:spPr>
          <a:xfrm>
            <a:off x="7874000" y="27559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11" name="s9011"/>
          <p:cNvSpPr/>
          <p:nvPr/>
        </p:nvSpPr>
        <p:spPr>
          <a:xfrm>
            <a:off x="7874000" y="29845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12" name="t9012"/>
          <p:cNvSpPr txBox="1"/>
          <p:nvPr/>
        </p:nvSpPr>
        <p:spPr>
          <a:xfrm>
            <a:off x="7874000" y="30226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9013" name="t9013"/>
          <p:cNvSpPr txBox="1"/>
          <p:nvPr/>
        </p:nvSpPr>
        <p:spPr>
          <a:xfrm>
            <a:off x="8305800" y="29972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Pixhawk PX4</a:t>
            </a:r>
          </a:p>
        </p:txBody>
      </p:sp>
      <p:sp>
        <p:nvSpPr>
          <p:cNvPr id="9014" name="t9014"/>
          <p:cNvSpPr txBox="1"/>
          <p:nvPr/>
        </p:nvSpPr>
        <p:spPr>
          <a:xfrm>
            <a:off x="8305800" y="32131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center plate, vibration-damped</a:t>
            </a:r>
          </a:p>
        </p:txBody>
      </p:sp>
      <p:sp>
        <p:nvSpPr>
          <p:cNvPr id="9015" name="s9015"/>
          <p:cNvSpPr/>
          <p:nvPr/>
        </p:nvSpPr>
        <p:spPr>
          <a:xfrm>
            <a:off x="7874000" y="35179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16" name="t9016"/>
          <p:cNvSpPr txBox="1"/>
          <p:nvPr/>
        </p:nvSpPr>
        <p:spPr>
          <a:xfrm>
            <a:off x="7874000" y="35560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9017" name="t9017"/>
          <p:cNvSpPr txBox="1"/>
          <p:nvPr/>
        </p:nvSpPr>
        <p:spPr>
          <a:xfrm>
            <a:off x="8305800" y="35306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Raspberry Pi 5</a:t>
            </a:r>
          </a:p>
        </p:txBody>
      </p:sp>
      <p:sp>
        <p:nvSpPr>
          <p:cNvPr id="9018" name="t9018"/>
          <p:cNvSpPr txBox="1"/>
          <p:nvPr/>
        </p:nvSpPr>
        <p:spPr>
          <a:xfrm>
            <a:off x="8305800" y="37465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mounted aft with heatsink + fan</a:t>
            </a:r>
          </a:p>
        </p:txBody>
      </p:sp>
      <p:sp>
        <p:nvSpPr>
          <p:cNvPr id="9019" name="s9019"/>
          <p:cNvSpPr/>
          <p:nvPr/>
        </p:nvSpPr>
        <p:spPr>
          <a:xfrm>
            <a:off x="7874000" y="40513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20" name="t9020"/>
          <p:cNvSpPr txBox="1"/>
          <p:nvPr/>
        </p:nvSpPr>
        <p:spPr>
          <a:xfrm>
            <a:off x="7874000" y="40894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9021" name="t9021"/>
          <p:cNvSpPr txBox="1"/>
          <p:nvPr/>
        </p:nvSpPr>
        <p:spPr>
          <a:xfrm>
            <a:off x="8305800" y="40640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Pi Camera</a:t>
            </a:r>
          </a:p>
        </p:txBody>
      </p:sp>
      <p:sp>
        <p:nvSpPr>
          <p:cNvPr id="9022" name="t9022"/>
          <p:cNvSpPr txBox="1"/>
          <p:nvPr/>
        </p:nvSpPr>
        <p:spPr>
          <a:xfrm>
            <a:off x="8305800" y="42799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forward-facing on gimbal mount</a:t>
            </a:r>
          </a:p>
        </p:txBody>
      </p:sp>
      <p:sp>
        <p:nvSpPr>
          <p:cNvPr id="9023" name="s9023"/>
          <p:cNvSpPr/>
          <p:nvPr/>
        </p:nvSpPr>
        <p:spPr>
          <a:xfrm>
            <a:off x="7874000" y="45847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24" name="t9024"/>
          <p:cNvSpPr txBox="1"/>
          <p:nvPr/>
        </p:nvSpPr>
        <p:spPr>
          <a:xfrm>
            <a:off x="7874000" y="46228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9025" name="t9025"/>
          <p:cNvSpPr txBox="1"/>
          <p:nvPr/>
        </p:nvSpPr>
        <p:spPr>
          <a:xfrm>
            <a:off x="8305800" y="4597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GPS antenna</a:t>
            </a:r>
          </a:p>
        </p:txBody>
      </p:sp>
      <p:sp>
        <p:nvSpPr>
          <p:cNvPr id="9026" name="t9026"/>
          <p:cNvSpPr txBox="1"/>
          <p:nvPr/>
        </p:nvSpPr>
        <p:spPr>
          <a:xfrm>
            <a:off x="8305800" y="48133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mast above EMI shielding</a:t>
            </a:r>
          </a:p>
        </p:txBody>
      </p:sp>
      <p:sp>
        <p:nvSpPr>
          <p:cNvPr id="9027" name="s9027"/>
          <p:cNvSpPr/>
          <p:nvPr/>
        </p:nvSpPr>
        <p:spPr>
          <a:xfrm>
            <a:off x="7874000" y="51181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28" name="t9028"/>
          <p:cNvSpPr txBox="1"/>
          <p:nvPr/>
        </p:nvSpPr>
        <p:spPr>
          <a:xfrm>
            <a:off x="7874000" y="51562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9029" name="t9029"/>
          <p:cNvSpPr txBox="1"/>
          <p:nvPr/>
        </p:nvSpPr>
        <p:spPr>
          <a:xfrm>
            <a:off x="8305800" y="51308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4G LTE dongle</a:t>
            </a:r>
          </a:p>
        </p:txBody>
      </p:sp>
      <p:sp>
        <p:nvSpPr>
          <p:cNvPr id="9030" name="t9030"/>
          <p:cNvSpPr txBox="1"/>
          <p:nvPr/>
        </p:nvSpPr>
        <p:spPr>
          <a:xfrm>
            <a:off x="8305800" y="53467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USB to RPi, external antenna</a:t>
            </a:r>
          </a:p>
        </p:txBody>
      </p:sp>
      <p:sp>
        <p:nvSpPr>
          <p:cNvPr id="9031" name="s9031"/>
          <p:cNvSpPr/>
          <p:nvPr/>
        </p:nvSpPr>
        <p:spPr>
          <a:xfrm>
            <a:off x="7874000" y="5651500"/>
            <a:ext cx="330200" cy="330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9032" name="t9032"/>
          <p:cNvSpPr txBox="1"/>
          <p:nvPr/>
        </p:nvSpPr>
        <p:spPr>
          <a:xfrm>
            <a:off x="7874000" y="5689600"/>
            <a:ext cx="3302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0A0A0A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9033" name="t9033"/>
          <p:cNvSpPr txBox="1"/>
          <p:nvPr/>
        </p:nvSpPr>
        <p:spPr>
          <a:xfrm>
            <a:off x="8305800" y="56642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LiPo 4S 5000 mAh</a:t>
            </a:r>
          </a:p>
        </p:txBody>
      </p:sp>
      <p:sp>
        <p:nvSpPr>
          <p:cNvPr id="9034" name="t9034"/>
          <p:cNvSpPr txBox="1"/>
          <p:nvPr/>
        </p:nvSpPr>
        <p:spPr>
          <a:xfrm>
            <a:off x="8305800" y="588010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underbelly with strap retention</a:t>
            </a:r>
          </a:p>
        </p:txBody>
      </p:sp>
    </p:spTree>
    <p:extLst>
      <p:ext uri="{BB962C8B-B14F-4D97-AF65-F5344CB8AC3E}">
        <p14:creationId xmlns:p14="http://schemas.microsoft.com/office/powerpoint/2010/main" val="2862356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" name="t10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03  ·  DESIGN DECISIONS</a:t>
            </a:r>
          </a:p>
        </p:txBody>
      </p:sp>
      <p:sp>
        <p:nvSpPr>
          <p:cNvPr id="10002" name="t10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Why These Components, Not Others</a:t>
            </a:r>
          </a:p>
        </p:txBody>
      </p:sp>
      <p:sp>
        <p:nvSpPr>
          <p:cNvPr id="10003" name="s10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04" name="s10004"/>
          <p:cNvSpPr/>
          <p:nvPr/>
        </p:nvSpPr>
        <p:spPr>
          <a:xfrm>
            <a:off x="762000" y="2540000"/>
            <a:ext cx="3556000" cy="355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05" name="s10005"/>
          <p:cNvSpPr/>
          <p:nvPr/>
        </p:nvSpPr>
        <p:spPr>
          <a:xfrm>
            <a:off x="762000" y="2540000"/>
            <a:ext cx="3556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06" name="t10006"/>
          <p:cNvSpPr txBox="1"/>
          <p:nvPr/>
        </p:nvSpPr>
        <p:spPr>
          <a:xfrm>
            <a:off x="990600" y="2768600"/>
            <a:ext cx="3098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8C96D"/>
                </a:solidFill>
                <a:latin typeface="Times New Roman"/>
                <a:cs typeface="Times New Roman"/>
              </a:rPr>
              <a:t>Why 4G LTE, not Wi-Fi?</a:t>
            </a:r>
          </a:p>
        </p:txBody>
      </p:sp>
      <p:sp>
        <p:nvSpPr>
          <p:cNvPr id="10007" name="s10007"/>
          <p:cNvSpPr/>
          <p:nvPr/>
        </p:nvSpPr>
        <p:spPr>
          <a:xfrm>
            <a:off x="990600" y="3530600"/>
            <a:ext cx="1143000" cy="279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08" name="t10008"/>
          <p:cNvSpPr txBox="1"/>
          <p:nvPr/>
        </p:nvSpPr>
        <p:spPr>
          <a:xfrm>
            <a:off x="990600" y="3556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CHOSEN</a:t>
            </a:r>
          </a:p>
        </p:txBody>
      </p:sp>
      <p:sp>
        <p:nvSpPr>
          <p:cNvPr id="10009" name="t10009"/>
          <p:cNvSpPr txBox="1"/>
          <p:nvPr/>
        </p:nvSpPr>
        <p:spPr>
          <a:xfrm>
            <a:off x="2222500" y="3556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4G LTE Dongle</a:t>
            </a:r>
          </a:p>
        </p:txBody>
      </p:sp>
      <p:sp>
        <p:nvSpPr>
          <p:cNvPr id="10010" name="s10010"/>
          <p:cNvSpPr/>
          <p:nvPr/>
        </p:nvSpPr>
        <p:spPr>
          <a:xfrm>
            <a:off x="990600" y="3911600"/>
            <a:ext cx="1143000" cy="279400"/>
          </a:xfrm>
          <a:prstGeom prst="rect">
            <a:avLst/>
          </a:prstGeom>
          <a:noFill/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11" name="t10011"/>
          <p:cNvSpPr txBox="1"/>
          <p:nvPr/>
        </p:nvSpPr>
        <p:spPr>
          <a:xfrm>
            <a:off x="990600" y="3937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REJECTED</a:t>
            </a:r>
          </a:p>
        </p:txBody>
      </p:sp>
      <p:sp>
        <p:nvSpPr>
          <p:cNvPr id="10012" name="t10012"/>
          <p:cNvSpPr txBox="1"/>
          <p:nvPr/>
        </p:nvSpPr>
        <p:spPr>
          <a:xfrm>
            <a:off x="2222500" y="3937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/>
                <a:cs typeface="Times New Roman"/>
              </a:rPr>
              <a:t>On-site Wi-Fi mesh</a:t>
            </a:r>
          </a:p>
        </p:txBody>
      </p:sp>
      <p:sp>
        <p:nvSpPr>
          <p:cNvPr id="10013" name="s10013"/>
          <p:cNvSpPr/>
          <p:nvPr/>
        </p:nvSpPr>
        <p:spPr>
          <a:xfrm>
            <a:off x="990600" y="43180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14" name="t10014"/>
          <p:cNvSpPr txBox="1"/>
          <p:nvPr/>
        </p:nvSpPr>
        <p:spPr>
          <a:xfrm>
            <a:off x="990600" y="4445000"/>
            <a:ext cx="3098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Wi-Fi range collapses past 300 m and depends on infrastructure. LTE gives unrestricted operating radius wherever cellular reaches — the drone can patrol kilometers from base.</a:t>
            </a:r>
          </a:p>
        </p:txBody>
      </p:sp>
      <p:sp>
        <p:nvSpPr>
          <p:cNvPr id="10015" name="s10015"/>
          <p:cNvSpPr/>
          <p:nvPr/>
        </p:nvSpPr>
        <p:spPr>
          <a:xfrm>
            <a:off x="4445000" y="2540000"/>
            <a:ext cx="3556000" cy="355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16" name="s10016"/>
          <p:cNvSpPr/>
          <p:nvPr/>
        </p:nvSpPr>
        <p:spPr>
          <a:xfrm>
            <a:off x="4445000" y="2540000"/>
            <a:ext cx="3556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17" name="t10017"/>
          <p:cNvSpPr txBox="1"/>
          <p:nvPr/>
        </p:nvSpPr>
        <p:spPr>
          <a:xfrm>
            <a:off x="4673600" y="2768600"/>
            <a:ext cx="3098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8C96D"/>
                </a:solidFill>
                <a:latin typeface="Times New Roman"/>
                <a:cs typeface="Times New Roman"/>
              </a:rPr>
              <a:t>Why Raspberry Pi 5, not Jetson?</a:t>
            </a:r>
          </a:p>
        </p:txBody>
      </p:sp>
      <p:sp>
        <p:nvSpPr>
          <p:cNvPr id="10018" name="s10018"/>
          <p:cNvSpPr/>
          <p:nvPr/>
        </p:nvSpPr>
        <p:spPr>
          <a:xfrm>
            <a:off x="4673600" y="3530600"/>
            <a:ext cx="1143000" cy="279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19" name="t10019"/>
          <p:cNvSpPr txBox="1"/>
          <p:nvPr/>
        </p:nvSpPr>
        <p:spPr>
          <a:xfrm>
            <a:off x="4673600" y="3556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CHOSEN</a:t>
            </a:r>
          </a:p>
        </p:txBody>
      </p:sp>
      <p:sp>
        <p:nvSpPr>
          <p:cNvPr id="10020" name="t10020"/>
          <p:cNvSpPr txBox="1"/>
          <p:nvPr/>
        </p:nvSpPr>
        <p:spPr>
          <a:xfrm>
            <a:off x="5905500" y="3556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Raspberry Pi 5</a:t>
            </a:r>
          </a:p>
        </p:txBody>
      </p:sp>
      <p:sp>
        <p:nvSpPr>
          <p:cNvPr id="10021" name="s10021"/>
          <p:cNvSpPr/>
          <p:nvPr/>
        </p:nvSpPr>
        <p:spPr>
          <a:xfrm>
            <a:off x="4673600" y="3911600"/>
            <a:ext cx="1143000" cy="279400"/>
          </a:xfrm>
          <a:prstGeom prst="rect">
            <a:avLst/>
          </a:prstGeom>
          <a:noFill/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22" name="t10022"/>
          <p:cNvSpPr txBox="1"/>
          <p:nvPr/>
        </p:nvSpPr>
        <p:spPr>
          <a:xfrm>
            <a:off x="4673600" y="3937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REJECTED</a:t>
            </a:r>
          </a:p>
        </p:txBody>
      </p:sp>
      <p:sp>
        <p:nvSpPr>
          <p:cNvPr id="10023" name="t10023"/>
          <p:cNvSpPr txBox="1"/>
          <p:nvPr/>
        </p:nvSpPr>
        <p:spPr>
          <a:xfrm>
            <a:off x="5905500" y="3937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/>
                <a:cs typeface="Times New Roman"/>
              </a:rPr>
              <a:t>NVIDIA Jetson Nano / Orin</a:t>
            </a:r>
          </a:p>
        </p:txBody>
      </p:sp>
      <p:sp>
        <p:nvSpPr>
          <p:cNvPr id="10024" name="s10024"/>
          <p:cNvSpPr/>
          <p:nvPr/>
        </p:nvSpPr>
        <p:spPr>
          <a:xfrm>
            <a:off x="4673600" y="43180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25" name="t10025"/>
          <p:cNvSpPr txBox="1"/>
          <p:nvPr/>
        </p:nvSpPr>
        <p:spPr>
          <a:xfrm>
            <a:off x="4673600" y="4445000"/>
            <a:ext cx="3098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Pi 5 hits 8.3 FPS on YOLOv8n at a fraction of the cost and weight. Jetson's CUDA acceleration is only worth it above ~20 FPS targets — overkill for our alert-driven design.</a:t>
            </a:r>
          </a:p>
        </p:txBody>
      </p:sp>
      <p:sp>
        <p:nvSpPr>
          <p:cNvPr id="10026" name="s10026"/>
          <p:cNvSpPr/>
          <p:nvPr/>
        </p:nvSpPr>
        <p:spPr>
          <a:xfrm>
            <a:off x="8128000" y="2540000"/>
            <a:ext cx="3556000" cy="355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27" name="s10027"/>
          <p:cNvSpPr/>
          <p:nvPr/>
        </p:nvSpPr>
        <p:spPr>
          <a:xfrm>
            <a:off x="8128000" y="2540000"/>
            <a:ext cx="3556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28" name="t10028"/>
          <p:cNvSpPr txBox="1"/>
          <p:nvPr/>
        </p:nvSpPr>
        <p:spPr>
          <a:xfrm>
            <a:off x="8356600" y="2768600"/>
            <a:ext cx="30988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8C96D"/>
                </a:solidFill>
                <a:latin typeface="Times New Roman"/>
                <a:cs typeface="Times New Roman"/>
              </a:rPr>
              <a:t>Why Pixhawk, not a custom flight stack?</a:t>
            </a:r>
          </a:p>
        </p:txBody>
      </p:sp>
      <p:sp>
        <p:nvSpPr>
          <p:cNvPr id="10029" name="s10029"/>
          <p:cNvSpPr/>
          <p:nvPr/>
        </p:nvSpPr>
        <p:spPr>
          <a:xfrm>
            <a:off x="8356600" y="3530600"/>
            <a:ext cx="1143000" cy="279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30" name="t10030"/>
          <p:cNvSpPr txBox="1"/>
          <p:nvPr/>
        </p:nvSpPr>
        <p:spPr>
          <a:xfrm>
            <a:off x="8356600" y="3556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CHOSEN</a:t>
            </a:r>
          </a:p>
        </p:txBody>
      </p:sp>
      <p:sp>
        <p:nvSpPr>
          <p:cNvPr id="10031" name="t10031"/>
          <p:cNvSpPr txBox="1"/>
          <p:nvPr/>
        </p:nvSpPr>
        <p:spPr>
          <a:xfrm>
            <a:off x="9588500" y="3556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Pixhawk + PX4</a:t>
            </a:r>
          </a:p>
        </p:txBody>
      </p:sp>
      <p:sp>
        <p:nvSpPr>
          <p:cNvPr id="10032" name="s10032"/>
          <p:cNvSpPr/>
          <p:nvPr/>
        </p:nvSpPr>
        <p:spPr>
          <a:xfrm>
            <a:off x="8356600" y="3911600"/>
            <a:ext cx="1143000" cy="279400"/>
          </a:xfrm>
          <a:prstGeom prst="rect">
            <a:avLst/>
          </a:prstGeom>
          <a:noFill/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33" name="t10033"/>
          <p:cNvSpPr txBox="1"/>
          <p:nvPr/>
        </p:nvSpPr>
        <p:spPr>
          <a:xfrm>
            <a:off x="8356600" y="39370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666666"/>
                </a:solidFill>
                <a:latin typeface="Times New Roman"/>
                <a:cs typeface="Times New Roman"/>
              </a:rPr>
              <a:t>REJECTED</a:t>
            </a:r>
          </a:p>
        </p:txBody>
      </p:sp>
      <p:sp>
        <p:nvSpPr>
          <p:cNvPr id="10034" name="t10034"/>
          <p:cNvSpPr txBox="1"/>
          <p:nvPr/>
        </p:nvSpPr>
        <p:spPr>
          <a:xfrm>
            <a:off x="9588500" y="3937000"/>
            <a:ext cx="1968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/>
                <a:cs typeface="Times New Roman"/>
              </a:rPr>
              <a:t>Bespoke flight controller</a:t>
            </a:r>
          </a:p>
        </p:txBody>
      </p:sp>
      <p:sp>
        <p:nvSpPr>
          <p:cNvPr id="10035" name="s10035"/>
          <p:cNvSpPr/>
          <p:nvPr/>
        </p:nvSpPr>
        <p:spPr>
          <a:xfrm>
            <a:off x="8356600" y="43180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036" name="t10036"/>
          <p:cNvSpPr txBox="1"/>
          <p:nvPr/>
        </p:nvSpPr>
        <p:spPr>
          <a:xfrm>
            <a:off x="8356600" y="4445000"/>
            <a:ext cx="30988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PX4 has battle-tested stabilization, geofencing, and failsafes built in. Building those from scratch is a graduation project on its own — Pixhawk lets us focus on the AI and ops layer.</a:t>
            </a:r>
          </a:p>
        </p:txBody>
      </p:sp>
    </p:spTree>
    <p:extLst>
      <p:ext uri="{BB962C8B-B14F-4D97-AF65-F5344CB8AC3E}">
        <p14:creationId xmlns:p14="http://schemas.microsoft.com/office/powerpoint/2010/main" val="169466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1" name="t11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04  ·  DETECTION PIPELINE</a:t>
            </a:r>
          </a:p>
        </p:txBody>
      </p:sp>
      <p:sp>
        <p:nvSpPr>
          <p:cNvPr id="11002" name="t11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From Pixels to Geo-Tagged Alerts</a:t>
            </a:r>
          </a:p>
        </p:txBody>
      </p:sp>
      <p:sp>
        <p:nvSpPr>
          <p:cNvPr id="11003" name="s11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04" name="s11004"/>
          <p:cNvSpPr/>
          <p:nvPr/>
        </p:nvSpPr>
        <p:spPr>
          <a:xfrm>
            <a:off x="762000" y="3556000"/>
            <a:ext cx="1270000" cy="762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05" name="t11005"/>
          <p:cNvSpPr txBox="1"/>
          <p:nvPr/>
        </p:nvSpPr>
        <p:spPr>
          <a:xfrm>
            <a:off x="762000" y="3683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CAMERA</a:t>
            </a:r>
          </a:p>
        </p:txBody>
      </p:sp>
      <p:sp>
        <p:nvSpPr>
          <p:cNvPr id="11006" name="t11006"/>
          <p:cNvSpPr txBox="1"/>
          <p:nvPr/>
        </p:nvSpPr>
        <p:spPr>
          <a:xfrm>
            <a:off x="762000" y="39624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Pi Cam · 1080p</a:t>
            </a:r>
          </a:p>
        </p:txBody>
      </p:sp>
      <p:sp>
        <p:nvSpPr>
          <p:cNvPr id="11007" name="s11007"/>
          <p:cNvSpPr/>
          <p:nvPr/>
        </p:nvSpPr>
        <p:spPr>
          <a:xfrm>
            <a:off x="2095500" y="3822700"/>
            <a:ext cx="381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08" name="s11008"/>
          <p:cNvSpPr/>
          <p:nvPr/>
        </p:nvSpPr>
        <p:spPr>
          <a:xfrm>
            <a:off x="2476500" y="3276600"/>
            <a:ext cx="12700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09" name="s11009"/>
          <p:cNvSpPr/>
          <p:nvPr/>
        </p:nvSpPr>
        <p:spPr>
          <a:xfrm>
            <a:off x="2476500" y="3276600"/>
            <a:ext cx="1016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0" name="s11010"/>
          <p:cNvSpPr/>
          <p:nvPr/>
        </p:nvSpPr>
        <p:spPr>
          <a:xfrm>
            <a:off x="2476500" y="4089400"/>
            <a:ext cx="1016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1" name="s11011"/>
          <p:cNvSpPr/>
          <p:nvPr/>
        </p:nvSpPr>
        <p:spPr>
          <a:xfrm>
            <a:off x="2603500" y="2921000"/>
            <a:ext cx="1651000" cy="7620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2" name="t11012"/>
          <p:cNvSpPr txBox="1"/>
          <p:nvPr/>
        </p:nvSpPr>
        <p:spPr>
          <a:xfrm>
            <a:off x="2603500" y="3048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YOLOv8n</a:t>
            </a:r>
          </a:p>
        </p:txBody>
      </p:sp>
      <p:sp>
        <p:nvSpPr>
          <p:cNvPr id="11013" name="t11013"/>
          <p:cNvSpPr txBox="1"/>
          <p:nvPr/>
        </p:nvSpPr>
        <p:spPr>
          <a:xfrm>
            <a:off x="2603500" y="33274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person · vehicle</a:t>
            </a:r>
          </a:p>
        </p:txBody>
      </p:sp>
      <p:sp>
        <p:nvSpPr>
          <p:cNvPr id="11014" name="s11014"/>
          <p:cNvSpPr/>
          <p:nvPr/>
        </p:nvSpPr>
        <p:spPr>
          <a:xfrm>
            <a:off x="2603500" y="4191000"/>
            <a:ext cx="1651000" cy="7620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5" name="t11015"/>
          <p:cNvSpPr txBox="1"/>
          <p:nvPr/>
        </p:nvSpPr>
        <p:spPr>
          <a:xfrm>
            <a:off x="2603500" y="43180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YOLOv8 best.pt</a:t>
            </a:r>
          </a:p>
        </p:txBody>
      </p:sp>
      <p:sp>
        <p:nvSpPr>
          <p:cNvPr id="11016" name="t11016"/>
          <p:cNvSpPr txBox="1"/>
          <p:nvPr/>
        </p:nvSpPr>
        <p:spPr>
          <a:xfrm>
            <a:off x="2603500" y="45974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drone (custom)</a:t>
            </a:r>
          </a:p>
        </p:txBody>
      </p:sp>
      <p:sp>
        <p:nvSpPr>
          <p:cNvPr id="11017" name="s11017"/>
          <p:cNvSpPr/>
          <p:nvPr/>
        </p:nvSpPr>
        <p:spPr>
          <a:xfrm>
            <a:off x="4279900" y="3276600"/>
            <a:ext cx="2286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8" name="s11018"/>
          <p:cNvSpPr/>
          <p:nvPr/>
        </p:nvSpPr>
        <p:spPr>
          <a:xfrm>
            <a:off x="4279900" y="4089400"/>
            <a:ext cx="2286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19" name="s11019"/>
          <p:cNvSpPr/>
          <p:nvPr/>
        </p:nvSpPr>
        <p:spPr>
          <a:xfrm>
            <a:off x="4495800" y="3276600"/>
            <a:ext cx="12700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0" name="s11020"/>
          <p:cNvSpPr/>
          <p:nvPr/>
        </p:nvSpPr>
        <p:spPr>
          <a:xfrm>
            <a:off x="4572000" y="3822700"/>
            <a:ext cx="2794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1" name="s11021"/>
          <p:cNvSpPr/>
          <p:nvPr/>
        </p:nvSpPr>
        <p:spPr>
          <a:xfrm>
            <a:off x="4889500" y="3556000"/>
            <a:ext cx="1206500" cy="762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2" name="t11022"/>
          <p:cNvSpPr txBox="1"/>
          <p:nvPr/>
        </p:nvSpPr>
        <p:spPr>
          <a:xfrm>
            <a:off x="4889500" y="3683000"/>
            <a:ext cx="1206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MERGE</a:t>
            </a:r>
          </a:p>
        </p:txBody>
      </p:sp>
      <p:sp>
        <p:nvSpPr>
          <p:cNvPr id="11023" name="t11023"/>
          <p:cNvSpPr txBox="1"/>
          <p:nvPr/>
        </p:nvSpPr>
        <p:spPr>
          <a:xfrm>
            <a:off x="4889500" y="3962400"/>
            <a:ext cx="1206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NMS @ 0.45</a:t>
            </a:r>
          </a:p>
        </p:txBody>
      </p:sp>
      <p:sp>
        <p:nvSpPr>
          <p:cNvPr id="11024" name="s11024"/>
          <p:cNvSpPr/>
          <p:nvPr/>
        </p:nvSpPr>
        <p:spPr>
          <a:xfrm>
            <a:off x="6159500" y="3822700"/>
            <a:ext cx="3175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5" name="s11025"/>
          <p:cNvSpPr/>
          <p:nvPr/>
        </p:nvSpPr>
        <p:spPr>
          <a:xfrm>
            <a:off x="6540500" y="3556000"/>
            <a:ext cx="1270000" cy="762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6" name="t11026"/>
          <p:cNvSpPr txBox="1"/>
          <p:nvPr/>
        </p:nvSpPr>
        <p:spPr>
          <a:xfrm>
            <a:off x="6540500" y="36830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DeepSORT</a:t>
            </a:r>
          </a:p>
        </p:txBody>
      </p:sp>
      <p:sp>
        <p:nvSpPr>
          <p:cNvPr id="11027" name="t11027"/>
          <p:cNvSpPr txBox="1"/>
          <p:nvPr/>
        </p:nvSpPr>
        <p:spPr>
          <a:xfrm>
            <a:off x="6540500" y="39624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track IDs</a:t>
            </a:r>
          </a:p>
        </p:txBody>
      </p:sp>
      <p:sp>
        <p:nvSpPr>
          <p:cNvPr id="11028" name="s11028"/>
          <p:cNvSpPr/>
          <p:nvPr/>
        </p:nvSpPr>
        <p:spPr>
          <a:xfrm>
            <a:off x="7874000" y="3822700"/>
            <a:ext cx="3175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29" name="s11029"/>
          <p:cNvSpPr/>
          <p:nvPr/>
        </p:nvSpPr>
        <p:spPr>
          <a:xfrm>
            <a:off x="8255000" y="3556000"/>
            <a:ext cx="1397000" cy="762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30" name="t11030"/>
          <p:cNvSpPr txBox="1"/>
          <p:nvPr/>
        </p:nvSpPr>
        <p:spPr>
          <a:xfrm>
            <a:off x="8255000" y="36830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GPS FUSION</a:t>
            </a:r>
          </a:p>
        </p:txBody>
      </p:sp>
      <p:sp>
        <p:nvSpPr>
          <p:cNvPr id="11031" name="t11031"/>
          <p:cNvSpPr txBox="1"/>
          <p:nvPr/>
        </p:nvSpPr>
        <p:spPr>
          <a:xfrm>
            <a:off x="8255000" y="39624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F5F5F5"/>
                </a:solidFill>
                <a:latin typeface="Times New Roman"/>
                <a:cs typeface="Times New Roman"/>
              </a:rPr>
              <a:t>lat / lon / alt</a:t>
            </a:r>
          </a:p>
        </p:txBody>
      </p:sp>
      <p:sp>
        <p:nvSpPr>
          <p:cNvPr id="11032" name="s11032"/>
          <p:cNvSpPr/>
          <p:nvPr/>
        </p:nvSpPr>
        <p:spPr>
          <a:xfrm>
            <a:off x="9715500" y="3822700"/>
            <a:ext cx="3175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33" name="s11033"/>
          <p:cNvSpPr/>
          <p:nvPr/>
        </p:nvSpPr>
        <p:spPr>
          <a:xfrm>
            <a:off x="10096500" y="3556000"/>
            <a:ext cx="1333500" cy="762000"/>
          </a:xfrm>
          <a:prstGeom prst="round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34" name="t11034"/>
          <p:cNvSpPr txBox="1"/>
          <p:nvPr/>
        </p:nvSpPr>
        <p:spPr>
          <a:xfrm>
            <a:off x="10096500" y="36830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0A0A0A"/>
                </a:solidFill>
                <a:latin typeface="Times New Roman"/>
                <a:cs typeface="Times New Roman"/>
              </a:rPr>
              <a:t>ALERT</a:t>
            </a:r>
          </a:p>
        </p:txBody>
      </p:sp>
      <p:sp>
        <p:nvSpPr>
          <p:cNvPr id="11035" name="t11035"/>
          <p:cNvSpPr txBox="1"/>
          <p:nvPr/>
        </p:nvSpPr>
        <p:spPr>
          <a:xfrm>
            <a:off x="10096500" y="39624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dirty="0">
                <a:solidFill>
                  <a:srgbClr val="0A0A0A"/>
                </a:solidFill>
                <a:latin typeface="Times New Roman"/>
                <a:cs typeface="Times New Roman"/>
              </a:rPr>
              <a:t>JSON · WSS</a:t>
            </a:r>
          </a:p>
        </p:txBody>
      </p:sp>
      <p:sp>
        <p:nvSpPr>
          <p:cNvPr id="11036" name="t11036"/>
          <p:cNvSpPr txBox="1"/>
          <p:nvPr/>
        </p:nvSpPr>
        <p:spPr>
          <a:xfrm>
            <a:off x="762000" y="2794000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DUAL-MODEL YOLOv8  ·  PARALLEL INFERENCE  ·  CONFIDENCE ≥ 0.45</a:t>
            </a:r>
          </a:p>
        </p:txBody>
      </p:sp>
      <p:sp>
        <p:nvSpPr>
          <p:cNvPr id="11037" name="s11037"/>
          <p:cNvSpPr/>
          <p:nvPr/>
        </p:nvSpPr>
        <p:spPr>
          <a:xfrm>
            <a:off x="762000" y="4826000"/>
            <a:ext cx="3429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38" name="s11038"/>
          <p:cNvSpPr/>
          <p:nvPr/>
        </p:nvSpPr>
        <p:spPr>
          <a:xfrm>
            <a:off x="762000" y="4826000"/>
            <a:ext cx="381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39" name="t11039"/>
          <p:cNvSpPr txBox="1"/>
          <p:nvPr/>
        </p:nvSpPr>
        <p:spPr>
          <a:xfrm>
            <a:off x="952500" y="49530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Why two models?</a:t>
            </a:r>
          </a:p>
        </p:txBody>
      </p:sp>
      <p:sp>
        <p:nvSpPr>
          <p:cNvPr id="11040" name="t11040"/>
          <p:cNvSpPr txBox="1"/>
          <p:nvPr/>
        </p:nvSpPr>
        <p:spPr>
          <a:xfrm>
            <a:off x="952500" y="5257800"/>
            <a:ext cx="317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5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yolov8n.pt is COCO-pretrained for people/cars. best.pt is custom-trained on drones. Running both in parallel gives full-class coverage without retraining a single combined network.</a:t>
            </a:r>
          </a:p>
        </p:txBody>
      </p:sp>
      <p:sp>
        <p:nvSpPr>
          <p:cNvPr id="11041" name="s11041"/>
          <p:cNvSpPr/>
          <p:nvPr/>
        </p:nvSpPr>
        <p:spPr>
          <a:xfrm>
            <a:off x="4406900" y="4826000"/>
            <a:ext cx="3429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42" name="s11042"/>
          <p:cNvSpPr/>
          <p:nvPr/>
        </p:nvSpPr>
        <p:spPr>
          <a:xfrm>
            <a:off x="4406900" y="4826000"/>
            <a:ext cx="381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43" name="t11043"/>
          <p:cNvSpPr txBox="1"/>
          <p:nvPr/>
        </p:nvSpPr>
        <p:spPr>
          <a:xfrm>
            <a:off x="4597400" y="49530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Why DeepSORT?</a:t>
            </a:r>
          </a:p>
        </p:txBody>
      </p:sp>
      <p:sp>
        <p:nvSpPr>
          <p:cNvPr id="11044" name="t11044"/>
          <p:cNvSpPr txBox="1"/>
          <p:nvPr/>
        </p:nvSpPr>
        <p:spPr>
          <a:xfrm>
            <a:off x="4597400" y="5257800"/>
            <a:ext cx="317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5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Detections alone don't tell you a single drone over time. DeepSORT keeps a stable track ID across frames so we can compute trajectory and emit one alert per object.</a:t>
            </a:r>
          </a:p>
        </p:txBody>
      </p:sp>
      <p:sp>
        <p:nvSpPr>
          <p:cNvPr id="11045" name="s11045"/>
          <p:cNvSpPr/>
          <p:nvPr/>
        </p:nvSpPr>
        <p:spPr>
          <a:xfrm>
            <a:off x="8051800" y="4826000"/>
            <a:ext cx="3429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46" name="s11046"/>
          <p:cNvSpPr/>
          <p:nvPr/>
        </p:nvSpPr>
        <p:spPr>
          <a:xfrm>
            <a:off x="8051800" y="4826000"/>
            <a:ext cx="381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047" name="t11047"/>
          <p:cNvSpPr txBox="1"/>
          <p:nvPr/>
        </p:nvSpPr>
        <p:spPr>
          <a:xfrm>
            <a:off x="8242300" y="49530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Why GPS fusion?</a:t>
            </a:r>
          </a:p>
        </p:txBody>
      </p:sp>
      <p:sp>
        <p:nvSpPr>
          <p:cNvPr id="11048" name="t11048"/>
          <p:cNvSpPr txBox="1"/>
          <p:nvPr/>
        </p:nvSpPr>
        <p:spPr>
          <a:xfrm>
            <a:off x="8242300" y="5257800"/>
            <a:ext cx="317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5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Pixel boxes mean nothing to a ground operator. Fusing the drone's GPS with bounding-box geometry yields a real-world latitude/longitude per track.</a:t>
            </a:r>
          </a:p>
        </p:txBody>
      </p:sp>
    </p:spTree>
    <p:extLst>
      <p:ext uri="{BB962C8B-B14F-4D97-AF65-F5344CB8AC3E}">
        <p14:creationId xmlns:p14="http://schemas.microsoft.com/office/powerpoint/2010/main" val="2608675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1" name="t12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04  ·  DATASET &amp; TRAINING</a:t>
            </a:r>
          </a:p>
        </p:txBody>
      </p:sp>
      <p:sp>
        <p:nvSpPr>
          <p:cNvPr id="12002" name="t12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Building the Custom Drone Detector</a:t>
            </a:r>
          </a:p>
        </p:txBody>
      </p:sp>
      <p:sp>
        <p:nvSpPr>
          <p:cNvPr id="12003" name="s12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04" name="s12004"/>
          <p:cNvSpPr/>
          <p:nvPr/>
        </p:nvSpPr>
        <p:spPr>
          <a:xfrm>
            <a:off x="762000" y="2540000"/>
            <a:ext cx="25400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05" name="s12005"/>
          <p:cNvSpPr/>
          <p:nvPr/>
        </p:nvSpPr>
        <p:spPr>
          <a:xfrm>
            <a:off x="762000" y="2540000"/>
            <a:ext cx="2540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06" name="t12006"/>
          <p:cNvSpPr txBox="1"/>
          <p:nvPr/>
        </p:nvSpPr>
        <p:spPr>
          <a:xfrm>
            <a:off x="762000" y="2730500"/>
            <a:ext cx="254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000" b="1" dirty="0">
                <a:solidFill>
                  <a:srgbClr val="C9A84C"/>
                </a:solidFill>
                <a:latin typeface="Times New Roman"/>
                <a:cs typeface="Times New Roman"/>
              </a:rPr>
              <a:t>5,500</a:t>
            </a:r>
          </a:p>
        </p:txBody>
      </p:sp>
      <p:sp>
        <p:nvSpPr>
          <p:cNvPr id="12007" name="t12007"/>
          <p:cNvSpPr txBox="1"/>
          <p:nvPr/>
        </p:nvSpPr>
        <p:spPr>
          <a:xfrm>
            <a:off x="762000" y="3276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spc="300" dirty="0">
                <a:solidFill>
                  <a:srgbClr val="F5F5F5"/>
                </a:solidFill>
                <a:latin typeface="Times New Roman"/>
                <a:cs typeface="Times New Roman"/>
              </a:rPr>
              <a:t>TOTAL IMAGES</a:t>
            </a:r>
          </a:p>
        </p:txBody>
      </p:sp>
      <p:sp>
        <p:nvSpPr>
          <p:cNvPr id="12008" name="s12008"/>
          <p:cNvSpPr/>
          <p:nvPr/>
        </p:nvSpPr>
        <p:spPr>
          <a:xfrm>
            <a:off x="3492500" y="2540000"/>
            <a:ext cx="25400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09" name="s12009"/>
          <p:cNvSpPr/>
          <p:nvPr/>
        </p:nvSpPr>
        <p:spPr>
          <a:xfrm>
            <a:off x="3492500" y="2540000"/>
            <a:ext cx="2540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10" name="t12010"/>
          <p:cNvSpPr txBox="1"/>
          <p:nvPr/>
        </p:nvSpPr>
        <p:spPr>
          <a:xfrm>
            <a:off x="3492500" y="2730500"/>
            <a:ext cx="254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000" b="1" dirty="0">
                <a:solidFill>
                  <a:srgbClr val="C9A84C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011" name="t12011"/>
          <p:cNvSpPr txBox="1"/>
          <p:nvPr/>
        </p:nvSpPr>
        <p:spPr>
          <a:xfrm>
            <a:off x="3492500" y="3276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spc="300" dirty="0">
                <a:solidFill>
                  <a:srgbClr val="F5F5F5"/>
                </a:solidFill>
                <a:latin typeface="Times New Roman"/>
                <a:cs typeface="Times New Roman"/>
              </a:rPr>
              <a:t>OBJECT CLASSES</a:t>
            </a:r>
          </a:p>
        </p:txBody>
      </p:sp>
      <p:sp>
        <p:nvSpPr>
          <p:cNvPr id="12012" name="s12012"/>
          <p:cNvSpPr/>
          <p:nvPr/>
        </p:nvSpPr>
        <p:spPr>
          <a:xfrm>
            <a:off x="6223000" y="2540000"/>
            <a:ext cx="25400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13" name="s12013"/>
          <p:cNvSpPr/>
          <p:nvPr/>
        </p:nvSpPr>
        <p:spPr>
          <a:xfrm>
            <a:off x="6223000" y="2540000"/>
            <a:ext cx="2540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14" name="t12014"/>
          <p:cNvSpPr txBox="1"/>
          <p:nvPr/>
        </p:nvSpPr>
        <p:spPr>
          <a:xfrm>
            <a:off x="6223000" y="2730500"/>
            <a:ext cx="254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000" b="1" dirty="0">
                <a:solidFill>
                  <a:srgbClr val="C9A84C"/>
                </a:solidFill>
                <a:latin typeface="Times New Roman"/>
                <a:cs typeface="Times New Roman"/>
              </a:rPr>
              <a:t>T4 GPU</a:t>
            </a:r>
          </a:p>
        </p:txBody>
      </p:sp>
      <p:sp>
        <p:nvSpPr>
          <p:cNvPr id="12015" name="t12015"/>
          <p:cNvSpPr txBox="1"/>
          <p:nvPr/>
        </p:nvSpPr>
        <p:spPr>
          <a:xfrm>
            <a:off x="6223000" y="3276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spc="300" dirty="0">
                <a:solidFill>
                  <a:srgbClr val="F5F5F5"/>
                </a:solidFill>
                <a:latin typeface="Times New Roman"/>
                <a:cs typeface="Times New Roman"/>
              </a:rPr>
              <a:t>KAGGLE COMPUTE</a:t>
            </a:r>
          </a:p>
        </p:txBody>
      </p:sp>
      <p:sp>
        <p:nvSpPr>
          <p:cNvPr id="12016" name="s12016"/>
          <p:cNvSpPr/>
          <p:nvPr/>
        </p:nvSpPr>
        <p:spPr>
          <a:xfrm>
            <a:off x="8953500" y="2540000"/>
            <a:ext cx="25400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17" name="s12017"/>
          <p:cNvSpPr/>
          <p:nvPr/>
        </p:nvSpPr>
        <p:spPr>
          <a:xfrm>
            <a:off x="8953500" y="2540000"/>
            <a:ext cx="2540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18" name="t12018"/>
          <p:cNvSpPr txBox="1"/>
          <p:nvPr/>
        </p:nvSpPr>
        <p:spPr>
          <a:xfrm>
            <a:off x="8953500" y="2730500"/>
            <a:ext cx="254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000" b="1" dirty="0">
                <a:solidFill>
                  <a:srgbClr val="C9A84C"/>
                </a:solidFill>
                <a:latin typeface="Times New Roman"/>
                <a:cs typeface="Times New Roman"/>
              </a:rPr>
              <a:t>Roboflow</a:t>
            </a:r>
          </a:p>
        </p:txBody>
      </p:sp>
      <p:sp>
        <p:nvSpPr>
          <p:cNvPr id="12019" name="t12019"/>
          <p:cNvSpPr txBox="1"/>
          <p:nvPr/>
        </p:nvSpPr>
        <p:spPr>
          <a:xfrm>
            <a:off x="8953500" y="3276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spc="300" dirty="0">
                <a:solidFill>
                  <a:srgbClr val="F5F5F5"/>
                </a:solidFill>
                <a:latin typeface="Times New Roman"/>
                <a:cs typeface="Times New Roman"/>
              </a:rPr>
              <a:t>ANNOTATION TOOL</a:t>
            </a:r>
          </a:p>
        </p:txBody>
      </p:sp>
      <p:sp>
        <p:nvSpPr>
          <p:cNvPr id="12020" name="t12020"/>
          <p:cNvSpPr txBox="1"/>
          <p:nvPr/>
        </p:nvSpPr>
        <p:spPr>
          <a:xfrm>
            <a:off x="762000" y="40640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CLASS DISTRIBUTION</a:t>
            </a:r>
          </a:p>
        </p:txBody>
      </p:sp>
      <p:sp>
        <p:nvSpPr>
          <p:cNvPr id="12021" name="s12021"/>
          <p:cNvSpPr/>
          <p:nvPr/>
        </p:nvSpPr>
        <p:spPr>
          <a:xfrm>
            <a:off x="762000" y="4343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22" name="t12022"/>
          <p:cNvSpPr txBox="1"/>
          <p:nvPr/>
        </p:nvSpPr>
        <p:spPr>
          <a:xfrm>
            <a:off x="762000" y="4622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drone</a:t>
            </a:r>
          </a:p>
        </p:txBody>
      </p:sp>
      <p:sp>
        <p:nvSpPr>
          <p:cNvPr id="12023" name="s12023"/>
          <p:cNvSpPr/>
          <p:nvPr/>
        </p:nvSpPr>
        <p:spPr>
          <a:xfrm>
            <a:off x="1905000" y="4622800"/>
            <a:ext cx="3556000" cy="279400"/>
          </a:xfrm>
          <a:prstGeom prst="rect">
            <a:avLst/>
          </a:prstGeom>
          <a:solidFill>
            <a:srgbClr val="0A0A0A"/>
          </a:solidFill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24" name="s12024"/>
          <p:cNvSpPr/>
          <p:nvPr/>
        </p:nvSpPr>
        <p:spPr>
          <a:xfrm>
            <a:off x="1905000" y="4622800"/>
            <a:ext cx="3556000" cy="279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25" name="t12025"/>
          <p:cNvSpPr txBox="1"/>
          <p:nvPr/>
        </p:nvSpPr>
        <p:spPr>
          <a:xfrm>
            <a:off x="5562600" y="46482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2400</a:t>
            </a:r>
          </a:p>
        </p:txBody>
      </p:sp>
      <p:sp>
        <p:nvSpPr>
          <p:cNvPr id="12026" name="t12026"/>
          <p:cNvSpPr txBox="1"/>
          <p:nvPr/>
        </p:nvSpPr>
        <p:spPr>
          <a:xfrm>
            <a:off x="762000" y="51816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person</a:t>
            </a:r>
          </a:p>
        </p:txBody>
      </p:sp>
      <p:sp>
        <p:nvSpPr>
          <p:cNvPr id="12027" name="s12027"/>
          <p:cNvSpPr/>
          <p:nvPr/>
        </p:nvSpPr>
        <p:spPr>
          <a:xfrm>
            <a:off x="1905000" y="5181600"/>
            <a:ext cx="3556000" cy="279400"/>
          </a:xfrm>
          <a:prstGeom prst="rect">
            <a:avLst/>
          </a:prstGeom>
          <a:solidFill>
            <a:srgbClr val="0A0A0A"/>
          </a:solidFill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28" name="s12028"/>
          <p:cNvSpPr/>
          <p:nvPr/>
        </p:nvSpPr>
        <p:spPr>
          <a:xfrm>
            <a:off x="1905000" y="5181600"/>
            <a:ext cx="2518833" cy="27940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29" name="t12029"/>
          <p:cNvSpPr txBox="1"/>
          <p:nvPr/>
        </p:nvSpPr>
        <p:spPr>
          <a:xfrm>
            <a:off x="4525433" y="52070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1700</a:t>
            </a:r>
          </a:p>
        </p:txBody>
      </p:sp>
      <p:sp>
        <p:nvSpPr>
          <p:cNvPr id="12030" name="t12030"/>
          <p:cNvSpPr txBox="1"/>
          <p:nvPr/>
        </p:nvSpPr>
        <p:spPr>
          <a:xfrm>
            <a:off x="762000" y="57404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car</a:t>
            </a:r>
          </a:p>
        </p:txBody>
      </p:sp>
      <p:sp>
        <p:nvSpPr>
          <p:cNvPr id="12031" name="s12031"/>
          <p:cNvSpPr/>
          <p:nvPr/>
        </p:nvSpPr>
        <p:spPr>
          <a:xfrm>
            <a:off x="1905000" y="5740400"/>
            <a:ext cx="3556000" cy="279400"/>
          </a:xfrm>
          <a:prstGeom prst="rect">
            <a:avLst/>
          </a:prstGeom>
          <a:solidFill>
            <a:srgbClr val="0A0A0A"/>
          </a:solidFill>
          <a:ln w="6350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32" name="s12032"/>
          <p:cNvSpPr/>
          <p:nvPr/>
        </p:nvSpPr>
        <p:spPr>
          <a:xfrm>
            <a:off x="1905000" y="5740400"/>
            <a:ext cx="2074333" cy="2794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33" name="t12033"/>
          <p:cNvSpPr txBox="1"/>
          <p:nvPr/>
        </p:nvSpPr>
        <p:spPr>
          <a:xfrm>
            <a:off x="4080933" y="5765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1400</a:t>
            </a:r>
          </a:p>
        </p:txBody>
      </p:sp>
      <p:sp>
        <p:nvSpPr>
          <p:cNvPr id="12034" name="t12034"/>
          <p:cNvSpPr txBox="1"/>
          <p:nvPr/>
        </p:nvSpPr>
        <p:spPr>
          <a:xfrm>
            <a:off x="6477000" y="40640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AUGMENTATION &amp; TRAINING</a:t>
            </a:r>
          </a:p>
        </p:txBody>
      </p:sp>
      <p:sp>
        <p:nvSpPr>
          <p:cNvPr id="12035" name="s12035"/>
          <p:cNvSpPr/>
          <p:nvPr/>
        </p:nvSpPr>
        <p:spPr>
          <a:xfrm>
            <a:off x="6477000" y="4343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36" name="s12036"/>
          <p:cNvSpPr/>
          <p:nvPr/>
        </p:nvSpPr>
        <p:spPr>
          <a:xfrm>
            <a:off x="6477000" y="46736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37" name="t12037"/>
          <p:cNvSpPr txBox="1"/>
          <p:nvPr/>
        </p:nvSpPr>
        <p:spPr>
          <a:xfrm>
            <a:off x="6705600" y="4597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Mosaic</a:t>
            </a:r>
          </a:p>
        </p:txBody>
      </p:sp>
      <p:sp>
        <p:nvSpPr>
          <p:cNvPr id="12038" name="t12038"/>
          <p:cNvSpPr txBox="1"/>
          <p:nvPr/>
        </p:nvSpPr>
        <p:spPr>
          <a:xfrm>
            <a:off x="6705600" y="48514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4-image composite per training step</a:t>
            </a:r>
          </a:p>
        </p:txBody>
      </p:sp>
      <p:sp>
        <p:nvSpPr>
          <p:cNvPr id="12039" name="s12039"/>
          <p:cNvSpPr/>
          <p:nvPr/>
        </p:nvSpPr>
        <p:spPr>
          <a:xfrm>
            <a:off x="6477000" y="52324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40" name="t12040"/>
          <p:cNvSpPr txBox="1"/>
          <p:nvPr/>
        </p:nvSpPr>
        <p:spPr>
          <a:xfrm>
            <a:off x="6705600" y="5156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Random scale &amp; flip</a:t>
            </a:r>
          </a:p>
        </p:txBody>
      </p:sp>
      <p:sp>
        <p:nvSpPr>
          <p:cNvPr id="12041" name="t12041"/>
          <p:cNvSpPr txBox="1"/>
          <p:nvPr/>
        </p:nvSpPr>
        <p:spPr>
          <a:xfrm>
            <a:off x="6705600" y="54102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horizontal flip + ±50% scale</a:t>
            </a:r>
          </a:p>
        </p:txBody>
      </p:sp>
      <p:sp>
        <p:nvSpPr>
          <p:cNvPr id="12042" name="s12042"/>
          <p:cNvSpPr/>
          <p:nvPr/>
        </p:nvSpPr>
        <p:spPr>
          <a:xfrm>
            <a:off x="6477000" y="57912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43" name="t12043"/>
          <p:cNvSpPr txBox="1"/>
          <p:nvPr/>
        </p:nvSpPr>
        <p:spPr>
          <a:xfrm>
            <a:off x="6705600" y="57150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HSV jitter</a:t>
            </a:r>
          </a:p>
        </p:txBody>
      </p:sp>
      <p:sp>
        <p:nvSpPr>
          <p:cNvPr id="12044" name="t12044"/>
          <p:cNvSpPr txBox="1"/>
          <p:nvPr/>
        </p:nvSpPr>
        <p:spPr>
          <a:xfrm>
            <a:off x="6705600" y="59690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robustness to lighting / weather</a:t>
            </a:r>
          </a:p>
        </p:txBody>
      </p:sp>
      <p:sp>
        <p:nvSpPr>
          <p:cNvPr id="12045" name="s12045"/>
          <p:cNvSpPr/>
          <p:nvPr/>
        </p:nvSpPr>
        <p:spPr>
          <a:xfrm>
            <a:off x="6477000" y="63500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46" name="t12046"/>
          <p:cNvSpPr txBox="1"/>
          <p:nvPr/>
        </p:nvSpPr>
        <p:spPr>
          <a:xfrm>
            <a:off x="6705600" y="62738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100 epochs</a:t>
            </a:r>
          </a:p>
        </p:txBody>
      </p:sp>
      <p:sp>
        <p:nvSpPr>
          <p:cNvPr id="12047" name="t12047"/>
          <p:cNvSpPr txBox="1"/>
          <p:nvPr/>
        </p:nvSpPr>
        <p:spPr>
          <a:xfrm>
            <a:off x="6705600" y="65278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AdamW · batch 16 · img 640</a:t>
            </a:r>
          </a:p>
        </p:txBody>
      </p:sp>
    </p:spTree>
    <p:extLst>
      <p:ext uri="{BB962C8B-B14F-4D97-AF65-F5344CB8AC3E}">
        <p14:creationId xmlns:p14="http://schemas.microsoft.com/office/powerpoint/2010/main" val="1665718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1" name="t13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04  ·  MODEL PERFORMANCE</a:t>
            </a:r>
          </a:p>
        </p:txBody>
      </p:sp>
      <p:sp>
        <p:nvSpPr>
          <p:cNvPr id="13002" name="t13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Validation Metrics on Held-Out Set</a:t>
            </a:r>
          </a:p>
        </p:txBody>
      </p:sp>
      <p:sp>
        <p:nvSpPr>
          <p:cNvPr id="13003" name="s13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04" name="s13004"/>
          <p:cNvSpPr/>
          <p:nvPr/>
        </p:nvSpPr>
        <p:spPr>
          <a:xfrm>
            <a:off x="762000" y="2476500"/>
            <a:ext cx="2540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05" name="s13005"/>
          <p:cNvSpPr/>
          <p:nvPr/>
        </p:nvSpPr>
        <p:spPr>
          <a:xfrm>
            <a:off x="762000" y="2476500"/>
            <a:ext cx="508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06" name="t13006"/>
          <p:cNvSpPr txBox="1"/>
          <p:nvPr/>
        </p:nvSpPr>
        <p:spPr>
          <a:xfrm>
            <a:off x="762000" y="27051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dirty="0">
                <a:solidFill>
                  <a:srgbClr val="C9A84C"/>
                </a:solidFill>
                <a:latin typeface="Times New Roman"/>
                <a:cs typeface="Times New Roman"/>
              </a:rPr>
              <a:t>94.3%</a:t>
            </a:r>
          </a:p>
        </p:txBody>
      </p:sp>
      <p:sp>
        <p:nvSpPr>
          <p:cNvPr id="13007" name="t13007"/>
          <p:cNvSpPr txBox="1"/>
          <p:nvPr/>
        </p:nvSpPr>
        <p:spPr>
          <a:xfrm>
            <a:off x="762000" y="3467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spc="300" dirty="0">
                <a:solidFill>
                  <a:srgbClr val="F5F5F5"/>
                </a:solidFill>
                <a:latin typeface="Times New Roman"/>
                <a:cs typeface="Times New Roman"/>
              </a:rPr>
              <a:t>mAP@50</a:t>
            </a:r>
          </a:p>
        </p:txBody>
      </p:sp>
      <p:sp>
        <p:nvSpPr>
          <p:cNvPr id="13008" name="s13008"/>
          <p:cNvSpPr/>
          <p:nvPr/>
        </p:nvSpPr>
        <p:spPr>
          <a:xfrm>
            <a:off x="3492500" y="2476500"/>
            <a:ext cx="2540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09" name="s13009"/>
          <p:cNvSpPr/>
          <p:nvPr/>
        </p:nvSpPr>
        <p:spPr>
          <a:xfrm>
            <a:off x="3492500" y="2476500"/>
            <a:ext cx="508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10" name="t13010"/>
          <p:cNvSpPr txBox="1"/>
          <p:nvPr/>
        </p:nvSpPr>
        <p:spPr>
          <a:xfrm>
            <a:off x="3492500" y="27051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dirty="0">
                <a:solidFill>
                  <a:srgbClr val="C9A84C"/>
                </a:solidFill>
                <a:latin typeface="Times New Roman"/>
                <a:cs typeface="Times New Roman"/>
              </a:rPr>
              <a:t>91.7%</a:t>
            </a:r>
          </a:p>
        </p:txBody>
      </p:sp>
      <p:sp>
        <p:nvSpPr>
          <p:cNvPr id="13011" name="t13011"/>
          <p:cNvSpPr txBox="1"/>
          <p:nvPr/>
        </p:nvSpPr>
        <p:spPr>
          <a:xfrm>
            <a:off x="3492500" y="3467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spc="300" dirty="0">
                <a:solidFill>
                  <a:srgbClr val="F5F5F5"/>
                </a:solidFill>
                <a:latin typeface="Times New Roman"/>
                <a:cs typeface="Times New Roman"/>
              </a:rPr>
              <a:t>PRECISION</a:t>
            </a:r>
          </a:p>
        </p:txBody>
      </p:sp>
      <p:sp>
        <p:nvSpPr>
          <p:cNvPr id="13012" name="s13012"/>
          <p:cNvSpPr/>
          <p:nvPr/>
        </p:nvSpPr>
        <p:spPr>
          <a:xfrm>
            <a:off x="6223000" y="2476500"/>
            <a:ext cx="2540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13" name="s13013"/>
          <p:cNvSpPr/>
          <p:nvPr/>
        </p:nvSpPr>
        <p:spPr>
          <a:xfrm>
            <a:off x="6223000" y="2476500"/>
            <a:ext cx="508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14" name="t13014"/>
          <p:cNvSpPr txBox="1"/>
          <p:nvPr/>
        </p:nvSpPr>
        <p:spPr>
          <a:xfrm>
            <a:off x="6223000" y="27051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dirty="0">
                <a:solidFill>
                  <a:srgbClr val="C9A84C"/>
                </a:solidFill>
                <a:latin typeface="Times New Roman"/>
                <a:cs typeface="Times New Roman"/>
              </a:rPr>
              <a:t>89.2%</a:t>
            </a:r>
          </a:p>
        </p:txBody>
      </p:sp>
      <p:sp>
        <p:nvSpPr>
          <p:cNvPr id="13015" name="t13015"/>
          <p:cNvSpPr txBox="1"/>
          <p:nvPr/>
        </p:nvSpPr>
        <p:spPr>
          <a:xfrm>
            <a:off x="6223000" y="3467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spc="300" dirty="0">
                <a:solidFill>
                  <a:srgbClr val="F5F5F5"/>
                </a:solidFill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13016" name="s13016"/>
          <p:cNvSpPr/>
          <p:nvPr/>
        </p:nvSpPr>
        <p:spPr>
          <a:xfrm>
            <a:off x="8953500" y="2476500"/>
            <a:ext cx="2540000" cy="139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17" name="s13017"/>
          <p:cNvSpPr/>
          <p:nvPr/>
        </p:nvSpPr>
        <p:spPr>
          <a:xfrm>
            <a:off x="8953500" y="2476500"/>
            <a:ext cx="50800" cy="139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18" name="t13018"/>
          <p:cNvSpPr txBox="1"/>
          <p:nvPr/>
        </p:nvSpPr>
        <p:spPr>
          <a:xfrm>
            <a:off x="8953500" y="27051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4000" b="1" dirty="0">
                <a:solidFill>
                  <a:srgbClr val="C9A84C"/>
                </a:solidFill>
                <a:latin typeface="Times New Roman"/>
                <a:cs typeface="Times New Roman"/>
              </a:rPr>
              <a:t>8.3</a:t>
            </a:r>
          </a:p>
        </p:txBody>
      </p:sp>
      <p:sp>
        <p:nvSpPr>
          <p:cNvPr id="13019" name="t13019"/>
          <p:cNvSpPr txBox="1"/>
          <p:nvPr/>
        </p:nvSpPr>
        <p:spPr>
          <a:xfrm>
            <a:off x="8953500" y="34671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spc="300" dirty="0">
                <a:solidFill>
                  <a:srgbClr val="F5F5F5"/>
                </a:solidFill>
                <a:latin typeface="Times New Roman"/>
                <a:cs typeface="Times New Roman"/>
              </a:rPr>
              <a:t>FPS @ RPi 5</a:t>
            </a:r>
          </a:p>
        </p:txBody>
      </p:sp>
      <p:sp>
        <p:nvSpPr>
          <p:cNvPr id="13020" name="s13020"/>
          <p:cNvSpPr/>
          <p:nvPr/>
        </p:nvSpPr>
        <p:spPr>
          <a:xfrm>
            <a:off x="762000" y="4127500"/>
            <a:ext cx="6858000" cy="2222500"/>
          </a:xfrm>
          <a:prstGeom prst="rect">
            <a:avLst/>
          </a:prstGeom>
          <a:solidFill>
            <a:srgbClr val="0A0A0A"/>
          </a:solidFill>
          <a:ln w="12700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21" name="s13021"/>
          <p:cNvSpPr/>
          <p:nvPr/>
        </p:nvSpPr>
        <p:spPr>
          <a:xfrm>
            <a:off x="1143000" y="6032500"/>
            <a:ext cx="6223000" cy="76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22" name="s13022"/>
          <p:cNvSpPr/>
          <p:nvPr/>
        </p:nvSpPr>
        <p:spPr>
          <a:xfrm>
            <a:off x="1143000" y="4318000"/>
            <a:ext cx="7620" cy="1714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1" name="s13031"/>
          <p:cNvSpPr/>
          <p:nvPr/>
        </p:nvSpPr>
        <p:spPr>
          <a:xfrm>
            <a:off x="1117600" y="567690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2" name="s13032"/>
          <p:cNvSpPr/>
          <p:nvPr/>
        </p:nvSpPr>
        <p:spPr>
          <a:xfrm>
            <a:off x="1879600" y="526415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3" name="s13033"/>
          <p:cNvSpPr/>
          <p:nvPr/>
        </p:nvSpPr>
        <p:spPr>
          <a:xfrm>
            <a:off x="2641600" y="498348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4" name="s13034"/>
          <p:cNvSpPr/>
          <p:nvPr/>
        </p:nvSpPr>
        <p:spPr>
          <a:xfrm>
            <a:off x="3403600" y="478536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5" name="s13035"/>
          <p:cNvSpPr/>
          <p:nvPr/>
        </p:nvSpPr>
        <p:spPr>
          <a:xfrm>
            <a:off x="4165600" y="465328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6" name="s13036"/>
          <p:cNvSpPr/>
          <p:nvPr/>
        </p:nvSpPr>
        <p:spPr>
          <a:xfrm>
            <a:off x="4927600" y="457073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7" name="s13037"/>
          <p:cNvSpPr/>
          <p:nvPr/>
        </p:nvSpPr>
        <p:spPr>
          <a:xfrm>
            <a:off x="5689600" y="450469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8" name="s13038"/>
          <p:cNvSpPr/>
          <p:nvPr/>
        </p:nvSpPr>
        <p:spPr>
          <a:xfrm>
            <a:off x="6451600" y="447167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39" name="s13039"/>
          <p:cNvSpPr/>
          <p:nvPr/>
        </p:nvSpPr>
        <p:spPr>
          <a:xfrm>
            <a:off x="7213600" y="4455160"/>
            <a:ext cx="50800" cy="508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48" name="s13048"/>
          <p:cNvSpPr/>
          <p:nvPr/>
        </p:nvSpPr>
        <p:spPr>
          <a:xfrm>
            <a:off x="1117600" y="575945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49" name="s13049"/>
          <p:cNvSpPr/>
          <p:nvPr/>
        </p:nvSpPr>
        <p:spPr>
          <a:xfrm>
            <a:off x="1879600" y="534670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0" name="s13050"/>
          <p:cNvSpPr/>
          <p:nvPr/>
        </p:nvSpPr>
        <p:spPr>
          <a:xfrm>
            <a:off x="2641600" y="504952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1" name="s13051"/>
          <p:cNvSpPr/>
          <p:nvPr/>
        </p:nvSpPr>
        <p:spPr>
          <a:xfrm>
            <a:off x="3403600" y="485140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2" name="s13052"/>
          <p:cNvSpPr/>
          <p:nvPr/>
        </p:nvSpPr>
        <p:spPr>
          <a:xfrm>
            <a:off x="4165600" y="471932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3" name="s13053"/>
          <p:cNvSpPr/>
          <p:nvPr/>
        </p:nvSpPr>
        <p:spPr>
          <a:xfrm>
            <a:off x="4927600" y="463677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4" name="s13054"/>
          <p:cNvSpPr/>
          <p:nvPr/>
        </p:nvSpPr>
        <p:spPr>
          <a:xfrm>
            <a:off x="5689600" y="458724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5" name="s13055"/>
          <p:cNvSpPr/>
          <p:nvPr/>
        </p:nvSpPr>
        <p:spPr>
          <a:xfrm>
            <a:off x="6451600" y="455422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6" name="s13056"/>
          <p:cNvSpPr/>
          <p:nvPr/>
        </p:nvSpPr>
        <p:spPr>
          <a:xfrm>
            <a:off x="7213600" y="4537710"/>
            <a:ext cx="50800" cy="50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57" name="t13057"/>
          <p:cNvSpPr txBox="1"/>
          <p:nvPr/>
        </p:nvSpPr>
        <p:spPr>
          <a:xfrm>
            <a:off x="952500" y="4254500"/>
            <a:ext cx="6477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TRAINING CURVES (PLACEHOLDER)</a:t>
            </a:r>
          </a:p>
        </p:txBody>
      </p:sp>
      <p:sp>
        <p:nvSpPr>
          <p:cNvPr id="13058" name="t13058"/>
          <p:cNvSpPr txBox="1"/>
          <p:nvPr/>
        </p:nvSpPr>
        <p:spPr>
          <a:xfrm>
            <a:off x="952500" y="61214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/>
                <a:cs typeface="Times New Roman"/>
              </a:rPr>
              <a:t>epochs →</a:t>
            </a:r>
          </a:p>
        </p:txBody>
      </p:sp>
      <p:sp>
        <p:nvSpPr>
          <p:cNvPr id="13059" name="s13059"/>
          <p:cNvSpPr/>
          <p:nvPr/>
        </p:nvSpPr>
        <p:spPr>
          <a:xfrm>
            <a:off x="5588000" y="43561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60" name="t13060"/>
          <p:cNvSpPr txBox="1"/>
          <p:nvPr/>
        </p:nvSpPr>
        <p:spPr>
          <a:xfrm>
            <a:off x="5740400" y="4292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dirty="0">
                <a:solidFill>
                  <a:srgbClr val="F5F5F5"/>
                </a:solidFill>
                <a:latin typeface="Times New Roman"/>
                <a:cs typeface="Times New Roman"/>
              </a:rPr>
              <a:t>mAP@50</a:t>
            </a:r>
          </a:p>
        </p:txBody>
      </p:sp>
      <p:sp>
        <p:nvSpPr>
          <p:cNvPr id="13061" name="s13061"/>
          <p:cNvSpPr/>
          <p:nvPr/>
        </p:nvSpPr>
        <p:spPr>
          <a:xfrm>
            <a:off x="6604000" y="4356100"/>
            <a:ext cx="76200" cy="762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62" name="t13062"/>
          <p:cNvSpPr txBox="1"/>
          <p:nvPr/>
        </p:nvSpPr>
        <p:spPr>
          <a:xfrm>
            <a:off x="6756400" y="4292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dirty="0">
                <a:solidFill>
                  <a:srgbClr val="F5F5F5"/>
                </a:solidFill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13063" name="t13063"/>
          <p:cNvSpPr txBox="1"/>
          <p:nvPr/>
        </p:nvSpPr>
        <p:spPr>
          <a:xfrm>
            <a:off x="7874000" y="4127500"/>
            <a:ext cx="355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PER-CLASS mAP@50</a:t>
            </a:r>
          </a:p>
        </p:txBody>
      </p:sp>
      <p:sp>
        <p:nvSpPr>
          <p:cNvPr id="13064" name="s13064"/>
          <p:cNvSpPr/>
          <p:nvPr/>
        </p:nvSpPr>
        <p:spPr>
          <a:xfrm>
            <a:off x="7874000" y="44069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65" name="s13065"/>
          <p:cNvSpPr/>
          <p:nvPr/>
        </p:nvSpPr>
        <p:spPr>
          <a:xfrm>
            <a:off x="7874000" y="4635500"/>
            <a:ext cx="3556000" cy="406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66" name="s13066"/>
          <p:cNvSpPr/>
          <p:nvPr/>
        </p:nvSpPr>
        <p:spPr>
          <a:xfrm>
            <a:off x="7874000" y="4635500"/>
            <a:ext cx="38100" cy="406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67" name="t13067"/>
          <p:cNvSpPr txBox="1"/>
          <p:nvPr/>
        </p:nvSpPr>
        <p:spPr>
          <a:xfrm>
            <a:off x="8064500" y="47371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drone</a:t>
            </a:r>
          </a:p>
        </p:txBody>
      </p:sp>
      <p:sp>
        <p:nvSpPr>
          <p:cNvPr id="13068" name="t13068"/>
          <p:cNvSpPr txBox="1"/>
          <p:nvPr/>
        </p:nvSpPr>
        <p:spPr>
          <a:xfrm>
            <a:off x="7874000" y="47371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500" b="1" dirty="0">
                <a:solidFill>
                  <a:srgbClr val="C9A84C"/>
                </a:solidFill>
                <a:latin typeface="Times New Roman"/>
                <a:cs typeface="Times New Roman"/>
              </a:rPr>
              <a:t>94.8%</a:t>
            </a:r>
          </a:p>
        </p:txBody>
      </p:sp>
      <p:sp>
        <p:nvSpPr>
          <p:cNvPr id="13069" name="s13069"/>
          <p:cNvSpPr/>
          <p:nvPr/>
        </p:nvSpPr>
        <p:spPr>
          <a:xfrm>
            <a:off x="7874000" y="5143500"/>
            <a:ext cx="3556000" cy="406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70" name="s13070"/>
          <p:cNvSpPr/>
          <p:nvPr/>
        </p:nvSpPr>
        <p:spPr>
          <a:xfrm>
            <a:off x="7874000" y="5143500"/>
            <a:ext cx="38100" cy="406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71" name="t13071"/>
          <p:cNvSpPr txBox="1"/>
          <p:nvPr/>
        </p:nvSpPr>
        <p:spPr>
          <a:xfrm>
            <a:off x="8064500" y="52451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person</a:t>
            </a:r>
          </a:p>
        </p:txBody>
      </p:sp>
      <p:sp>
        <p:nvSpPr>
          <p:cNvPr id="13072" name="t13072"/>
          <p:cNvSpPr txBox="1"/>
          <p:nvPr/>
        </p:nvSpPr>
        <p:spPr>
          <a:xfrm>
            <a:off x="7874000" y="52451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500" b="1" dirty="0">
                <a:solidFill>
                  <a:srgbClr val="C9A84C"/>
                </a:solidFill>
                <a:latin typeface="Times New Roman"/>
                <a:cs typeface="Times New Roman"/>
              </a:rPr>
              <a:t>95.1%</a:t>
            </a:r>
          </a:p>
        </p:txBody>
      </p:sp>
      <p:sp>
        <p:nvSpPr>
          <p:cNvPr id="13073" name="s13073"/>
          <p:cNvSpPr/>
          <p:nvPr/>
        </p:nvSpPr>
        <p:spPr>
          <a:xfrm>
            <a:off x="7874000" y="5651500"/>
            <a:ext cx="3556000" cy="406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74" name="s13074"/>
          <p:cNvSpPr/>
          <p:nvPr/>
        </p:nvSpPr>
        <p:spPr>
          <a:xfrm>
            <a:off x="7874000" y="5651500"/>
            <a:ext cx="38100" cy="406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3075" name="t13075"/>
          <p:cNvSpPr txBox="1"/>
          <p:nvPr/>
        </p:nvSpPr>
        <p:spPr>
          <a:xfrm>
            <a:off x="8064500" y="57531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car</a:t>
            </a:r>
          </a:p>
        </p:txBody>
      </p:sp>
      <p:sp>
        <p:nvSpPr>
          <p:cNvPr id="13076" name="t13076"/>
          <p:cNvSpPr txBox="1"/>
          <p:nvPr/>
        </p:nvSpPr>
        <p:spPr>
          <a:xfrm>
            <a:off x="7874000" y="57531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500" b="1" dirty="0">
                <a:solidFill>
                  <a:srgbClr val="C9A84C"/>
                </a:solidFill>
                <a:latin typeface="Times New Roman"/>
                <a:cs typeface="Times New Roman"/>
              </a:rPr>
              <a:t>92.9%</a:t>
            </a:r>
          </a:p>
        </p:txBody>
      </p:sp>
    </p:spTree>
    <p:extLst>
      <p:ext uri="{BB962C8B-B14F-4D97-AF65-F5344CB8AC3E}">
        <p14:creationId xmlns:p14="http://schemas.microsoft.com/office/powerpoint/2010/main" val="1207677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1" name="t14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04  ·  IFF SYSTEM</a:t>
            </a:r>
          </a:p>
        </p:txBody>
      </p:sp>
      <p:sp>
        <p:nvSpPr>
          <p:cNvPr id="14002" name="t14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800" b="1" dirty="0">
                <a:solidFill>
                  <a:srgbClr val="E8C96D"/>
                </a:solidFill>
                <a:latin typeface="Times New Roman"/>
                <a:cs typeface="Times New Roman"/>
              </a:rPr>
              <a:t>Identify Friend or Foe — Fail-Safe by Design</a:t>
            </a:r>
          </a:p>
        </p:txBody>
      </p:sp>
      <p:sp>
        <p:nvSpPr>
          <p:cNvPr id="14003" name="s14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04" name="s14004"/>
          <p:cNvSpPr/>
          <p:nvPr/>
        </p:nvSpPr>
        <p:spPr>
          <a:xfrm>
            <a:off x="1905000" y="2476500"/>
            <a:ext cx="2032000" cy="5080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05" name="t14005"/>
          <p:cNvSpPr txBox="1"/>
          <p:nvPr/>
        </p:nvSpPr>
        <p:spPr>
          <a:xfrm>
            <a:off x="1905000" y="25781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New Track Detected</a:t>
            </a:r>
          </a:p>
        </p:txBody>
      </p:sp>
      <p:sp>
        <p:nvSpPr>
          <p:cNvPr id="14006" name="s14006"/>
          <p:cNvSpPr/>
          <p:nvPr/>
        </p:nvSpPr>
        <p:spPr>
          <a:xfrm>
            <a:off x="2730500" y="3022600"/>
            <a:ext cx="381000" cy="279400"/>
          </a:xfrm>
          <a:prstGeom prst="down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07" name="s14007"/>
          <p:cNvSpPr/>
          <p:nvPr/>
        </p:nvSpPr>
        <p:spPr>
          <a:xfrm>
            <a:off x="1651000" y="3429000"/>
            <a:ext cx="2540000" cy="1016000"/>
          </a:xfrm>
          <a:prstGeom prst="diamond">
            <a:avLst/>
          </a:prstGeom>
          <a:solidFill>
            <a:srgbClr val="0A0A0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08" name="t14008"/>
          <p:cNvSpPr txBox="1"/>
          <p:nvPr/>
        </p:nvSpPr>
        <p:spPr>
          <a:xfrm>
            <a:off x="1651000" y="37465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In IFF Registry?</a:t>
            </a:r>
          </a:p>
        </p:txBody>
      </p:sp>
      <p:sp>
        <p:nvSpPr>
          <p:cNvPr id="14009" name="s14009"/>
          <p:cNvSpPr/>
          <p:nvPr/>
        </p:nvSpPr>
        <p:spPr>
          <a:xfrm>
            <a:off x="4191000" y="3911600"/>
            <a:ext cx="7620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10" name="t14010"/>
          <p:cNvSpPr txBox="1"/>
          <p:nvPr/>
        </p:nvSpPr>
        <p:spPr>
          <a:xfrm>
            <a:off x="4191000" y="3683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14011" name="s14011"/>
          <p:cNvSpPr/>
          <p:nvPr/>
        </p:nvSpPr>
        <p:spPr>
          <a:xfrm>
            <a:off x="4953000" y="3619500"/>
            <a:ext cx="1651000" cy="6350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12" name="t14012"/>
          <p:cNvSpPr txBox="1"/>
          <p:nvPr/>
        </p:nvSpPr>
        <p:spPr>
          <a:xfrm>
            <a:off x="4953000" y="3746500"/>
            <a:ext cx="1651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FRIENDLY</a:t>
            </a:r>
          </a:p>
        </p:txBody>
      </p:sp>
      <p:sp>
        <p:nvSpPr>
          <p:cNvPr id="14013" name="t14013"/>
          <p:cNvSpPr txBox="1"/>
          <p:nvPr/>
        </p:nvSpPr>
        <p:spPr>
          <a:xfrm>
            <a:off x="4953000" y="4038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dirty="0">
                <a:solidFill>
                  <a:srgbClr val="F5F5F5"/>
                </a:solidFill>
                <a:latin typeface="Times New Roman"/>
                <a:cs typeface="Times New Roman"/>
              </a:rPr>
              <a:t>tag · log · suppress</a:t>
            </a:r>
          </a:p>
        </p:txBody>
      </p:sp>
      <p:sp>
        <p:nvSpPr>
          <p:cNvPr id="14014" name="s14014"/>
          <p:cNvSpPr/>
          <p:nvPr/>
        </p:nvSpPr>
        <p:spPr>
          <a:xfrm>
            <a:off x="2921000" y="4445000"/>
            <a:ext cx="12700" cy="38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15" name="t14015"/>
          <p:cNvSpPr txBox="1"/>
          <p:nvPr/>
        </p:nvSpPr>
        <p:spPr>
          <a:xfrm>
            <a:off x="2730500" y="44958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NO</a:t>
            </a:r>
          </a:p>
        </p:txBody>
      </p:sp>
      <p:sp>
        <p:nvSpPr>
          <p:cNvPr id="14016" name="s14016"/>
          <p:cNvSpPr/>
          <p:nvPr/>
        </p:nvSpPr>
        <p:spPr>
          <a:xfrm>
            <a:off x="1968500" y="4826000"/>
            <a:ext cx="1905000" cy="6350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17" name="t14017"/>
          <p:cNvSpPr txBox="1"/>
          <p:nvPr/>
        </p:nvSpPr>
        <p:spPr>
          <a:xfrm>
            <a:off x="1968500" y="49530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1" spc="200" dirty="0">
                <a:solidFill>
                  <a:srgbClr val="0A0A0A"/>
                </a:solidFill>
                <a:latin typeface="Times New Roman"/>
                <a:cs typeface="Times New Roman"/>
              </a:rPr>
              <a:t>UNKNOWN</a:t>
            </a:r>
          </a:p>
        </p:txBody>
      </p:sp>
      <p:sp>
        <p:nvSpPr>
          <p:cNvPr id="14018" name="t14018"/>
          <p:cNvSpPr txBox="1"/>
          <p:nvPr/>
        </p:nvSpPr>
        <p:spPr>
          <a:xfrm>
            <a:off x="1968500" y="52451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dirty="0">
                <a:solidFill>
                  <a:srgbClr val="0A0A0A"/>
                </a:solidFill>
                <a:latin typeface="Times New Roman"/>
                <a:cs typeface="Times New Roman"/>
              </a:rPr>
              <a:t>alert · operator review</a:t>
            </a:r>
          </a:p>
        </p:txBody>
      </p:sp>
      <p:sp>
        <p:nvSpPr>
          <p:cNvPr id="14019" name="s14019"/>
          <p:cNvSpPr/>
          <p:nvPr/>
        </p:nvSpPr>
        <p:spPr>
          <a:xfrm>
            <a:off x="1143000" y="5778500"/>
            <a:ext cx="3556000" cy="44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20" name="s14020"/>
          <p:cNvSpPr/>
          <p:nvPr/>
        </p:nvSpPr>
        <p:spPr>
          <a:xfrm>
            <a:off x="1143000" y="5778500"/>
            <a:ext cx="38100" cy="444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21" name="t14021"/>
          <p:cNvSpPr txBox="1"/>
          <p:nvPr/>
        </p:nvSpPr>
        <p:spPr>
          <a:xfrm>
            <a:off x="1333500" y="58420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FAIL-SAFE</a:t>
            </a:r>
          </a:p>
        </p:txBody>
      </p:sp>
      <p:sp>
        <p:nvSpPr>
          <p:cNvPr id="14022" name="t14022"/>
          <p:cNvSpPr txBox="1"/>
          <p:nvPr/>
        </p:nvSpPr>
        <p:spPr>
          <a:xfrm>
            <a:off x="1333500" y="60325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Lookup error → defaults to UNKNOWN</a:t>
            </a:r>
          </a:p>
        </p:txBody>
      </p:sp>
      <p:sp>
        <p:nvSpPr>
          <p:cNvPr id="14023" name="t14023"/>
          <p:cNvSpPr txBox="1"/>
          <p:nvPr/>
        </p:nvSpPr>
        <p:spPr>
          <a:xfrm>
            <a:off x="6477000" y="24765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IFF JSON REGISTRY (SAMPLE)</a:t>
            </a:r>
          </a:p>
        </p:txBody>
      </p:sp>
      <p:sp>
        <p:nvSpPr>
          <p:cNvPr id="14024" name="s14024"/>
          <p:cNvSpPr/>
          <p:nvPr/>
        </p:nvSpPr>
        <p:spPr>
          <a:xfrm>
            <a:off x="6477000" y="27559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25" name="s14025"/>
          <p:cNvSpPr/>
          <p:nvPr/>
        </p:nvSpPr>
        <p:spPr>
          <a:xfrm>
            <a:off x="6477000" y="2921000"/>
            <a:ext cx="4953000" cy="1841500"/>
          </a:xfrm>
          <a:prstGeom prst="rect">
            <a:avLst/>
          </a:prstGeom>
          <a:solidFill>
            <a:srgbClr val="0A0A0A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26" name="s14026"/>
          <p:cNvSpPr/>
          <p:nvPr/>
        </p:nvSpPr>
        <p:spPr>
          <a:xfrm>
            <a:off x="6477000" y="2921000"/>
            <a:ext cx="4953000" cy="279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27" name="t14027"/>
          <p:cNvSpPr txBox="1"/>
          <p:nvPr/>
        </p:nvSpPr>
        <p:spPr>
          <a:xfrm>
            <a:off x="6629400" y="29591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iff_registry.json</a:t>
            </a:r>
          </a:p>
        </p:txBody>
      </p:sp>
      <p:sp>
        <p:nvSpPr>
          <p:cNvPr id="14028" name="t14028"/>
          <p:cNvSpPr txBox="1"/>
          <p:nvPr/>
        </p:nvSpPr>
        <p:spPr>
          <a:xfrm>
            <a:off x="6629400" y="3276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{ "friendlies": [</a:t>
            </a:r>
          </a:p>
        </p:txBody>
      </p:sp>
      <p:sp>
        <p:nvSpPr>
          <p:cNvPr id="14029" name="t14029"/>
          <p:cNvSpPr txBox="1"/>
          <p:nvPr/>
        </p:nvSpPr>
        <p:spPr>
          <a:xfrm>
            <a:off x="6629400" y="3530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  { "id": "EQAAB-01", "type": "drone" },</a:t>
            </a:r>
          </a:p>
        </p:txBody>
      </p:sp>
      <p:sp>
        <p:nvSpPr>
          <p:cNvPr id="14030" name="t14030"/>
          <p:cNvSpPr txBox="1"/>
          <p:nvPr/>
        </p:nvSpPr>
        <p:spPr>
          <a:xfrm>
            <a:off x="6629400" y="3784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  { "id": "ALPHA-7",  "type": "drone" },</a:t>
            </a:r>
          </a:p>
        </p:txBody>
      </p:sp>
      <p:sp>
        <p:nvSpPr>
          <p:cNvPr id="14031" name="t14031"/>
          <p:cNvSpPr txBox="1"/>
          <p:nvPr/>
        </p:nvSpPr>
        <p:spPr>
          <a:xfrm>
            <a:off x="6629400" y="4038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  { "id": "PATROL-3", "type": "vehicle" }</a:t>
            </a:r>
          </a:p>
        </p:txBody>
      </p:sp>
      <p:sp>
        <p:nvSpPr>
          <p:cNvPr id="14032" name="t14032"/>
          <p:cNvSpPr txBox="1"/>
          <p:nvPr/>
        </p:nvSpPr>
        <p:spPr>
          <a:xfrm>
            <a:off x="6629400" y="42926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] }</a:t>
            </a:r>
          </a:p>
        </p:txBody>
      </p:sp>
      <p:sp>
        <p:nvSpPr>
          <p:cNvPr id="14033" name="t14033"/>
          <p:cNvSpPr txBox="1"/>
          <p:nvPr/>
        </p:nvSpPr>
        <p:spPr>
          <a:xfrm>
            <a:off x="6477000" y="49530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DESIGN RULES</a:t>
            </a:r>
          </a:p>
        </p:txBody>
      </p:sp>
      <p:sp>
        <p:nvSpPr>
          <p:cNvPr id="14034" name="s14034"/>
          <p:cNvSpPr/>
          <p:nvPr/>
        </p:nvSpPr>
        <p:spPr>
          <a:xfrm>
            <a:off x="6477000" y="5232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35" name="s14035"/>
          <p:cNvSpPr/>
          <p:nvPr/>
        </p:nvSpPr>
        <p:spPr>
          <a:xfrm>
            <a:off x="6477000" y="54737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36" name="t14036"/>
          <p:cNvSpPr txBox="1"/>
          <p:nvPr/>
        </p:nvSpPr>
        <p:spPr>
          <a:xfrm>
            <a:off x="6654800" y="53975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Registry hot-reloads — no drone restart needed</a:t>
            </a:r>
          </a:p>
        </p:txBody>
      </p:sp>
      <p:sp>
        <p:nvSpPr>
          <p:cNvPr id="14037" name="s14037"/>
          <p:cNvSpPr/>
          <p:nvPr/>
        </p:nvSpPr>
        <p:spPr>
          <a:xfrm>
            <a:off x="6477000" y="57531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38" name="t14038"/>
          <p:cNvSpPr txBox="1"/>
          <p:nvPr/>
        </p:nvSpPr>
        <p:spPr>
          <a:xfrm>
            <a:off x="6654800" y="56769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Unknown is the default — no entry, no friendly status</a:t>
            </a:r>
          </a:p>
        </p:txBody>
      </p:sp>
      <p:sp>
        <p:nvSpPr>
          <p:cNvPr id="14039" name="s14039"/>
          <p:cNvSpPr/>
          <p:nvPr/>
        </p:nvSpPr>
        <p:spPr>
          <a:xfrm>
            <a:off x="6477000" y="60325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40" name="t14040"/>
          <p:cNvSpPr txBox="1"/>
          <p:nvPr/>
        </p:nvSpPr>
        <p:spPr>
          <a:xfrm>
            <a:off x="6654800" y="5956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Operator may promote / revoke at runtime via GCS</a:t>
            </a:r>
          </a:p>
        </p:txBody>
      </p:sp>
      <p:sp>
        <p:nvSpPr>
          <p:cNvPr id="14041" name="s14041"/>
          <p:cNvSpPr/>
          <p:nvPr/>
        </p:nvSpPr>
        <p:spPr>
          <a:xfrm>
            <a:off x="6477000" y="63119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042" name="t14042"/>
          <p:cNvSpPr txBox="1"/>
          <p:nvPr/>
        </p:nvSpPr>
        <p:spPr>
          <a:xfrm>
            <a:off x="6654800" y="62357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All classifications are logged for forensic review</a:t>
            </a:r>
          </a:p>
        </p:txBody>
      </p:sp>
    </p:spTree>
    <p:extLst>
      <p:ext uri="{BB962C8B-B14F-4D97-AF65-F5344CB8AC3E}">
        <p14:creationId xmlns:p14="http://schemas.microsoft.com/office/powerpoint/2010/main" val="1103826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1" name="t15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04  ·  OBJECT TRACKING &amp; GEO-FUSION</a:t>
            </a:r>
          </a:p>
        </p:txBody>
      </p:sp>
      <p:sp>
        <p:nvSpPr>
          <p:cNvPr id="15002" name="t15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600" b="1" dirty="0">
                <a:solidFill>
                  <a:srgbClr val="E8C96D"/>
                </a:solidFill>
                <a:latin typeface="Times New Roman"/>
                <a:cs typeface="Times New Roman"/>
              </a:rPr>
              <a:t>DeepSORT + GPS = Real-World Coordinates</a:t>
            </a:r>
          </a:p>
        </p:txBody>
      </p:sp>
      <p:sp>
        <p:nvSpPr>
          <p:cNvPr id="15003" name="s15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04" name="s15004"/>
          <p:cNvSpPr/>
          <p:nvPr/>
        </p:nvSpPr>
        <p:spPr>
          <a:xfrm>
            <a:off x="762000" y="2476500"/>
            <a:ext cx="5334000" cy="387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05" name="s15005"/>
          <p:cNvSpPr/>
          <p:nvPr/>
        </p:nvSpPr>
        <p:spPr>
          <a:xfrm>
            <a:off x="762000" y="2476500"/>
            <a:ext cx="5334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06" name="t15006"/>
          <p:cNvSpPr txBox="1"/>
          <p:nvPr/>
        </p:nvSpPr>
        <p:spPr>
          <a:xfrm>
            <a:off x="1016000" y="26670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DEEPSORT</a:t>
            </a:r>
          </a:p>
        </p:txBody>
      </p:sp>
      <p:sp>
        <p:nvSpPr>
          <p:cNvPr id="15007" name="t15007"/>
          <p:cNvSpPr txBox="1"/>
          <p:nvPr/>
        </p:nvSpPr>
        <p:spPr>
          <a:xfrm>
            <a:off x="1016000" y="29718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Multi-object tracking with appearance features</a:t>
            </a:r>
          </a:p>
        </p:txBody>
      </p:sp>
      <p:sp>
        <p:nvSpPr>
          <p:cNvPr id="15008" name="s15008"/>
          <p:cNvSpPr/>
          <p:nvPr/>
        </p:nvSpPr>
        <p:spPr>
          <a:xfrm>
            <a:off x="1016000" y="32766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09" name="s15009"/>
          <p:cNvSpPr/>
          <p:nvPr/>
        </p:nvSpPr>
        <p:spPr>
          <a:xfrm>
            <a:off x="1016000" y="35687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10" name="t15010"/>
          <p:cNvSpPr txBox="1"/>
          <p:nvPr/>
        </p:nvSpPr>
        <p:spPr>
          <a:xfrm>
            <a:off x="1219200" y="34925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Kalman filter</a:t>
            </a:r>
          </a:p>
        </p:txBody>
      </p:sp>
      <p:sp>
        <p:nvSpPr>
          <p:cNvPr id="15011" name="t15011"/>
          <p:cNvSpPr txBox="1"/>
          <p:nvPr/>
        </p:nvSpPr>
        <p:spPr>
          <a:xfrm>
            <a:off x="1219200" y="37465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predicts each track's next bbox from velocity</a:t>
            </a:r>
          </a:p>
        </p:txBody>
      </p:sp>
      <p:sp>
        <p:nvSpPr>
          <p:cNvPr id="15012" name="s15012"/>
          <p:cNvSpPr/>
          <p:nvPr/>
        </p:nvSpPr>
        <p:spPr>
          <a:xfrm>
            <a:off x="1016000" y="42291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13" name="t15013"/>
          <p:cNvSpPr txBox="1"/>
          <p:nvPr/>
        </p:nvSpPr>
        <p:spPr>
          <a:xfrm>
            <a:off x="1219200" y="41529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Hungarian matching</a:t>
            </a:r>
          </a:p>
        </p:txBody>
      </p:sp>
      <p:sp>
        <p:nvSpPr>
          <p:cNvPr id="15014" name="t15014"/>
          <p:cNvSpPr txBox="1"/>
          <p:nvPr/>
        </p:nvSpPr>
        <p:spPr>
          <a:xfrm>
            <a:off x="1219200" y="44069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associates new detections with existing tracks</a:t>
            </a:r>
          </a:p>
        </p:txBody>
      </p:sp>
      <p:sp>
        <p:nvSpPr>
          <p:cNvPr id="15015" name="s15015"/>
          <p:cNvSpPr/>
          <p:nvPr/>
        </p:nvSpPr>
        <p:spPr>
          <a:xfrm>
            <a:off x="1016000" y="48895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16" name="t15016"/>
          <p:cNvSpPr txBox="1"/>
          <p:nvPr/>
        </p:nvSpPr>
        <p:spPr>
          <a:xfrm>
            <a:off x="1219200" y="48133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Appearance embedding</a:t>
            </a:r>
          </a:p>
        </p:txBody>
      </p:sp>
      <p:sp>
        <p:nvSpPr>
          <p:cNvPr id="15017" name="t15017"/>
          <p:cNvSpPr txBox="1"/>
          <p:nvPr/>
        </p:nvSpPr>
        <p:spPr>
          <a:xfrm>
            <a:off x="1219200" y="50673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ReID features prevent ID swaps when objects cross</a:t>
            </a:r>
          </a:p>
        </p:txBody>
      </p:sp>
      <p:sp>
        <p:nvSpPr>
          <p:cNvPr id="15018" name="s15018"/>
          <p:cNvSpPr/>
          <p:nvPr/>
        </p:nvSpPr>
        <p:spPr>
          <a:xfrm>
            <a:off x="1016000" y="55499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19" name="t15019"/>
          <p:cNvSpPr txBox="1"/>
          <p:nvPr/>
        </p:nvSpPr>
        <p:spPr>
          <a:xfrm>
            <a:off x="1219200" y="5473700"/>
            <a:ext cx="482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50" b="1" dirty="0">
                <a:solidFill>
                  <a:srgbClr val="E8C96D"/>
                </a:solidFill>
                <a:latin typeface="Times New Roman"/>
                <a:cs typeface="Times New Roman"/>
              </a:rPr>
              <a:t>Track lifecycle</a:t>
            </a:r>
          </a:p>
        </p:txBody>
      </p:sp>
      <p:sp>
        <p:nvSpPr>
          <p:cNvPr id="15020" name="t15020"/>
          <p:cNvSpPr txBox="1"/>
          <p:nvPr/>
        </p:nvSpPr>
        <p:spPr>
          <a:xfrm>
            <a:off x="1219200" y="57277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tentative → confirmed → lost — IDs persist across occlusions</a:t>
            </a:r>
          </a:p>
        </p:txBody>
      </p:sp>
      <p:sp>
        <p:nvSpPr>
          <p:cNvPr id="15021" name="s15021"/>
          <p:cNvSpPr/>
          <p:nvPr/>
        </p:nvSpPr>
        <p:spPr>
          <a:xfrm>
            <a:off x="6350000" y="2476500"/>
            <a:ext cx="5080000" cy="387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22" name="s15022"/>
          <p:cNvSpPr/>
          <p:nvPr/>
        </p:nvSpPr>
        <p:spPr>
          <a:xfrm>
            <a:off x="6350000" y="2476500"/>
            <a:ext cx="5080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23" name="t15023"/>
          <p:cNvSpPr txBox="1"/>
          <p:nvPr/>
        </p:nvSpPr>
        <p:spPr>
          <a:xfrm>
            <a:off x="6604000" y="26670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GPS COORDINATE CALCULATION</a:t>
            </a:r>
          </a:p>
        </p:txBody>
      </p:sp>
      <p:sp>
        <p:nvSpPr>
          <p:cNvPr id="15024" name="t15024"/>
          <p:cNvSpPr txBox="1"/>
          <p:nvPr/>
        </p:nvSpPr>
        <p:spPr>
          <a:xfrm>
            <a:off x="6604000" y="29718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From bounding box to latitude/longitude</a:t>
            </a:r>
          </a:p>
        </p:txBody>
      </p:sp>
      <p:sp>
        <p:nvSpPr>
          <p:cNvPr id="15025" name="s15025"/>
          <p:cNvSpPr/>
          <p:nvPr/>
        </p:nvSpPr>
        <p:spPr>
          <a:xfrm>
            <a:off x="6604000" y="32766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26" name="s15026"/>
          <p:cNvSpPr/>
          <p:nvPr/>
        </p:nvSpPr>
        <p:spPr>
          <a:xfrm>
            <a:off x="8890000" y="3556000"/>
            <a:ext cx="381000" cy="304800"/>
          </a:xfrm>
          <a:prstGeom prst="triangl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27" name="t15027"/>
          <p:cNvSpPr txBox="1"/>
          <p:nvPr/>
        </p:nvSpPr>
        <p:spPr>
          <a:xfrm>
            <a:off x="9334500" y="3632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b="1" dirty="0">
                <a:solidFill>
                  <a:srgbClr val="E8C96D"/>
                </a:solidFill>
                <a:latin typeface="Times New Roman"/>
                <a:cs typeface="Times New Roman"/>
              </a:rPr>
              <a:t>Drone GPS</a:t>
            </a:r>
          </a:p>
        </p:txBody>
      </p:sp>
      <p:sp>
        <p:nvSpPr>
          <p:cNvPr id="15028" name="t15028"/>
          <p:cNvSpPr txBox="1"/>
          <p:nvPr/>
        </p:nvSpPr>
        <p:spPr>
          <a:xfrm>
            <a:off x="9334500" y="38354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i="1" dirty="0">
                <a:solidFill>
                  <a:srgbClr val="F5F5F5"/>
                </a:solidFill>
                <a:latin typeface="Times New Roman"/>
                <a:cs typeface="Times New Roman"/>
              </a:rPr>
              <a:t>(lat, lon, alt)</a:t>
            </a:r>
          </a:p>
        </p:txBody>
      </p:sp>
      <p:sp>
        <p:nvSpPr>
          <p:cNvPr id="15029" name="s15029"/>
          <p:cNvSpPr/>
          <p:nvPr/>
        </p:nvSpPr>
        <p:spPr>
          <a:xfrm>
            <a:off x="9055100" y="3937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0" name="s15030"/>
          <p:cNvSpPr/>
          <p:nvPr/>
        </p:nvSpPr>
        <p:spPr>
          <a:xfrm>
            <a:off x="9055100" y="4064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1" name="s15031"/>
          <p:cNvSpPr/>
          <p:nvPr/>
        </p:nvSpPr>
        <p:spPr>
          <a:xfrm>
            <a:off x="9055100" y="4191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2" name="s15032"/>
          <p:cNvSpPr/>
          <p:nvPr/>
        </p:nvSpPr>
        <p:spPr>
          <a:xfrm>
            <a:off x="9055100" y="4318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3" name="s15033"/>
          <p:cNvSpPr/>
          <p:nvPr/>
        </p:nvSpPr>
        <p:spPr>
          <a:xfrm>
            <a:off x="9055100" y="4445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4" name="s15034"/>
          <p:cNvSpPr/>
          <p:nvPr/>
        </p:nvSpPr>
        <p:spPr>
          <a:xfrm>
            <a:off x="9055100" y="4572000"/>
            <a:ext cx="1270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5" name="s15035"/>
          <p:cNvSpPr/>
          <p:nvPr/>
        </p:nvSpPr>
        <p:spPr>
          <a:xfrm>
            <a:off x="8953500" y="4762500"/>
            <a:ext cx="177800" cy="177800"/>
          </a:xfrm>
          <a:prstGeom prst="ellipse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6" name="t15036"/>
          <p:cNvSpPr txBox="1"/>
          <p:nvPr/>
        </p:nvSpPr>
        <p:spPr>
          <a:xfrm>
            <a:off x="9334500" y="47244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b="1" dirty="0">
                <a:solidFill>
                  <a:srgbClr val="E8C96D"/>
                </a:solidFill>
                <a:latin typeface="Times New Roman"/>
                <a:cs typeface="Times New Roman"/>
              </a:rPr>
              <a:t>Target on ground</a:t>
            </a:r>
          </a:p>
        </p:txBody>
      </p:sp>
      <p:sp>
        <p:nvSpPr>
          <p:cNvPr id="15037" name="t15037"/>
          <p:cNvSpPr txBox="1"/>
          <p:nvPr/>
        </p:nvSpPr>
        <p:spPr>
          <a:xfrm>
            <a:off x="9334500" y="49276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i="1" dirty="0">
                <a:solidFill>
                  <a:srgbClr val="F5F5F5"/>
                </a:solidFill>
                <a:latin typeface="Times New Roman"/>
                <a:cs typeface="Times New Roman"/>
              </a:rPr>
              <a:t>projected lat / lon</a:t>
            </a:r>
          </a:p>
        </p:txBody>
      </p:sp>
      <p:sp>
        <p:nvSpPr>
          <p:cNvPr id="15038" name="s15038"/>
          <p:cNvSpPr/>
          <p:nvPr/>
        </p:nvSpPr>
        <p:spPr>
          <a:xfrm>
            <a:off x="8699500" y="3860800"/>
            <a:ext cx="762000" cy="889000"/>
          </a:xfrm>
          <a:prstGeom prst="triangle">
            <a:avLst/>
          </a:prstGeom>
          <a:noFill/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39" name="t15039"/>
          <p:cNvSpPr txBox="1"/>
          <p:nvPr/>
        </p:nvSpPr>
        <p:spPr>
          <a:xfrm>
            <a:off x="7556500" y="41910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i="1" dirty="0">
                <a:solidFill>
                  <a:srgbClr val="666666"/>
                </a:solidFill>
                <a:latin typeface="Times New Roman"/>
                <a:cs typeface="Times New Roman"/>
              </a:rPr>
              <a:t>Camera FOV</a:t>
            </a:r>
          </a:p>
        </p:txBody>
      </p:sp>
      <p:sp>
        <p:nvSpPr>
          <p:cNvPr id="15040" name="s15040"/>
          <p:cNvSpPr/>
          <p:nvPr/>
        </p:nvSpPr>
        <p:spPr>
          <a:xfrm>
            <a:off x="6604000" y="5016500"/>
            <a:ext cx="4572000" cy="10160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41" name="t15041"/>
          <p:cNvSpPr txBox="1"/>
          <p:nvPr/>
        </p:nvSpPr>
        <p:spPr>
          <a:xfrm>
            <a:off x="6731000" y="5143500"/>
            <a:ext cx="431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5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PROJECTION (simplified)</a:t>
            </a:r>
          </a:p>
        </p:txBody>
      </p:sp>
      <p:sp>
        <p:nvSpPr>
          <p:cNvPr id="15042" name="t15042"/>
          <p:cNvSpPr txBox="1"/>
          <p:nvPr/>
        </p:nvSpPr>
        <p:spPr>
          <a:xfrm>
            <a:off x="6731000" y="53975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F5F5F5"/>
                </a:solidFill>
                <a:latin typeface="Times New Roman"/>
                <a:cs typeface="Times New Roman"/>
              </a:rPr>
              <a:t>offset = altitude · tan(angle from nadir)</a:t>
            </a:r>
          </a:p>
        </p:txBody>
      </p:sp>
      <p:sp>
        <p:nvSpPr>
          <p:cNvPr id="15043" name="t15043"/>
          <p:cNvSpPr txBox="1"/>
          <p:nvPr/>
        </p:nvSpPr>
        <p:spPr>
          <a:xfrm>
            <a:off x="6731000" y="56769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F5F5F5"/>
                </a:solidFill>
                <a:latin typeface="Times New Roman"/>
                <a:cs typeface="Times New Roman"/>
              </a:rPr>
              <a:t>(target_lat, target_lon) = (drone_lat, drone_lon) + offset_vec</a:t>
            </a:r>
          </a:p>
        </p:txBody>
      </p:sp>
    </p:spTree>
    <p:extLst>
      <p:ext uri="{BB962C8B-B14F-4D97-AF65-F5344CB8AC3E}">
        <p14:creationId xmlns:p14="http://schemas.microsoft.com/office/powerpoint/2010/main" val="148609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1" name="t16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05  ·  AUTONOMOUS FLIGHT</a:t>
            </a:r>
          </a:p>
        </p:txBody>
      </p:sp>
      <p:sp>
        <p:nvSpPr>
          <p:cNvPr id="16002" name="t16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Mission Finite-State Machine</a:t>
            </a:r>
          </a:p>
        </p:txBody>
      </p:sp>
      <p:sp>
        <p:nvSpPr>
          <p:cNvPr id="16003" name="s16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04" name="s16004"/>
          <p:cNvSpPr/>
          <p:nvPr/>
        </p:nvSpPr>
        <p:spPr>
          <a:xfrm>
            <a:off x="635000" y="3175000"/>
            <a:ext cx="1651000" cy="889000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05" name="t16005"/>
          <p:cNvSpPr txBox="1"/>
          <p:nvPr/>
        </p:nvSpPr>
        <p:spPr>
          <a:xfrm>
            <a:off x="6350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6006" name="t16006"/>
          <p:cNvSpPr txBox="1"/>
          <p:nvPr/>
        </p:nvSpPr>
        <p:spPr>
          <a:xfrm>
            <a:off x="6350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0A0A0A"/>
                </a:solidFill>
                <a:latin typeface="Times New Roman"/>
                <a:cs typeface="Times New Roman"/>
              </a:rPr>
              <a:t>IDLE</a:t>
            </a:r>
          </a:p>
        </p:txBody>
      </p:sp>
      <p:sp>
        <p:nvSpPr>
          <p:cNvPr id="16007" name="s16007"/>
          <p:cNvSpPr/>
          <p:nvPr/>
        </p:nvSpPr>
        <p:spPr>
          <a:xfrm>
            <a:off x="2286000" y="3505200"/>
            <a:ext cx="1143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08" name="t16008"/>
          <p:cNvSpPr txBox="1"/>
          <p:nvPr/>
        </p:nvSpPr>
        <p:spPr>
          <a:xfrm>
            <a:off x="2159000" y="2895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spc="200" dirty="0">
                <a:solidFill>
                  <a:srgbClr val="E8C96D"/>
                </a:solidFill>
                <a:latin typeface="Times New Roman"/>
                <a:cs typeface="Times New Roman"/>
              </a:rPr>
              <a:t>start</a:t>
            </a:r>
          </a:p>
        </p:txBody>
      </p:sp>
      <p:sp>
        <p:nvSpPr>
          <p:cNvPr id="16009" name="s16009"/>
          <p:cNvSpPr/>
          <p:nvPr/>
        </p:nvSpPr>
        <p:spPr>
          <a:xfrm>
            <a:off x="2374900" y="3175000"/>
            <a:ext cx="1651000" cy="889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10" name="t16010"/>
          <p:cNvSpPr txBox="1"/>
          <p:nvPr/>
        </p:nvSpPr>
        <p:spPr>
          <a:xfrm>
            <a:off x="23749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16011" name="t16011"/>
          <p:cNvSpPr txBox="1"/>
          <p:nvPr/>
        </p:nvSpPr>
        <p:spPr>
          <a:xfrm>
            <a:off x="23749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E8C96D"/>
                </a:solidFill>
                <a:latin typeface="Times New Roman"/>
                <a:cs typeface="Times New Roman"/>
              </a:rPr>
              <a:t>TAKEOFF</a:t>
            </a:r>
          </a:p>
        </p:txBody>
      </p:sp>
      <p:sp>
        <p:nvSpPr>
          <p:cNvPr id="16012" name="s16012"/>
          <p:cNvSpPr/>
          <p:nvPr/>
        </p:nvSpPr>
        <p:spPr>
          <a:xfrm>
            <a:off x="4025900" y="3505200"/>
            <a:ext cx="1143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13" name="t16013"/>
          <p:cNvSpPr txBox="1"/>
          <p:nvPr/>
        </p:nvSpPr>
        <p:spPr>
          <a:xfrm>
            <a:off x="3898900" y="2895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spc="200" dirty="0">
                <a:solidFill>
                  <a:srgbClr val="E8C96D"/>
                </a:solidFill>
                <a:latin typeface="Times New Roman"/>
                <a:cs typeface="Times New Roman"/>
              </a:rPr>
              <a:t>alt OK</a:t>
            </a:r>
          </a:p>
        </p:txBody>
      </p:sp>
      <p:sp>
        <p:nvSpPr>
          <p:cNvPr id="16014" name="s16014"/>
          <p:cNvSpPr/>
          <p:nvPr/>
        </p:nvSpPr>
        <p:spPr>
          <a:xfrm>
            <a:off x="4114800" y="3175000"/>
            <a:ext cx="1651000" cy="889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15" name="t16015"/>
          <p:cNvSpPr txBox="1"/>
          <p:nvPr/>
        </p:nvSpPr>
        <p:spPr>
          <a:xfrm>
            <a:off x="41148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6016" name="t16016"/>
          <p:cNvSpPr txBox="1"/>
          <p:nvPr/>
        </p:nvSpPr>
        <p:spPr>
          <a:xfrm>
            <a:off x="41148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E8C96D"/>
                </a:solidFill>
                <a:latin typeface="Times New Roman"/>
                <a:cs typeface="Times New Roman"/>
              </a:rPr>
              <a:t>PATROL</a:t>
            </a:r>
          </a:p>
        </p:txBody>
      </p:sp>
      <p:sp>
        <p:nvSpPr>
          <p:cNvPr id="16017" name="s16017"/>
          <p:cNvSpPr/>
          <p:nvPr/>
        </p:nvSpPr>
        <p:spPr>
          <a:xfrm>
            <a:off x="5765800" y="3505200"/>
            <a:ext cx="1143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18" name="t16018"/>
          <p:cNvSpPr txBox="1"/>
          <p:nvPr/>
        </p:nvSpPr>
        <p:spPr>
          <a:xfrm>
            <a:off x="5638800" y="2895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spc="200" dirty="0">
                <a:solidFill>
                  <a:srgbClr val="E8C96D"/>
                </a:solidFill>
                <a:latin typeface="Times New Roman"/>
                <a:cs typeface="Times New Roman"/>
              </a:rPr>
              <a:t>threat</a:t>
            </a:r>
          </a:p>
        </p:txBody>
      </p:sp>
      <p:sp>
        <p:nvSpPr>
          <p:cNvPr id="16019" name="s16019"/>
          <p:cNvSpPr/>
          <p:nvPr/>
        </p:nvSpPr>
        <p:spPr>
          <a:xfrm>
            <a:off x="5854700" y="3175000"/>
            <a:ext cx="1651000" cy="889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20" name="t16020"/>
          <p:cNvSpPr txBox="1"/>
          <p:nvPr/>
        </p:nvSpPr>
        <p:spPr>
          <a:xfrm>
            <a:off x="58547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16021" name="t16021"/>
          <p:cNvSpPr txBox="1"/>
          <p:nvPr/>
        </p:nvSpPr>
        <p:spPr>
          <a:xfrm>
            <a:off x="58547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E8C96D"/>
                </a:solidFill>
                <a:latin typeface="Times New Roman"/>
                <a:cs typeface="Times New Roman"/>
              </a:rPr>
              <a:t>TRACK</a:t>
            </a:r>
          </a:p>
        </p:txBody>
      </p:sp>
      <p:sp>
        <p:nvSpPr>
          <p:cNvPr id="16022" name="s16022"/>
          <p:cNvSpPr/>
          <p:nvPr/>
        </p:nvSpPr>
        <p:spPr>
          <a:xfrm>
            <a:off x="7505700" y="3505200"/>
            <a:ext cx="1143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23" name="t16023"/>
          <p:cNvSpPr txBox="1"/>
          <p:nvPr/>
        </p:nvSpPr>
        <p:spPr>
          <a:xfrm>
            <a:off x="7378700" y="2895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spc="200" dirty="0">
                <a:solidFill>
                  <a:srgbClr val="E8C96D"/>
                </a:solidFill>
                <a:latin typeface="Times New Roman"/>
                <a:cs typeface="Times New Roman"/>
              </a:rPr>
              <a:t>clear / RTL</a:t>
            </a:r>
          </a:p>
        </p:txBody>
      </p:sp>
      <p:sp>
        <p:nvSpPr>
          <p:cNvPr id="16024" name="s16024"/>
          <p:cNvSpPr/>
          <p:nvPr/>
        </p:nvSpPr>
        <p:spPr>
          <a:xfrm>
            <a:off x="7594600" y="3175000"/>
            <a:ext cx="1651000" cy="889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25" name="t16025"/>
          <p:cNvSpPr txBox="1"/>
          <p:nvPr/>
        </p:nvSpPr>
        <p:spPr>
          <a:xfrm>
            <a:off x="75946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05</a:t>
            </a:r>
          </a:p>
        </p:txBody>
      </p:sp>
      <p:sp>
        <p:nvSpPr>
          <p:cNvPr id="16026" name="t16026"/>
          <p:cNvSpPr txBox="1"/>
          <p:nvPr/>
        </p:nvSpPr>
        <p:spPr>
          <a:xfrm>
            <a:off x="75946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E8C96D"/>
                </a:solidFill>
                <a:latin typeface="Times New Roman"/>
                <a:cs typeface="Times New Roman"/>
              </a:rPr>
              <a:t>RETURN</a:t>
            </a:r>
          </a:p>
        </p:txBody>
      </p:sp>
      <p:sp>
        <p:nvSpPr>
          <p:cNvPr id="16027" name="s16027"/>
          <p:cNvSpPr/>
          <p:nvPr/>
        </p:nvSpPr>
        <p:spPr>
          <a:xfrm>
            <a:off x="9245600" y="3505200"/>
            <a:ext cx="1143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28" name="t16028"/>
          <p:cNvSpPr txBox="1"/>
          <p:nvPr/>
        </p:nvSpPr>
        <p:spPr>
          <a:xfrm>
            <a:off x="9118600" y="2895600"/>
            <a:ext cx="1651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i="1" spc="200" dirty="0">
                <a:solidFill>
                  <a:srgbClr val="E8C96D"/>
                </a:solidFill>
                <a:latin typeface="Times New Roman"/>
                <a:cs typeface="Times New Roman"/>
              </a:rPr>
              <a:t>reached home</a:t>
            </a:r>
          </a:p>
        </p:txBody>
      </p:sp>
      <p:sp>
        <p:nvSpPr>
          <p:cNvPr id="16029" name="s16029"/>
          <p:cNvSpPr/>
          <p:nvPr/>
        </p:nvSpPr>
        <p:spPr>
          <a:xfrm>
            <a:off x="9334500" y="3175000"/>
            <a:ext cx="1651000" cy="889000"/>
          </a:xfrm>
          <a:prstGeom prst="round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0" name="t16030"/>
          <p:cNvSpPr txBox="1"/>
          <p:nvPr/>
        </p:nvSpPr>
        <p:spPr>
          <a:xfrm>
            <a:off x="9334500" y="33655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06</a:t>
            </a:r>
          </a:p>
        </p:txBody>
      </p:sp>
      <p:sp>
        <p:nvSpPr>
          <p:cNvPr id="16031" name="t16031"/>
          <p:cNvSpPr txBox="1"/>
          <p:nvPr/>
        </p:nvSpPr>
        <p:spPr>
          <a:xfrm>
            <a:off x="9334500" y="3657600"/>
            <a:ext cx="1651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0A0A0A"/>
                </a:solidFill>
                <a:latin typeface="Times New Roman"/>
                <a:cs typeface="Times New Roman"/>
              </a:rPr>
              <a:t>LAND</a:t>
            </a:r>
          </a:p>
        </p:txBody>
      </p:sp>
      <p:sp>
        <p:nvSpPr>
          <p:cNvPr id="16032" name="s16032"/>
          <p:cNvSpPr/>
          <p:nvPr/>
        </p:nvSpPr>
        <p:spPr>
          <a:xfrm>
            <a:off x="1460500" y="4445000"/>
            <a:ext cx="8699500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3" name="s16033"/>
          <p:cNvSpPr/>
          <p:nvPr/>
        </p:nvSpPr>
        <p:spPr>
          <a:xfrm>
            <a:off x="1460500" y="4064000"/>
            <a:ext cx="12700" cy="393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4" name="s16034"/>
          <p:cNvSpPr/>
          <p:nvPr/>
        </p:nvSpPr>
        <p:spPr>
          <a:xfrm>
            <a:off x="10160000" y="4064000"/>
            <a:ext cx="12700" cy="393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5" name="s16035"/>
          <p:cNvSpPr/>
          <p:nvPr/>
        </p:nvSpPr>
        <p:spPr>
          <a:xfrm>
            <a:off x="1333500" y="4127500"/>
            <a:ext cx="254000" cy="304800"/>
          </a:xfrm>
          <a:prstGeom prst="up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6" name="t16036"/>
          <p:cNvSpPr txBox="1"/>
          <p:nvPr/>
        </p:nvSpPr>
        <p:spPr>
          <a:xfrm>
            <a:off x="0" y="4546600"/>
            <a:ext cx="1219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mission complete  /  reset to IDLE</a:t>
            </a:r>
          </a:p>
        </p:txBody>
      </p:sp>
      <p:sp>
        <p:nvSpPr>
          <p:cNvPr id="16037" name="s16037"/>
          <p:cNvSpPr/>
          <p:nvPr/>
        </p:nvSpPr>
        <p:spPr>
          <a:xfrm>
            <a:off x="6350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8" name="s16038"/>
          <p:cNvSpPr/>
          <p:nvPr/>
        </p:nvSpPr>
        <p:spPr>
          <a:xfrm>
            <a:off x="6350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39" name="t16039"/>
          <p:cNvSpPr txBox="1"/>
          <p:nvPr/>
        </p:nvSpPr>
        <p:spPr>
          <a:xfrm>
            <a:off x="7620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IDLE</a:t>
            </a:r>
          </a:p>
        </p:txBody>
      </p:sp>
      <p:sp>
        <p:nvSpPr>
          <p:cNvPr id="16040" name="t16040"/>
          <p:cNvSpPr txBox="1"/>
          <p:nvPr/>
        </p:nvSpPr>
        <p:spPr>
          <a:xfrm>
            <a:off x="7620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Disarmed, waiting for GCS command</a:t>
            </a:r>
          </a:p>
        </p:txBody>
      </p:sp>
      <p:sp>
        <p:nvSpPr>
          <p:cNvPr id="16041" name="s16041"/>
          <p:cNvSpPr/>
          <p:nvPr/>
        </p:nvSpPr>
        <p:spPr>
          <a:xfrm>
            <a:off x="24892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42" name="s16042"/>
          <p:cNvSpPr/>
          <p:nvPr/>
        </p:nvSpPr>
        <p:spPr>
          <a:xfrm>
            <a:off x="24892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43" name="t16043"/>
          <p:cNvSpPr txBox="1"/>
          <p:nvPr/>
        </p:nvSpPr>
        <p:spPr>
          <a:xfrm>
            <a:off x="26162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TAKEOFF</a:t>
            </a:r>
          </a:p>
        </p:txBody>
      </p:sp>
      <p:sp>
        <p:nvSpPr>
          <p:cNvPr id="16044" name="t16044"/>
          <p:cNvSpPr txBox="1"/>
          <p:nvPr/>
        </p:nvSpPr>
        <p:spPr>
          <a:xfrm>
            <a:off x="26162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Climb to mission altitude (typ. 30 m)</a:t>
            </a:r>
          </a:p>
        </p:txBody>
      </p:sp>
      <p:sp>
        <p:nvSpPr>
          <p:cNvPr id="16045" name="s16045"/>
          <p:cNvSpPr/>
          <p:nvPr/>
        </p:nvSpPr>
        <p:spPr>
          <a:xfrm>
            <a:off x="43434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46" name="s16046"/>
          <p:cNvSpPr/>
          <p:nvPr/>
        </p:nvSpPr>
        <p:spPr>
          <a:xfrm>
            <a:off x="43434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47" name="t16047"/>
          <p:cNvSpPr txBox="1"/>
          <p:nvPr/>
        </p:nvSpPr>
        <p:spPr>
          <a:xfrm>
            <a:off x="44704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PATROL</a:t>
            </a:r>
          </a:p>
        </p:txBody>
      </p:sp>
      <p:sp>
        <p:nvSpPr>
          <p:cNvPr id="16048" name="t16048"/>
          <p:cNvSpPr txBox="1"/>
          <p:nvPr/>
        </p:nvSpPr>
        <p:spPr>
          <a:xfrm>
            <a:off x="44704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Follow waypoints, run detection loop</a:t>
            </a:r>
          </a:p>
        </p:txBody>
      </p:sp>
      <p:sp>
        <p:nvSpPr>
          <p:cNvPr id="16049" name="s16049"/>
          <p:cNvSpPr/>
          <p:nvPr/>
        </p:nvSpPr>
        <p:spPr>
          <a:xfrm>
            <a:off x="61976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0" name="s16050"/>
          <p:cNvSpPr/>
          <p:nvPr/>
        </p:nvSpPr>
        <p:spPr>
          <a:xfrm>
            <a:off x="61976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1" name="t16051"/>
          <p:cNvSpPr txBox="1"/>
          <p:nvPr/>
        </p:nvSpPr>
        <p:spPr>
          <a:xfrm>
            <a:off x="63246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TRACK</a:t>
            </a:r>
          </a:p>
        </p:txBody>
      </p:sp>
      <p:sp>
        <p:nvSpPr>
          <p:cNvPr id="16052" name="t16052"/>
          <p:cNvSpPr txBox="1"/>
          <p:nvPr/>
        </p:nvSpPr>
        <p:spPr>
          <a:xfrm>
            <a:off x="63246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Lock onto Unknown target, hold position</a:t>
            </a:r>
          </a:p>
        </p:txBody>
      </p:sp>
      <p:sp>
        <p:nvSpPr>
          <p:cNvPr id="16053" name="s16053"/>
          <p:cNvSpPr/>
          <p:nvPr/>
        </p:nvSpPr>
        <p:spPr>
          <a:xfrm>
            <a:off x="80518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4" name="s16054"/>
          <p:cNvSpPr/>
          <p:nvPr/>
        </p:nvSpPr>
        <p:spPr>
          <a:xfrm>
            <a:off x="80518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5" name="t16055"/>
          <p:cNvSpPr txBox="1"/>
          <p:nvPr/>
        </p:nvSpPr>
        <p:spPr>
          <a:xfrm>
            <a:off x="81788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RETURN</a:t>
            </a:r>
          </a:p>
        </p:txBody>
      </p:sp>
      <p:sp>
        <p:nvSpPr>
          <p:cNvPr id="16056" name="t16056"/>
          <p:cNvSpPr txBox="1"/>
          <p:nvPr/>
        </p:nvSpPr>
        <p:spPr>
          <a:xfrm>
            <a:off x="81788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RTL to home GPS coordinate</a:t>
            </a:r>
          </a:p>
        </p:txBody>
      </p:sp>
      <p:sp>
        <p:nvSpPr>
          <p:cNvPr id="16057" name="s16057"/>
          <p:cNvSpPr/>
          <p:nvPr/>
        </p:nvSpPr>
        <p:spPr>
          <a:xfrm>
            <a:off x="9906000" y="4826000"/>
            <a:ext cx="1841500" cy="101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8" name="s16058"/>
          <p:cNvSpPr/>
          <p:nvPr/>
        </p:nvSpPr>
        <p:spPr>
          <a:xfrm>
            <a:off x="9906000" y="4826000"/>
            <a:ext cx="38100" cy="10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6059" name="t16059"/>
          <p:cNvSpPr txBox="1"/>
          <p:nvPr/>
        </p:nvSpPr>
        <p:spPr>
          <a:xfrm>
            <a:off x="10033000" y="49276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LAND</a:t>
            </a:r>
          </a:p>
        </p:txBody>
      </p:sp>
      <p:sp>
        <p:nvSpPr>
          <p:cNvPr id="16060" name="t16060"/>
          <p:cNvSpPr txBox="1"/>
          <p:nvPr/>
        </p:nvSpPr>
        <p:spPr>
          <a:xfrm>
            <a:off x="10033000" y="52070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F5F5F5"/>
                </a:solidFill>
                <a:latin typeface="Times New Roman"/>
                <a:cs typeface="Times New Roman"/>
              </a:rPr>
              <a:t>Controlled descent + disarm</a:t>
            </a:r>
          </a:p>
        </p:txBody>
      </p:sp>
    </p:spTree>
    <p:extLst>
      <p:ext uri="{BB962C8B-B14F-4D97-AF65-F5344CB8AC3E}">
        <p14:creationId xmlns:p14="http://schemas.microsoft.com/office/powerpoint/2010/main" val="3678439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1" name="t17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05  ·  MISSION MANAGEMENT</a:t>
            </a:r>
          </a:p>
        </p:txBody>
      </p:sp>
      <p:sp>
        <p:nvSpPr>
          <p:cNvPr id="17002" name="t17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Geofencing · Waypoints · Failsafes</a:t>
            </a:r>
          </a:p>
        </p:txBody>
      </p:sp>
      <p:sp>
        <p:nvSpPr>
          <p:cNvPr id="17003" name="s17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04" name="s17004"/>
          <p:cNvSpPr/>
          <p:nvPr/>
        </p:nvSpPr>
        <p:spPr>
          <a:xfrm>
            <a:off x="762000" y="2476500"/>
            <a:ext cx="4826000" cy="3873500"/>
          </a:xfrm>
          <a:prstGeom prst="rect">
            <a:avLst/>
          </a:prstGeom>
          <a:solidFill>
            <a:srgbClr val="0A0A0A"/>
          </a:solidFill>
          <a:ln w="6350">
            <a:solidFill>
              <a:srgbClr val="8C743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05" name="s17005"/>
          <p:cNvSpPr/>
          <p:nvPr/>
        </p:nvSpPr>
        <p:spPr>
          <a:xfrm>
            <a:off x="1143000" y="2984500"/>
            <a:ext cx="4064000" cy="2857500"/>
          </a:xfrm>
          <a:prstGeom prst="rect">
            <a:avLst/>
          </a:prstGeom>
          <a:noFill/>
          <a:ln w="12700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06" name="t17006"/>
          <p:cNvSpPr txBox="1"/>
          <p:nvPr/>
        </p:nvSpPr>
        <p:spPr>
          <a:xfrm>
            <a:off x="1143000" y="2705100"/>
            <a:ext cx="4064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5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GEOFENCE PERIMETER</a:t>
            </a:r>
          </a:p>
        </p:txBody>
      </p:sp>
      <p:sp>
        <p:nvSpPr>
          <p:cNvPr id="17007" name="s17007"/>
          <p:cNvSpPr/>
          <p:nvPr/>
        </p:nvSpPr>
        <p:spPr>
          <a:xfrm>
            <a:off x="1657350" y="33591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08" name="s17008"/>
          <p:cNvSpPr/>
          <p:nvPr/>
        </p:nvSpPr>
        <p:spPr>
          <a:xfrm>
            <a:off x="1803400" y="33655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09" name="s17009"/>
          <p:cNvSpPr/>
          <p:nvPr/>
        </p:nvSpPr>
        <p:spPr>
          <a:xfrm>
            <a:off x="1949450" y="33718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0" name="s17010"/>
          <p:cNvSpPr/>
          <p:nvPr/>
        </p:nvSpPr>
        <p:spPr>
          <a:xfrm>
            <a:off x="2095500" y="33782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1" name="s17011"/>
          <p:cNvSpPr/>
          <p:nvPr/>
        </p:nvSpPr>
        <p:spPr>
          <a:xfrm>
            <a:off x="2241550" y="33845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2" name="s17012"/>
          <p:cNvSpPr/>
          <p:nvPr/>
        </p:nvSpPr>
        <p:spPr>
          <a:xfrm>
            <a:off x="2387600" y="33909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3" name="s17013"/>
          <p:cNvSpPr/>
          <p:nvPr/>
        </p:nvSpPr>
        <p:spPr>
          <a:xfrm>
            <a:off x="2533650" y="33972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4" name="s17014"/>
          <p:cNvSpPr/>
          <p:nvPr/>
        </p:nvSpPr>
        <p:spPr>
          <a:xfrm>
            <a:off x="2679700" y="34036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5" name="s17015"/>
          <p:cNvSpPr/>
          <p:nvPr/>
        </p:nvSpPr>
        <p:spPr>
          <a:xfrm>
            <a:off x="2825750" y="34099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6" name="s17016"/>
          <p:cNvSpPr/>
          <p:nvPr/>
        </p:nvSpPr>
        <p:spPr>
          <a:xfrm>
            <a:off x="2971800" y="34163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7" name="s17017"/>
          <p:cNvSpPr/>
          <p:nvPr/>
        </p:nvSpPr>
        <p:spPr>
          <a:xfrm>
            <a:off x="3117850" y="34226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8" name="s17018"/>
          <p:cNvSpPr/>
          <p:nvPr/>
        </p:nvSpPr>
        <p:spPr>
          <a:xfrm>
            <a:off x="3263900" y="34290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19" name="s17019"/>
          <p:cNvSpPr/>
          <p:nvPr/>
        </p:nvSpPr>
        <p:spPr>
          <a:xfrm>
            <a:off x="3409950" y="34353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0" name="s17020"/>
          <p:cNvSpPr/>
          <p:nvPr/>
        </p:nvSpPr>
        <p:spPr>
          <a:xfrm>
            <a:off x="3556000" y="34417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1" name="s17021"/>
          <p:cNvSpPr/>
          <p:nvPr/>
        </p:nvSpPr>
        <p:spPr>
          <a:xfrm>
            <a:off x="3702050" y="34480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2" name="s17022"/>
          <p:cNvSpPr/>
          <p:nvPr/>
        </p:nvSpPr>
        <p:spPr>
          <a:xfrm>
            <a:off x="3848100" y="34544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3" name="s17023"/>
          <p:cNvSpPr/>
          <p:nvPr/>
        </p:nvSpPr>
        <p:spPr>
          <a:xfrm>
            <a:off x="3994150" y="34607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4" name="s17024"/>
          <p:cNvSpPr/>
          <p:nvPr/>
        </p:nvSpPr>
        <p:spPr>
          <a:xfrm>
            <a:off x="4140200" y="34671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5" name="s17025"/>
          <p:cNvSpPr/>
          <p:nvPr/>
        </p:nvSpPr>
        <p:spPr>
          <a:xfrm>
            <a:off x="4286250" y="34734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6" name="s17026"/>
          <p:cNvSpPr/>
          <p:nvPr/>
        </p:nvSpPr>
        <p:spPr>
          <a:xfrm>
            <a:off x="4445000" y="35655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7" name="s17027"/>
          <p:cNvSpPr/>
          <p:nvPr/>
        </p:nvSpPr>
        <p:spPr>
          <a:xfrm>
            <a:off x="4457700" y="36512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8" name="s17028"/>
          <p:cNvSpPr/>
          <p:nvPr/>
        </p:nvSpPr>
        <p:spPr>
          <a:xfrm>
            <a:off x="4470400" y="37369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29" name="s17029"/>
          <p:cNvSpPr/>
          <p:nvPr/>
        </p:nvSpPr>
        <p:spPr>
          <a:xfrm>
            <a:off x="4483100" y="38227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0" name="s17030"/>
          <p:cNvSpPr/>
          <p:nvPr/>
        </p:nvSpPr>
        <p:spPr>
          <a:xfrm>
            <a:off x="4495800" y="39084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1" name="s17031"/>
          <p:cNvSpPr/>
          <p:nvPr/>
        </p:nvSpPr>
        <p:spPr>
          <a:xfrm>
            <a:off x="4508500" y="39941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2" name="s17032"/>
          <p:cNvSpPr/>
          <p:nvPr/>
        </p:nvSpPr>
        <p:spPr>
          <a:xfrm>
            <a:off x="4521200" y="40798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3" name="s17033"/>
          <p:cNvSpPr/>
          <p:nvPr/>
        </p:nvSpPr>
        <p:spPr>
          <a:xfrm>
            <a:off x="4533900" y="41656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4" name="s17034"/>
          <p:cNvSpPr/>
          <p:nvPr/>
        </p:nvSpPr>
        <p:spPr>
          <a:xfrm>
            <a:off x="4546600" y="42513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5" name="s17035"/>
          <p:cNvSpPr/>
          <p:nvPr/>
        </p:nvSpPr>
        <p:spPr>
          <a:xfrm>
            <a:off x="4559300" y="43370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6" name="s17036"/>
          <p:cNvSpPr/>
          <p:nvPr/>
        </p:nvSpPr>
        <p:spPr>
          <a:xfrm>
            <a:off x="4572000" y="44227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7" name="s17037"/>
          <p:cNvSpPr/>
          <p:nvPr/>
        </p:nvSpPr>
        <p:spPr>
          <a:xfrm>
            <a:off x="4584700" y="45085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8" name="s17038"/>
          <p:cNvSpPr/>
          <p:nvPr/>
        </p:nvSpPr>
        <p:spPr>
          <a:xfrm>
            <a:off x="4597400" y="45942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39" name="s17039"/>
          <p:cNvSpPr/>
          <p:nvPr/>
        </p:nvSpPr>
        <p:spPr>
          <a:xfrm>
            <a:off x="4610100" y="46799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0" name="s17040"/>
          <p:cNvSpPr/>
          <p:nvPr/>
        </p:nvSpPr>
        <p:spPr>
          <a:xfrm>
            <a:off x="4622800" y="47656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1" name="s17041"/>
          <p:cNvSpPr/>
          <p:nvPr/>
        </p:nvSpPr>
        <p:spPr>
          <a:xfrm>
            <a:off x="4635500" y="48514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2" name="s17042"/>
          <p:cNvSpPr/>
          <p:nvPr/>
        </p:nvSpPr>
        <p:spPr>
          <a:xfrm>
            <a:off x="4648200" y="49371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3" name="s17043"/>
          <p:cNvSpPr/>
          <p:nvPr/>
        </p:nvSpPr>
        <p:spPr>
          <a:xfrm>
            <a:off x="4660900" y="50228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4" name="s17044"/>
          <p:cNvSpPr/>
          <p:nvPr/>
        </p:nvSpPr>
        <p:spPr>
          <a:xfrm>
            <a:off x="4673600" y="51085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5" name="s17045"/>
          <p:cNvSpPr/>
          <p:nvPr/>
        </p:nvSpPr>
        <p:spPr>
          <a:xfrm>
            <a:off x="4546600" y="51879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6" name="s17046"/>
          <p:cNvSpPr/>
          <p:nvPr/>
        </p:nvSpPr>
        <p:spPr>
          <a:xfrm>
            <a:off x="4406900" y="51816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7" name="s17047"/>
          <p:cNvSpPr/>
          <p:nvPr/>
        </p:nvSpPr>
        <p:spPr>
          <a:xfrm>
            <a:off x="4267200" y="51752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8" name="s17048"/>
          <p:cNvSpPr/>
          <p:nvPr/>
        </p:nvSpPr>
        <p:spPr>
          <a:xfrm>
            <a:off x="4127500" y="51689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49" name="s17049"/>
          <p:cNvSpPr/>
          <p:nvPr/>
        </p:nvSpPr>
        <p:spPr>
          <a:xfrm>
            <a:off x="3987800" y="51625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0" name="s17050"/>
          <p:cNvSpPr/>
          <p:nvPr/>
        </p:nvSpPr>
        <p:spPr>
          <a:xfrm>
            <a:off x="3848100" y="51562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1" name="s17051"/>
          <p:cNvSpPr/>
          <p:nvPr/>
        </p:nvSpPr>
        <p:spPr>
          <a:xfrm>
            <a:off x="3708400" y="51498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2" name="s17052"/>
          <p:cNvSpPr/>
          <p:nvPr/>
        </p:nvSpPr>
        <p:spPr>
          <a:xfrm>
            <a:off x="3568700" y="51435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3" name="s17053"/>
          <p:cNvSpPr/>
          <p:nvPr/>
        </p:nvSpPr>
        <p:spPr>
          <a:xfrm>
            <a:off x="3429000" y="51371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4" name="s17054"/>
          <p:cNvSpPr/>
          <p:nvPr/>
        </p:nvSpPr>
        <p:spPr>
          <a:xfrm>
            <a:off x="3289300" y="51308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5" name="s17055"/>
          <p:cNvSpPr/>
          <p:nvPr/>
        </p:nvSpPr>
        <p:spPr>
          <a:xfrm>
            <a:off x="3149600" y="51244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6" name="s17056"/>
          <p:cNvSpPr/>
          <p:nvPr/>
        </p:nvSpPr>
        <p:spPr>
          <a:xfrm>
            <a:off x="3009900" y="51181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7" name="s17057"/>
          <p:cNvSpPr/>
          <p:nvPr/>
        </p:nvSpPr>
        <p:spPr>
          <a:xfrm>
            <a:off x="2870200" y="51117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8" name="s17058"/>
          <p:cNvSpPr/>
          <p:nvPr/>
        </p:nvSpPr>
        <p:spPr>
          <a:xfrm>
            <a:off x="2730500" y="51054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59" name="s17059"/>
          <p:cNvSpPr/>
          <p:nvPr/>
        </p:nvSpPr>
        <p:spPr>
          <a:xfrm>
            <a:off x="2590800" y="50990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0" name="s17060"/>
          <p:cNvSpPr/>
          <p:nvPr/>
        </p:nvSpPr>
        <p:spPr>
          <a:xfrm>
            <a:off x="2451100" y="50927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1" name="s17061"/>
          <p:cNvSpPr/>
          <p:nvPr/>
        </p:nvSpPr>
        <p:spPr>
          <a:xfrm>
            <a:off x="2311400" y="50863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2" name="s17062"/>
          <p:cNvSpPr/>
          <p:nvPr/>
        </p:nvSpPr>
        <p:spPr>
          <a:xfrm>
            <a:off x="2171700" y="50800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3" name="s17063"/>
          <p:cNvSpPr/>
          <p:nvPr/>
        </p:nvSpPr>
        <p:spPr>
          <a:xfrm>
            <a:off x="2032000" y="50736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4" name="s17064"/>
          <p:cNvSpPr/>
          <p:nvPr/>
        </p:nvSpPr>
        <p:spPr>
          <a:xfrm>
            <a:off x="1873250" y="49815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5" name="s17065"/>
          <p:cNvSpPr/>
          <p:nvPr/>
        </p:nvSpPr>
        <p:spPr>
          <a:xfrm>
            <a:off x="1854200" y="48958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6" name="s17066"/>
          <p:cNvSpPr/>
          <p:nvPr/>
        </p:nvSpPr>
        <p:spPr>
          <a:xfrm>
            <a:off x="1835150" y="48101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7" name="s17067"/>
          <p:cNvSpPr/>
          <p:nvPr/>
        </p:nvSpPr>
        <p:spPr>
          <a:xfrm>
            <a:off x="1816100" y="47244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8" name="s17068"/>
          <p:cNvSpPr/>
          <p:nvPr/>
        </p:nvSpPr>
        <p:spPr>
          <a:xfrm>
            <a:off x="1797050" y="46386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69" name="s17069"/>
          <p:cNvSpPr/>
          <p:nvPr/>
        </p:nvSpPr>
        <p:spPr>
          <a:xfrm>
            <a:off x="1778000" y="45529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0" name="s17070"/>
          <p:cNvSpPr/>
          <p:nvPr/>
        </p:nvSpPr>
        <p:spPr>
          <a:xfrm>
            <a:off x="1758950" y="44672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1" name="s17071"/>
          <p:cNvSpPr/>
          <p:nvPr/>
        </p:nvSpPr>
        <p:spPr>
          <a:xfrm>
            <a:off x="1739900" y="43815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2" name="s17072"/>
          <p:cNvSpPr/>
          <p:nvPr/>
        </p:nvSpPr>
        <p:spPr>
          <a:xfrm>
            <a:off x="1720850" y="42957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3" name="s17073"/>
          <p:cNvSpPr/>
          <p:nvPr/>
        </p:nvSpPr>
        <p:spPr>
          <a:xfrm>
            <a:off x="1701800" y="42100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4" name="s17074"/>
          <p:cNvSpPr/>
          <p:nvPr/>
        </p:nvSpPr>
        <p:spPr>
          <a:xfrm>
            <a:off x="1682750" y="41243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5" name="s17075"/>
          <p:cNvSpPr/>
          <p:nvPr/>
        </p:nvSpPr>
        <p:spPr>
          <a:xfrm>
            <a:off x="1663700" y="40386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6" name="s17076"/>
          <p:cNvSpPr/>
          <p:nvPr/>
        </p:nvSpPr>
        <p:spPr>
          <a:xfrm>
            <a:off x="1644650" y="39528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7" name="s17077"/>
          <p:cNvSpPr/>
          <p:nvPr/>
        </p:nvSpPr>
        <p:spPr>
          <a:xfrm>
            <a:off x="1625600" y="38671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8" name="s17078"/>
          <p:cNvSpPr/>
          <p:nvPr/>
        </p:nvSpPr>
        <p:spPr>
          <a:xfrm>
            <a:off x="1606550" y="37814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79" name="s17079"/>
          <p:cNvSpPr/>
          <p:nvPr/>
        </p:nvSpPr>
        <p:spPr>
          <a:xfrm>
            <a:off x="1587500" y="369570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0" name="s17080"/>
          <p:cNvSpPr/>
          <p:nvPr/>
        </p:nvSpPr>
        <p:spPr>
          <a:xfrm>
            <a:off x="1568450" y="360997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1" name="s17081"/>
          <p:cNvSpPr/>
          <p:nvPr/>
        </p:nvSpPr>
        <p:spPr>
          <a:xfrm>
            <a:off x="1549400" y="3524250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2" name="s17082"/>
          <p:cNvSpPr/>
          <p:nvPr/>
        </p:nvSpPr>
        <p:spPr>
          <a:xfrm>
            <a:off x="1530350" y="3438525"/>
            <a:ext cx="25400" cy="254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3" name="s17083"/>
          <p:cNvSpPr/>
          <p:nvPr/>
        </p:nvSpPr>
        <p:spPr>
          <a:xfrm>
            <a:off x="1447800" y="3289300"/>
            <a:ext cx="152400" cy="1524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4" name="t17084"/>
          <p:cNvSpPr txBox="1"/>
          <p:nvPr/>
        </p:nvSpPr>
        <p:spPr>
          <a:xfrm>
            <a:off x="1651000" y="32639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8C96D"/>
                </a:solidFill>
                <a:latin typeface="Times New Roman"/>
                <a:cs typeface="Times New Roman"/>
              </a:rPr>
              <a:t>WP1</a:t>
            </a:r>
          </a:p>
        </p:txBody>
      </p:sp>
      <p:sp>
        <p:nvSpPr>
          <p:cNvPr id="17085" name="s17085"/>
          <p:cNvSpPr/>
          <p:nvPr/>
        </p:nvSpPr>
        <p:spPr>
          <a:xfrm>
            <a:off x="4368800" y="3416300"/>
            <a:ext cx="152400" cy="1524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6" name="t17086"/>
          <p:cNvSpPr txBox="1"/>
          <p:nvPr/>
        </p:nvSpPr>
        <p:spPr>
          <a:xfrm>
            <a:off x="4572000" y="33909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8C96D"/>
                </a:solidFill>
                <a:latin typeface="Times New Roman"/>
                <a:cs typeface="Times New Roman"/>
              </a:rPr>
              <a:t>WP2</a:t>
            </a:r>
          </a:p>
        </p:txBody>
      </p:sp>
      <p:sp>
        <p:nvSpPr>
          <p:cNvPr id="17087" name="s17087"/>
          <p:cNvSpPr/>
          <p:nvPr/>
        </p:nvSpPr>
        <p:spPr>
          <a:xfrm>
            <a:off x="4622800" y="5130800"/>
            <a:ext cx="152400" cy="1524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88" name="t17088"/>
          <p:cNvSpPr txBox="1"/>
          <p:nvPr/>
        </p:nvSpPr>
        <p:spPr>
          <a:xfrm>
            <a:off x="4826000" y="51054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8C96D"/>
                </a:solidFill>
                <a:latin typeface="Times New Roman"/>
                <a:cs typeface="Times New Roman"/>
              </a:rPr>
              <a:t>WP3</a:t>
            </a:r>
          </a:p>
        </p:txBody>
      </p:sp>
      <p:sp>
        <p:nvSpPr>
          <p:cNvPr id="17089" name="s17089"/>
          <p:cNvSpPr/>
          <p:nvPr/>
        </p:nvSpPr>
        <p:spPr>
          <a:xfrm>
            <a:off x="1828800" y="5003800"/>
            <a:ext cx="152400" cy="1524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0" name="t17090"/>
          <p:cNvSpPr txBox="1"/>
          <p:nvPr/>
        </p:nvSpPr>
        <p:spPr>
          <a:xfrm>
            <a:off x="2032000" y="49784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8C96D"/>
                </a:solidFill>
                <a:latin typeface="Times New Roman"/>
                <a:cs typeface="Times New Roman"/>
              </a:rPr>
              <a:t>WP4</a:t>
            </a:r>
          </a:p>
        </p:txBody>
      </p:sp>
      <p:sp>
        <p:nvSpPr>
          <p:cNvPr id="17091" name="s17091"/>
          <p:cNvSpPr/>
          <p:nvPr/>
        </p:nvSpPr>
        <p:spPr>
          <a:xfrm>
            <a:off x="3060700" y="4298950"/>
            <a:ext cx="228600" cy="228600"/>
          </a:xfrm>
          <a:prstGeom prst="diamond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2" name="t17092"/>
          <p:cNvSpPr txBox="1"/>
          <p:nvPr/>
        </p:nvSpPr>
        <p:spPr>
          <a:xfrm>
            <a:off x="3365500" y="431165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50" b="1" spc="200" dirty="0">
                <a:solidFill>
                  <a:srgbClr val="E8C96D"/>
                </a:solidFill>
                <a:latin typeface="Times New Roman"/>
                <a:cs typeface="Times New Roman"/>
              </a:rPr>
              <a:t>HOME</a:t>
            </a:r>
          </a:p>
        </p:txBody>
      </p:sp>
      <p:sp>
        <p:nvSpPr>
          <p:cNvPr id="17093" name="t17093"/>
          <p:cNvSpPr txBox="1"/>
          <p:nvPr/>
        </p:nvSpPr>
        <p:spPr>
          <a:xfrm>
            <a:off x="5969000" y="24765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FAILSAFE CONDITIONS</a:t>
            </a:r>
          </a:p>
        </p:txBody>
      </p:sp>
      <p:sp>
        <p:nvSpPr>
          <p:cNvPr id="17094" name="s17094"/>
          <p:cNvSpPr/>
          <p:nvPr/>
        </p:nvSpPr>
        <p:spPr>
          <a:xfrm>
            <a:off x="5969000" y="27559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5" name="s17095"/>
          <p:cNvSpPr/>
          <p:nvPr/>
        </p:nvSpPr>
        <p:spPr>
          <a:xfrm>
            <a:off x="5969000" y="29845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6" name="s17096"/>
          <p:cNvSpPr/>
          <p:nvPr/>
        </p:nvSpPr>
        <p:spPr>
          <a:xfrm>
            <a:off x="5969000" y="29845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7" name="t17097"/>
          <p:cNvSpPr txBox="1"/>
          <p:nvPr/>
        </p:nvSpPr>
        <p:spPr>
          <a:xfrm>
            <a:off x="6159500" y="30480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Geofence breach</a:t>
            </a:r>
          </a:p>
        </p:txBody>
      </p:sp>
      <p:sp>
        <p:nvSpPr>
          <p:cNvPr id="17098" name="s17098"/>
          <p:cNvSpPr/>
          <p:nvPr/>
        </p:nvSpPr>
        <p:spPr>
          <a:xfrm>
            <a:off x="8509000" y="30861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099" name="t17099"/>
          <p:cNvSpPr txBox="1"/>
          <p:nvPr/>
        </p:nvSpPr>
        <p:spPr>
          <a:xfrm>
            <a:off x="8826500" y="3098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Auto RTL to home immediately</a:t>
            </a:r>
          </a:p>
        </p:txBody>
      </p:sp>
      <p:sp>
        <p:nvSpPr>
          <p:cNvPr id="17100" name="s17100"/>
          <p:cNvSpPr/>
          <p:nvPr/>
        </p:nvSpPr>
        <p:spPr>
          <a:xfrm>
            <a:off x="5969000" y="35179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1" name="s17101"/>
          <p:cNvSpPr/>
          <p:nvPr/>
        </p:nvSpPr>
        <p:spPr>
          <a:xfrm>
            <a:off x="5969000" y="35179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2" name="t17102"/>
          <p:cNvSpPr txBox="1"/>
          <p:nvPr/>
        </p:nvSpPr>
        <p:spPr>
          <a:xfrm>
            <a:off x="6159500" y="35814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RC link loss &gt; 5 s</a:t>
            </a:r>
          </a:p>
        </p:txBody>
      </p:sp>
      <p:sp>
        <p:nvSpPr>
          <p:cNvPr id="17103" name="s17103"/>
          <p:cNvSpPr/>
          <p:nvPr/>
        </p:nvSpPr>
        <p:spPr>
          <a:xfrm>
            <a:off x="8509000" y="36195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4" name="t17104"/>
          <p:cNvSpPr txBox="1"/>
          <p:nvPr/>
        </p:nvSpPr>
        <p:spPr>
          <a:xfrm>
            <a:off x="8826500" y="36322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Pilot loop hold, then RTL</a:t>
            </a:r>
          </a:p>
        </p:txBody>
      </p:sp>
      <p:sp>
        <p:nvSpPr>
          <p:cNvPr id="17105" name="s17105"/>
          <p:cNvSpPr/>
          <p:nvPr/>
        </p:nvSpPr>
        <p:spPr>
          <a:xfrm>
            <a:off x="5969000" y="40513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6" name="s17106"/>
          <p:cNvSpPr/>
          <p:nvPr/>
        </p:nvSpPr>
        <p:spPr>
          <a:xfrm>
            <a:off x="5969000" y="40513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7" name="t17107"/>
          <p:cNvSpPr txBox="1"/>
          <p:nvPr/>
        </p:nvSpPr>
        <p:spPr>
          <a:xfrm>
            <a:off x="6159500" y="41148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Backend WSS loss</a:t>
            </a:r>
          </a:p>
        </p:txBody>
      </p:sp>
      <p:sp>
        <p:nvSpPr>
          <p:cNvPr id="17108" name="s17108"/>
          <p:cNvSpPr/>
          <p:nvPr/>
        </p:nvSpPr>
        <p:spPr>
          <a:xfrm>
            <a:off x="8509000" y="41529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09" name="t17109"/>
          <p:cNvSpPr txBox="1"/>
          <p:nvPr/>
        </p:nvSpPr>
        <p:spPr>
          <a:xfrm>
            <a:off x="8826500" y="41656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Continue mission, queue alerts</a:t>
            </a:r>
          </a:p>
        </p:txBody>
      </p:sp>
      <p:sp>
        <p:nvSpPr>
          <p:cNvPr id="17110" name="s17110"/>
          <p:cNvSpPr/>
          <p:nvPr/>
        </p:nvSpPr>
        <p:spPr>
          <a:xfrm>
            <a:off x="5969000" y="45847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1" name="s17111"/>
          <p:cNvSpPr/>
          <p:nvPr/>
        </p:nvSpPr>
        <p:spPr>
          <a:xfrm>
            <a:off x="5969000" y="45847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2" name="t17112"/>
          <p:cNvSpPr txBox="1"/>
          <p:nvPr/>
        </p:nvSpPr>
        <p:spPr>
          <a:xfrm>
            <a:off x="6159500" y="4648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GPS quality poor</a:t>
            </a:r>
          </a:p>
        </p:txBody>
      </p:sp>
      <p:sp>
        <p:nvSpPr>
          <p:cNvPr id="17113" name="s17113"/>
          <p:cNvSpPr/>
          <p:nvPr/>
        </p:nvSpPr>
        <p:spPr>
          <a:xfrm>
            <a:off x="8509000" y="46863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4" name="t17114"/>
          <p:cNvSpPr txBox="1"/>
          <p:nvPr/>
        </p:nvSpPr>
        <p:spPr>
          <a:xfrm>
            <a:off x="8826500" y="46990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Abort patrol, hover and alert</a:t>
            </a:r>
          </a:p>
        </p:txBody>
      </p:sp>
      <p:sp>
        <p:nvSpPr>
          <p:cNvPr id="17115" name="s17115"/>
          <p:cNvSpPr/>
          <p:nvPr/>
        </p:nvSpPr>
        <p:spPr>
          <a:xfrm>
            <a:off x="5969000" y="51181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6" name="s17116"/>
          <p:cNvSpPr/>
          <p:nvPr/>
        </p:nvSpPr>
        <p:spPr>
          <a:xfrm>
            <a:off x="5969000" y="51181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7" name="t17117"/>
          <p:cNvSpPr txBox="1"/>
          <p:nvPr/>
        </p:nvSpPr>
        <p:spPr>
          <a:xfrm>
            <a:off x="6159500" y="5181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Battery &lt; 25%</a:t>
            </a:r>
          </a:p>
        </p:txBody>
      </p:sp>
      <p:sp>
        <p:nvSpPr>
          <p:cNvPr id="17118" name="s17118"/>
          <p:cNvSpPr/>
          <p:nvPr/>
        </p:nvSpPr>
        <p:spPr>
          <a:xfrm>
            <a:off x="8509000" y="52197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19" name="t17119"/>
          <p:cNvSpPr txBox="1"/>
          <p:nvPr/>
        </p:nvSpPr>
        <p:spPr>
          <a:xfrm>
            <a:off x="8826500" y="52324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Force RETURN state</a:t>
            </a:r>
          </a:p>
        </p:txBody>
      </p:sp>
      <p:sp>
        <p:nvSpPr>
          <p:cNvPr id="17120" name="s17120"/>
          <p:cNvSpPr/>
          <p:nvPr/>
        </p:nvSpPr>
        <p:spPr>
          <a:xfrm>
            <a:off x="5969000" y="5651500"/>
            <a:ext cx="5461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21" name="s17121"/>
          <p:cNvSpPr/>
          <p:nvPr/>
        </p:nvSpPr>
        <p:spPr>
          <a:xfrm>
            <a:off x="5969000" y="5651500"/>
            <a:ext cx="381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22" name="t17122"/>
          <p:cNvSpPr txBox="1"/>
          <p:nvPr/>
        </p:nvSpPr>
        <p:spPr>
          <a:xfrm>
            <a:off x="6159500" y="57150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/>
                <a:cs typeface="Times New Roman"/>
              </a:rPr>
              <a:t>Manual override</a:t>
            </a:r>
          </a:p>
        </p:txBody>
      </p:sp>
      <p:sp>
        <p:nvSpPr>
          <p:cNvPr id="17123" name="s17123"/>
          <p:cNvSpPr/>
          <p:nvPr/>
        </p:nvSpPr>
        <p:spPr>
          <a:xfrm>
            <a:off x="8509000" y="5753100"/>
            <a:ext cx="254000" cy="2286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7124" name="t17124"/>
          <p:cNvSpPr txBox="1"/>
          <p:nvPr/>
        </p:nvSpPr>
        <p:spPr>
          <a:xfrm>
            <a:off x="8826500" y="5765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RC takes priority over autonomy</a:t>
            </a:r>
          </a:p>
        </p:txBody>
      </p:sp>
    </p:spTree>
    <p:extLst>
      <p:ext uri="{BB962C8B-B14F-4D97-AF65-F5344CB8AC3E}">
        <p14:creationId xmlns:p14="http://schemas.microsoft.com/office/powerpoint/2010/main" val="2298976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1" name="t18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06  ·  SIMULATION VALIDATION</a:t>
            </a:r>
          </a:p>
        </p:txBody>
      </p:sp>
      <p:sp>
        <p:nvSpPr>
          <p:cNvPr id="18002" name="t18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Gazebo + ArduPilot SITL</a:t>
            </a:r>
          </a:p>
        </p:txBody>
      </p:sp>
      <p:sp>
        <p:nvSpPr>
          <p:cNvPr id="18003" name="s18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4" name="s18004"/>
          <p:cNvSpPr/>
          <p:nvPr/>
        </p:nvSpPr>
        <p:spPr>
          <a:xfrm>
            <a:off x="762000" y="2476500"/>
            <a:ext cx="5207000" cy="3048000"/>
          </a:xfrm>
          <a:prstGeom prst="rect">
            <a:avLst/>
          </a:prstGeom>
          <a:solidFill>
            <a:srgbClr val="0A0A0A"/>
          </a:solidFill>
          <a:ln w="12700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5" name="s18005"/>
          <p:cNvSpPr/>
          <p:nvPr/>
        </p:nvSpPr>
        <p:spPr>
          <a:xfrm>
            <a:off x="889000" y="2603500"/>
            <a:ext cx="495300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6" name="s18006"/>
          <p:cNvSpPr/>
          <p:nvPr/>
        </p:nvSpPr>
        <p:spPr>
          <a:xfrm>
            <a:off x="990600" y="2667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7" name="s18007"/>
          <p:cNvSpPr/>
          <p:nvPr/>
        </p:nvSpPr>
        <p:spPr>
          <a:xfrm>
            <a:off x="1143000" y="2667000"/>
            <a:ext cx="76200" cy="762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8" name="s18008"/>
          <p:cNvSpPr/>
          <p:nvPr/>
        </p:nvSpPr>
        <p:spPr>
          <a:xfrm>
            <a:off x="1295400" y="2667000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09" name="t18009"/>
          <p:cNvSpPr txBox="1"/>
          <p:nvPr/>
        </p:nvSpPr>
        <p:spPr>
          <a:xfrm>
            <a:off x="762000" y="3683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GAZEBO WORLD</a:t>
            </a:r>
          </a:p>
        </p:txBody>
      </p:sp>
      <p:sp>
        <p:nvSpPr>
          <p:cNvPr id="18010" name="t18010"/>
          <p:cNvSpPr txBox="1"/>
          <p:nvPr/>
        </p:nvSpPr>
        <p:spPr>
          <a:xfrm>
            <a:off x="762000" y="40640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3D environment + sensor simulation</a:t>
            </a:r>
          </a:p>
        </p:txBody>
      </p:sp>
      <p:sp>
        <p:nvSpPr>
          <p:cNvPr id="18011" name="t18011"/>
          <p:cNvSpPr txBox="1"/>
          <p:nvPr/>
        </p:nvSpPr>
        <p:spPr>
          <a:xfrm>
            <a:off x="762000" y="43180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[ INSERT SCREENSHOT ]</a:t>
            </a:r>
          </a:p>
        </p:txBody>
      </p:sp>
      <p:sp>
        <p:nvSpPr>
          <p:cNvPr id="18012" name="s18012"/>
          <p:cNvSpPr/>
          <p:nvPr/>
        </p:nvSpPr>
        <p:spPr>
          <a:xfrm>
            <a:off x="6223000" y="2476500"/>
            <a:ext cx="5207000" cy="3048000"/>
          </a:xfrm>
          <a:prstGeom prst="rect">
            <a:avLst/>
          </a:prstGeom>
          <a:solidFill>
            <a:srgbClr val="0A0A0A"/>
          </a:solidFill>
          <a:ln w="12700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13" name="s18013"/>
          <p:cNvSpPr/>
          <p:nvPr/>
        </p:nvSpPr>
        <p:spPr>
          <a:xfrm>
            <a:off x="6350000" y="2603500"/>
            <a:ext cx="4953000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14" name="s18014"/>
          <p:cNvSpPr/>
          <p:nvPr/>
        </p:nvSpPr>
        <p:spPr>
          <a:xfrm>
            <a:off x="6451600" y="2667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15" name="s18015"/>
          <p:cNvSpPr/>
          <p:nvPr/>
        </p:nvSpPr>
        <p:spPr>
          <a:xfrm>
            <a:off x="6604000" y="2667000"/>
            <a:ext cx="76200" cy="76200"/>
          </a:xfrm>
          <a:prstGeom prst="ellipse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16" name="s18016"/>
          <p:cNvSpPr/>
          <p:nvPr/>
        </p:nvSpPr>
        <p:spPr>
          <a:xfrm>
            <a:off x="6756400" y="2667000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17" name="t18017"/>
          <p:cNvSpPr txBox="1"/>
          <p:nvPr/>
        </p:nvSpPr>
        <p:spPr>
          <a:xfrm>
            <a:off x="6223000" y="3683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ARDUPILOT SITL</a:t>
            </a:r>
          </a:p>
        </p:txBody>
      </p:sp>
      <p:sp>
        <p:nvSpPr>
          <p:cNvPr id="18018" name="t18018"/>
          <p:cNvSpPr txBox="1"/>
          <p:nvPr/>
        </p:nvSpPr>
        <p:spPr>
          <a:xfrm>
            <a:off x="6223000" y="40640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Software-in-the-loop flight stack</a:t>
            </a:r>
          </a:p>
        </p:txBody>
      </p:sp>
      <p:sp>
        <p:nvSpPr>
          <p:cNvPr id="18019" name="t18019"/>
          <p:cNvSpPr txBox="1"/>
          <p:nvPr/>
        </p:nvSpPr>
        <p:spPr>
          <a:xfrm>
            <a:off x="6223000" y="4318000"/>
            <a:ext cx="5207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[ INSERT SCREENSHOT ]</a:t>
            </a:r>
          </a:p>
        </p:txBody>
      </p:sp>
      <p:sp>
        <p:nvSpPr>
          <p:cNvPr id="18020" name="s18020"/>
          <p:cNvSpPr/>
          <p:nvPr/>
        </p:nvSpPr>
        <p:spPr>
          <a:xfrm>
            <a:off x="762000" y="5715000"/>
            <a:ext cx="3429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21" name="s18021"/>
          <p:cNvSpPr/>
          <p:nvPr/>
        </p:nvSpPr>
        <p:spPr>
          <a:xfrm>
            <a:off x="762000" y="57150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22" name="t18022"/>
          <p:cNvSpPr txBox="1"/>
          <p:nvPr/>
        </p:nvSpPr>
        <p:spPr>
          <a:xfrm>
            <a:off x="952500" y="5816600"/>
            <a:ext cx="1270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000" b="1" dirty="0">
                <a:solidFill>
                  <a:srgbClr val="C9A84C"/>
                </a:solidFill>
                <a:latin typeface="Times New Roman"/>
                <a:cs typeface="Times New Roman"/>
              </a:rPr>
              <a:t>6/6</a:t>
            </a:r>
          </a:p>
        </p:txBody>
      </p:sp>
      <p:sp>
        <p:nvSpPr>
          <p:cNvPr id="18023" name="t18023"/>
          <p:cNvSpPr txBox="1"/>
          <p:nvPr/>
        </p:nvSpPr>
        <p:spPr>
          <a:xfrm>
            <a:off x="2222500" y="59182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FSM transitions verified</a:t>
            </a:r>
          </a:p>
        </p:txBody>
      </p:sp>
      <p:sp>
        <p:nvSpPr>
          <p:cNvPr id="18024" name="s18024"/>
          <p:cNvSpPr/>
          <p:nvPr/>
        </p:nvSpPr>
        <p:spPr>
          <a:xfrm>
            <a:off x="4406900" y="5715000"/>
            <a:ext cx="3429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25" name="s18025"/>
          <p:cNvSpPr/>
          <p:nvPr/>
        </p:nvSpPr>
        <p:spPr>
          <a:xfrm>
            <a:off x="4406900" y="57150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26" name="t18026"/>
          <p:cNvSpPr txBox="1"/>
          <p:nvPr/>
        </p:nvSpPr>
        <p:spPr>
          <a:xfrm>
            <a:off x="4597400" y="5816600"/>
            <a:ext cx="1270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000" b="1" dirty="0">
                <a:solidFill>
                  <a:srgbClr val="C9A84C"/>
                </a:solidFill>
                <a:latin typeface="Times New Roman"/>
                <a:cs typeface="Times New Roman"/>
              </a:rPr>
              <a:t>100%</a:t>
            </a:r>
          </a:p>
        </p:txBody>
      </p:sp>
      <p:sp>
        <p:nvSpPr>
          <p:cNvPr id="18027" name="t18027"/>
          <p:cNvSpPr txBox="1"/>
          <p:nvPr/>
        </p:nvSpPr>
        <p:spPr>
          <a:xfrm>
            <a:off x="5867400" y="59182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Geofence breach → RTL</a:t>
            </a:r>
          </a:p>
        </p:txBody>
      </p:sp>
      <p:sp>
        <p:nvSpPr>
          <p:cNvPr id="18028" name="s18028"/>
          <p:cNvSpPr/>
          <p:nvPr/>
        </p:nvSpPr>
        <p:spPr>
          <a:xfrm>
            <a:off x="8051800" y="5715000"/>
            <a:ext cx="3429000" cy="63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29" name="s18029"/>
          <p:cNvSpPr/>
          <p:nvPr/>
        </p:nvSpPr>
        <p:spPr>
          <a:xfrm>
            <a:off x="8051800" y="5715000"/>
            <a:ext cx="38100" cy="635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8030" name="t18030"/>
          <p:cNvSpPr txBox="1"/>
          <p:nvPr/>
        </p:nvSpPr>
        <p:spPr>
          <a:xfrm>
            <a:off x="8242300" y="5816600"/>
            <a:ext cx="1270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000" b="1" dirty="0">
                <a:solidFill>
                  <a:srgbClr val="C9A84C"/>
                </a:solidFill>
                <a:latin typeface="Times New Roman"/>
                <a:cs typeface="Times New Roman"/>
              </a:rPr>
              <a:t>~50</a:t>
            </a:r>
          </a:p>
        </p:txBody>
      </p:sp>
      <p:sp>
        <p:nvSpPr>
          <p:cNvPr id="18031" name="t18031"/>
          <p:cNvSpPr txBox="1"/>
          <p:nvPr/>
        </p:nvSpPr>
        <p:spPr>
          <a:xfrm>
            <a:off x="9512300" y="59182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Simulated mission runs</a:t>
            </a:r>
          </a:p>
        </p:txBody>
      </p:sp>
    </p:spTree>
    <p:extLst>
      <p:ext uri="{BB962C8B-B14F-4D97-AF65-F5344CB8AC3E}">
        <p14:creationId xmlns:p14="http://schemas.microsoft.com/office/powerpoint/2010/main" val="1367404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1" name="t19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06  ·  TESTING METHODOLOGY</a:t>
            </a:r>
          </a:p>
        </p:txBody>
      </p:sp>
      <p:sp>
        <p:nvSpPr>
          <p:cNvPr id="19002" name="t19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000" b="1" dirty="0">
                <a:solidFill>
                  <a:srgbClr val="E8C96D"/>
                </a:solidFill>
                <a:latin typeface="Times New Roman"/>
                <a:cs typeface="Times New Roman"/>
              </a:rPr>
              <a:t>Three-Tier Verification Strategy</a:t>
            </a:r>
          </a:p>
        </p:txBody>
      </p:sp>
      <p:sp>
        <p:nvSpPr>
          <p:cNvPr id="19003" name="s19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04" name="s19004"/>
          <p:cNvSpPr/>
          <p:nvPr/>
        </p:nvSpPr>
        <p:spPr>
          <a:xfrm>
            <a:off x="762000" y="2476500"/>
            <a:ext cx="3556000" cy="387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05" name="s19005"/>
          <p:cNvSpPr/>
          <p:nvPr/>
        </p:nvSpPr>
        <p:spPr>
          <a:xfrm>
            <a:off x="762000" y="2476500"/>
            <a:ext cx="355600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06" name="t19006"/>
          <p:cNvSpPr txBox="1"/>
          <p:nvPr/>
        </p:nvSpPr>
        <p:spPr>
          <a:xfrm>
            <a:off x="990600" y="27051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9007" name="t19007"/>
          <p:cNvSpPr txBox="1"/>
          <p:nvPr/>
        </p:nvSpPr>
        <p:spPr>
          <a:xfrm>
            <a:off x="1905000" y="27559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UNIT</a:t>
            </a:r>
          </a:p>
        </p:txBody>
      </p:sp>
      <p:sp>
        <p:nvSpPr>
          <p:cNvPr id="19008" name="t19008"/>
          <p:cNvSpPr txBox="1"/>
          <p:nvPr/>
        </p:nvSpPr>
        <p:spPr>
          <a:xfrm>
            <a:off x="1905000" y="30607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Component-level</a:t>
            </a:r>
          </a:p>
        </p:txBody>
      </p:sp>
      <p:sp>
        <p:nvSpPr>
          <p:cNvPr id="19009" name="s19009"/>
          <p:cNvSpPr/>
          <p:nvPr/>
        </p:nvSpPr>
        <p:spPr>
          <a:xfrm>
            <a:off x="990600" y="3467100"/>
            <a:ext cx="30988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0" name="s19010"/>
          <p:cNvSpPr/>
          <p:nvPr/>
        </p:nvSpPr>
        <p:spPr>
          <a:xfrm>
            <a:off x="1016000" y="3759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1" name="t19011"/>
          <p:cNvSpPr txBox="1"/>
          <p:nvPr/>
        </p:nvSpPr>
        <p:spPr>
          <a:xfrm>
            <a:off x="1193800" y="36830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ROS 2 node pytest suite</a:t>
            </a:r>
          </a:p>
        </p:txBody>
      </p:sp>
      <p:sp>
        <p:nvSpPr>
          <p:cNvPr id="19012" name="s19012"/>
          <p:cNvSpPr/>
          <p:nvPr/>
        </p:nvSpPr>
        <p:spPr>
          <a:xfrm>
            <a:off x="1016000" y="42164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3" name="t19013"/>
          <p:cNvSpPr txBox="1"/>
          <p:nvPr/>
        </p:nvSpPr>
        <p:spPr>
          <a:xfrm>
            <a:off x="1193800" y="41402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IFF lookup edge cases</a:t>
            </a:r>
          </a:p>
        </p:txBody>
      </p:sp>
      <p:sp>
        <p:nvSpPr>
          <p:cNvPr id="19014" name="s19014"/>
          <p:cNvSpPr/>
          <p:nvPr/>
        </p:nvSpPr>
        <p:spPr>
          <a:xfrm>
            <a:off x="1016000" y="46736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5" name="t19015"/>
          <p:cNvSpPr txBox="1"/>
          <p:nvPr/>
        </p:nvSpPr>
        <p:spPr>
          <a:xfrm>
            <a:off x="1193800" y="45974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JSON schema validation</a:t>
            </a:r>
          </a:p>
        </p:txBody>
      </p:sp>
      <p:sp>
        <p:nvSpPr>
          <p:cNvPr id="19016" name="s19016"/>
          <p:cNvSpPr/>
          <p:nvPr/>
        </p:nvSpPr>
        <p:spPr>
          <a:xfrm>
            <a:off x="1016000" y="51308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7" name="t19017"/>
          <p:cNvSpPr txBox="1"/>
          <p:nvPr/>
        </p:nvSpPr>
        <p:spPr>
          <a:xfrm>
            <a:off x="1193800" y="50546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FSM transition tests</a:t>
            </a:r>
          </a:p>
        </p:txBody>
      </p:sp>
      <p:sp>
        <p:nvSpPr>
          <p:cNvPr id="19018" name="s19018"/>
          <p:cNvSpPr/>
          <p:nvPr/>
        </p:nvSpPr>
        <p:spPr>
          <a:xfrm>
            <a:off x="1016000" y="5588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19" name="t19019"/>
          <p:cNvSpPr txBox="1"/>
          <p:nvPr/>
        </p:nvSpPr>
        <p:spPr>
          <a:xfrm>
            <a:off x="1193800" y="5511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Mock GPS / mock camera</a:t>
            </a:r>
          </a:p>
        </p:txBody>
      </p:sp>
      <p:sp>
        <p:nvSpPr>
          <p:cNvPr id="19020" name="s19020"/>
          <p:cNvSpPr/>
          <p:nvPr/>
        </p:nvSpPr>
        <p:spPr>
          <a:xfrm>
            <a:off x="990600" y="5943600"/>
            <a:ext cx="30988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21" name="t19021"/>
          <p:cNvSpPr txBox="1"/>
          <p:nvPr/>
        </p:nvSpPr>
        <p:spPr>
          <a:xfrm>
            <a:off x="990600" y="60706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200" dirty="0">
                <a:solidFill>
                  <a:srgbClr val="C9A84C"/>
                </a:solidFill>
                <a:latin typeface="Times New Roman"/>
                <a:cs typeface="Times New Roman"/>
              </a:rPr>
              <a:t>70+ test cases</a:t>
            </a:r>
          </a:p>
        </p:txBody>
      </p:sp>
      <p:sp>
        <p:nvSpPr>
          <p:cNvPr id="19022" name="s19022"/>
          <p:cNvSpPr/>
          <p:nvPr/>
        </p:nvSpPr>
        <p:spPr>
          <a:xfrm>
            <a:off x="4381500" y="2476500"/>
            <a:ext cx="3556000" cy="387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23" name="s19023"/>
          <p:cNvSpPr/>
          <p:nvPr/>
        </p:nvSpPr>
        <p:spPr>
          <a:xfrm>
            <a:off x="4381500" y="2476500"/>
            <a:ext cx="355600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24" name="t19024"/>
          <p:cNvSpPr txBox="1"/>
          <p:nvPr/>
        </p:nvSpPr>
        <p:spPr>
          <a:xfrm>
            <a:off x="4610100" y="27051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19025" name="t19025"/>
          <p:cNvSpPr txBox="1"/>
          <p:nvPr/>
        </p:nvSpPr>
        <p:spPr>
          <a:xfrm>
            <a:off x="5524500" y="27559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INTEGRATION</a:t>
            </a:r>
          </a:p>
        </p:txBody>
      </p:sp>
      <p:sp>
        <p:nvSpPr>
          <p:cNvPr id="19026" name="t19026"/>
          <p:cNvSpPr txBox="1"/>
          <p:nvPr/>
        </p:nvSpPr>
        <p:spPr>
          <a:xfrm>
            <a:off x="5524500" y="30607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Subsystem chains</a:t>
            </a:r>
          </a:p>
        </p:txBody>
      </p:sp>
      <p:sp>
        <p:nvSpPr>
          <p:cNvPr id="19027" name="s19027"/>
          <p:cNvSpPr/>
          <p:nvPr/>
        </p:nvSpPr>
        <p:spPr>
          <a:xfrm>
            <a:off x="4610100" y="3467100"/>
            <a:ext cx="30988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28" name="s19028"/>
          <p:cNvSpPr/>
          <p:nvPr/>
        </p:nvSpPr>
        <p:spPr>
          <a:xfrm>
            <a:off x="4635500" y="3759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29" name="t19029"/>
          <p:cNvSpPr txBox="1"/>
          <p:nvPr/>
        </p:nvSpPr>
        <p:spPr>
          <a:xfrm>
            <a:off x="4813300" y="36830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Detection → IFF → Alert path</a:t>
            </a:r>
          </a:p>
        </p:txBody>
      </p:sp>
      <p:sp>
        <p:nvSpPr>
          <p:cNvPr id="19030" name="s19030"/>
          <p:cNvSpPr/>
          <p:nvPr/>
        </p:nvSpPr>
        <p:spPr>
          <a:xfrm>
            <a:off x="4635500" y="42164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31" name="t19031"/>
          <p:cNvSpPr txBox="1"/>
          <p:nvPr/>
        </p:nvSpPr>
        <p:spPr>
          <a:xfrm>
            <a:off x="4813300" y="41402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Drone ⇄ backend WSS handshake</a:t>
            </a:r>
          </a:p>
        </p:txBody>
      </p:sp>
      <p:sp>
        <p:nvSpPr>
          <p:cNvPr id="19032" name="s19032"/>
          <p:cNvSpPr/>
          <p:nvPr/>
        </p:nvSpPr>
        <p:spPr>
          <a:xfrm>
            <a:off x="4635500" y="46736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33" name="t19033"/>
          <p:cNvSpPr txBox="1"/>
          <p:nvPr/>
        </p:nvSpPr>
        <p:spPr>
          <a:xfrm>
            <a:off x="4813300" y="45974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Backend ⇄ GCS event delivery</a:t>
            </a:r>
          </a:p>
        </p:txBody>
      </p:sp>
      <p:sp>
        <p:nvSpPr>
          <p:cNvPr id="19034" name="s19034"/>
          <p:cNvSpPr/>
          <p:nvPr/>
        </p:nvSpPr>
        <p:spPr>
          <a:xfrm>
            <a:off x="4635500" y="51308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35" name="t19035"/>
          <p:cNvSpPr txBox="1"/>
          <p:nvPr/>
        </p:nvSpPr>
        <p:spPr>
          <a:xfrm>
            <a:off x="4813300" y="50546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FSM under simulated failures</a:t>
            </a:r>
          </a:p>
        </p:txBody>
      </p:sp>
      <p:sp>
        <p:nvSpPr>
          <p:cNvPr id="19036" name="s19036"/>
          <p:cNvSpPr/>
          <p:nvPr/>
        </p:nvSpPr>
        <p:spPr>
          <a:xfrm>
            <a:off x="4635500" y="5588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37" name="t19037"/>
          <p:cNvSpPr txBox="1"/>
          <p:nvPr/>
        </p:nvSpPr>
        <p:spPr>
          <a:xfrm>
            <a:off x="4813300" y="5511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Loopback latency measurement</a:t>
            </a:r>
          </a:p>
        </p:txBody>
      </p:sp>
      <p:sp>
        <p:nvSpPr>
          <p:cNvPr id="19038" name="s19038"/>
          <p:cNvSpPr/>
          <p:nvPr/>
        </p:nvSpPr>
        <p:spPr>
          <a:xfrm>
            <a:off x="4610100" y="5943600"/>
            <a:ext cx="30988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39" name="t19039"/>
          <p:cNvSpPr txBox="1"/>
          <p:nvPr/>
        </p:nvSpPr>
        <p:spPr>
          <a:xfrm>
            <a:off x="4610100" y="60706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200" dirty="0">
                <a:solidFill>
                  <a:srgbClr val="C9A84C"/>
                </a:solidFill>
                <a:latin typeface="Times New Roman"/>
                <a:cs typeface="Times New Roman"/>
              </a:rPr>
              <a:t>12 scenarios</a:t>
            </a:r>
          </a:p>
        </p:txBody>
      </p:sp>
      <p:sp>
        <p:nvSpPr>
          <p:cNvPr id="19040" name="s19040"/>
          <p:cNvSpPr/>
          <p:nvPr/>
        </p:nvSpPr>
        <p:spPr>
          <a:xfrm>
            <a:off x="8001000" y="2476500"/>
            <a:ext cx="3556000" cy="387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41" name="s19041"/>
          <p:cNvSpPr/>
          <p:nvPr/>
        </p:nvSpPr>
        <p:spPr>
          <a:xfrm>
            <a:off x="8001000" y="2476500"/>
            <a:ext cx="355600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42" name="t19042"/>
          <p:cNvSpPr txBox="1"/>
          <p:nvPr/>
        </p:nvSpPr>
        <p:spPr>
          <a:xfrm>
            <a:off x="8229600" y="27051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9043" name="t19043"/>
          <p:cNvSpPr txBox="1"/>
          <p:nvPr/>
        </p:nvSpPr>
        <p:spPr>
          <a:xfrm>
            <a:off x="9144000" y="27559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FIELD</a:t>
            </a:r>
          </a:p>
        </p:txBody>
      </p:sp>
      <p:sp>
        <p:nvSpPr>
          <p:cNvPr id="19044" name="t19044"/>
          <p:cNvSpPr txBox="1"/>
          <p:nvPr/>
        </p:nvSpPr>
        <p:spPr>
          <a:xfrm>
            <a:off x="9144000" y="30607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/>
                <a:cs typeface="Times New Roman"/>
              </a:rPr>
              <a:t>Real-world flights</a:t>
            </a:r>
          </a:p>
        </p:txBody>
      </p:sp>
      <p:sp>
        <p:nvSpPr>
          <p:cNvPr id="19045" name="s19045"/>
          <p:cNvSpPr/>
          <p:nvPr/>
        </p:nvSpPr>
        <p:spPr>
          <a:xfrm>
            <a:off x="8229600" y="3467100"/>
            <a:ext cx="30988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46" name="s19046"/>
          <p:cNvSpPr/>
          <p:nvPr/>
        </p:nvSpPr>
        <p:spPr>
          <a:xfrm>
            <a:off x="8255000" y="37592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47" name="t19047"/>
          <p:cNvSpPr txBox="1"/>
          <p:nvPr/>
        </p:nvSpPr>
        <p:spPr>
          <a:xfrm>
            <a:off x="8432800" y="36830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Outdoor patrol over open area</a:t>
            </a:r>
          </a:p>
        </p:txBody>
      </p:sp>
      <p:sp>
        <p:nvSpPr>
          <p:cNvPr id="19048" name="s19048"/>
          <p:cNvSpPr/>
          <p:nvPr/>
        </p:nvSpPr>
        <p:spPr>
          <a:xfrm>
            <a:off x="8255000" y="42164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49" name="t19049"/>
          <p:cNvSpPr txBox="1"/>
          <p:nvPr/>
        </p:nvSpPr>
        <p:spPr>
          <a:xfrm>
            <a:off x="8432800" y="41402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Drone-vs-drone detection</a:t>
            </a:r>
          </a:p>
        </p:txBody>
      </p:sp>
      <p:sp>
        <p:nvSpPr>
          <p:cNvPr id="19050" name="s19050"/>
          <p:cNvSpPr/>
          <p:nvPr/>
        </p:nvSpPr>
        <p:spPr>
          <a:xfrm>
            <a:off x="8255000" y="46736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51" name="t19051"/>
          <p:cNvSpPr txBox="1"/>
          <p:nvPr/>
        </p:nvSpPr>
        <p:spPr>
          <a:xfrm>
            <a:off x="8432800" y="45974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LTE handoff between cells</a:t>
            </a:r>
          </a:p>
        </p:txBody>
      </p:sp>
      <p:sp>
        <p:nvSpPr>
          <p:cNvPr id="19052" name="s19052"/>
          <p:cNvSpPr/>
          <p:nvPr/>
        </p:nvSpPr>
        <p:spPr>
          <a:xfrm>
            <a:off x="8255000" y="51308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53" name="t19053"/>
          <p:cNvSpPr txBox="1"/>
          <p:nvPr/>
        </p:nvSpPr>
        <p:spPr>
          <a:xfrm>
            <a:off x="8432800" y="50546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Geofence breach trial</a:t>
            </a:r>
          </a:p>
        </p:txBody>
      </p:sp>
      <p:sp>
        <p:nvSpPr>
          <p:cNvPr id="19054" name="s19054"/>
          <p:cNvSpPr/>
          <p:nvPr/>
        </p:nvSpPr>
        <p:spPr>
          <a:xfrm>
            <a:off x="8255000" y="5588000"/>
            <a:ext cx="76200" cy="76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55" name="t19055"/>
          <p:cNvSpPr txBox="1"/>
          <p:nvPr/>
        </p:nvSpPr>
        <p:spPr>
          <a:xfrm>
            <a:off x="8432800" y="5511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Multi-target scenarios</a:t>
            </a:r>
          </a:p>
        </p:txBody>
      </p:sp>
      <p:sp>
        <p:nvSpPr>
          <p:cNvPr id="19056" name="s19056"/>
          <p:cNvSpPr/>
          <p:nvPr/>
        </p:nvSpPr>
        <p:spPr>
          <a:xfrm>
            <a:off x="8229600" y="5943600"/>
            <a:ext cx="30988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9057" name="t19057"/>
          <p:cNvSpPr txBox="1"/>
          <p:nvPr/>
        </p:nvSpPr>
        <p:spPr>
          <a:xfrm>
            <a:off x="8229600" y="6070600"/>
            <a:ext cx="309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200" dirty="0">
                <a:solidFill>
                  <a:srgbClr val="C9A84C"/>
                </a:solidFill>
                <a:latin typeface="Times New Roman"/>
                <a:cs typeface="Times New Roman"/>
              </a:rPr>
              <a:t>Live flights</a:t>
            </a:r>
          </a:p>
        </p:txBody>
      </p:sp>
    </p:spTree>
    <p:extLst>
      <p:ext uri="{BB962C8B-B14F-4D97-AF65-F5344CB8AC3E}">
        <p14:creationId xmlns:p14="http://schemas.microsoft.com/office/powerpoint/2010/main" val="3197936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1" name="t20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06  ·  DETECTION RESULTS</a:t>
            </a:r>
          </a:p>
        </p:txBody>
      </p:sp>
      <p:sp>
        <p:nvSpPr>
          <p:cNvPr id="20002" name="t20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800" b="1" dirty="0">
                <a:solidFill>
                  <a:srgbClr val="E8C96D"/>
                </a:solidFill>
                <a:latin typeface="Times New Roman"/>
                <a:cs typeface="Times New Roman"/>
              </a:rPr>
              <a:t>Sample Detections from Field Trials</a:t>
            </a:r>
          </a:p>
        </p:txBody>
      </p:sp>
      <p:sp>
        <p:nvSpPr>
          <p:cNvPr id="20003" name="s20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04" name="s20004"/>
          <p:cNvSpPr/>
          <p:nvPr/>
        </p:nvSpPr>
        <p:spPr>
          <a:xfrm>
            <a:off x="762000" y="2476500"/>
            <a:ext cx="3556000" cy="2794000"/>
          </a:xfrm>
          <a:prstGeom prst="rect">
            <a:avLst/>
          </a:prstGeom>
          <a:solidFill>
            <a:srgbClr val="0A0A0A"/>
          </a:solidFill>
          <a:ln w="9525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05" name="s20005"/>
          <p:cNvSpPr/>
          <p:nvPr/>
        </p:nvSpPr>
        <p:spPr>
          <a:xfrm>
            <a:off x="1397000" y="3111500"/>
            <a:ext cx="2286000" cy="1397000"/>
          </a:xfrm>
          <a:prstGeom prst="rect">
            <a:avLst/>
          </a:prstGeom>
          <a:noFill/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06" name="s20006"/>
          <p:cNvSpPr/>
          <p:nvPr/>
        </p:nvSpPr>
        <p:spPr>
          <a:xfrm>
            <a:off x="1397000" y="2959100"/>
            <a:ext cx="1524000" cy="20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07" name="t20007"/>
          <p:cNvSpPr txBox="1"/>
          <p:nvPr/>
        </p:nvSpPr>
        <p:spPr>
          <a:xfrm>
            <a:off x="1397000" y="2959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0A0A0A"/>
                </a:solidFill>
                <a:latin typeface="Times New Roman"/>
                <a:cs typeface="Times New Roman"/>
              </a:rPr>
              <a:t>drone 0.91</a:t>
            </a:r>
          </a:p>
        </p:txBody>
      </p:sp>
      <p:sp>
        <p:nvSpPr>
          <p:cNvPr id="20008" name="t20008"/>
          <p:cNvSpPr txBox="1"/>
          <p:nvPr/>
        </p:nvSpPr>
        <p:spPr>
          <a:xfrm>
            <a:off x="762000" y="48895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[ INSERT DETECTION FRAME ]</a:t>
            </a:r>
          </a:p>
        </p:txBody>
      </p:sp>
      <p:sp>
        <p:nvSpPr>
          <p:cNvPr id="20009" name="s20009"/>
          <p:cNvSpPr/>
          <p:nvPr/>
        </p:nvSpPr>
        <p:spPr>
          <a:xfrm>
            <a:off x="762000" y="5372100"/>
            <a:ext cx="3556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10" name="s20010"/>
          <p:cNvSpPr/>
          <p:nvPr/>
        </p:nvSpPr>
        <p:spPr>
          <a:xfrm>
            <a:off x="762000" y="5372100"/>
            <a:ext cx="38100" cy="952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11" name="t20011"/>
          <p:cNvSpPr txBox="1"/>
          <p:nvPr/>
        </p:nvSpPr>
        <p:spPr>
          <a:xfrm>
            <a:off x="914400" y="5461000"/>
            <a:ext cx="325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Drone @ 80 m</a:t>
            </a:r>
          </a:p>
        </p:txBody>
      </p:sp>
      <p:sp>
        <p:nvSpPr>
          <p:cNvPr id="20012" name="t20012"/>
          <p:cNvSpPr txBox="1"/>
          <p:nvPr/>
        </p:nvSpPr>
        <p:spPr>
          <a:xfrm>
            <a:off x="914400" y="5753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class: drone   ·   conf: 0.91</a:t>
            </a:r>
          </a:p>
        </p:txBody>
      </p:sp>
      <p:sp>
        <p:nvSpPr>
          <p:cNvPr id="20013" name="t20013"/>
          <p:cNvSpPr txBox="1"/>
          <p:nvPr/>
        </p:nvSpPr>
        <p:spPr>
          <a:xfrm>
            <a:off x="914400" y="6007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b="1" dirty="0">
                <a:solidFill>
                  <a:srgbClr val="C9A84C"/>
                </a:solidFill>
                <a:latin typeface="Times New Roman"/>
                <a:cs typeface="Times New Roman"/>
              </a:rPr>
              <a:t>IFF: UNKNOWN</a:t>
            </a:r>
          </a:p>
        </p:txBody>
      </p:sp>
      <p:sp>
        <p:nvSpPr>
          <p:cNvPr id="20014" name="s20014"/>
          <p:cNvSpPr/>
          <p:nvPr/>
        </p:nvSpPr>
        <p:spPr>
          <a:xfrm>
            <a:off x="4406900" y="2476500"/>
            <a:ext cx="3556000" cy="2794000"/>
          </a:xfrm>
          <a:prstGeom prst="rect">
            <a:avLst/>
          </a:prstGeom>
          <a:solidFill>
            <a:srgbClr val="0A0A0A"/>
          </a:solidFill>
          <a:ln w="9525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15" name="s20015"/>
          <p:cNvSpPr/>
          <p:nvPr/>
        </p:nvSpPr>
        <p:spPr>
          <a:xfrm>
            <a:off x="5041900" y="3111500"/>
            <a:ext cx="2286000" cy="1397000"/>
          </a:xfrm>
          <a:prstGeom prst="rect">
            <a:avLst/>
          </a:prstGeom>
          <a:noFill/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16" name="s20016"/>
          <p:cNvSpPr/>
          <p:nvPr/>
        </p:nvSpPr>
        <p:spPr>
          <a:xfrm>
            <a:off x="5041900" y="2959100"/>
            <a:ext cx="1524000" cy="20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17" name="t20017"/>
          <p:cNvSpPr txBox="1"/>
          <p:nvPr/>
        </p:nvSpPr>
        <p:spPr>
          <a:xfrm>
            <a:off x="5041900" y="2959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0A0A0A"/>
                </a:solidFill>
                <a:latin typeface="Times New Roman"/>
                <a:cs typeface="Times New Roman"/>
              </a:rPr>
              <a:t>person 0.87</a:t>
            </a:r>
          </a:p>
        </p:txBody>
      </p:sp>
      <p:sp>
        <p:nvSpPr>
          <p:cNvPr id="20018" name="t20018"/>
          <p:cNvSpPr txBox="1"/>
          <p:nvPr/>
        </p:nvSpPr>
        <p:spPr>
          <a:xfrm>
            <a:off x="4406900" y="48895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[ INSERT DETECTION FRAME ]</a:t>
            </a:r>
          </a:p>
        </p:txBody>
      </p:sp>
      <p:sp>
        <p:nvSpPr>
          <p:cNvPr id="20019" name="s20019"/>
          <p:cNvSpPr/>
          <p:nvPr/>
        </p:nvSpPr>
        <p:spPr>
          <a:xfrm>
            <a:off x="4406900" y="5372100"/>
            <a:ext cx="3556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20" name="s20020"/>
          <p:cNvSpPr/>
          <p:nvPr/>
        </p:nvSpPr>
        <p:spPr>
          <a:xfrm>
            <a:off x="4406900" y="5372100"/>
            <a:ext cx="38100" cy="952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21" name="t20021"/>
          <p:cNvSpPr txBox="1"/>
          <p:nvPr/>
        </p:nvSpPr>
        <p:spPr>
          <a:xfrm>
            <a:off x="4559300" y="5461000"/>
            <a:ext cx="325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Person on perimeter</a:t>
            </a:r>
          </a:p>
        </p:txBody>
      </p:sp>
      <p:sp>
        <p:nvSpPr>
          <p:cNvPr id="20022" name="t20022"/>
          <p:cNvSpPr txBox="1"/>
          <p:nvPr/>
        </p:nvSpPr>
        <p:spPr>
          <a:xfrm>
            <a:off x="4559300" y="5753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class: person   ·   conf: 0.87</a:t>
            </a:r>
          </a:p>
        </p:txBody>
      </p:sp>
      <p:sp>
        <p:nvSpPr>
          <p:cNvPr id="20023" name="t20023"/>
          <p:cNvSpPr txBox="1"/>
          <p:nvPr/>
        </p:nvSpPr>
        <p:spPr>
          <a:xfrm>
            <a:off x="4559300" y="6007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666666"/>
                </a:solidFill>
                <a:latin typeface="Times New Roman"/>
                <a:cs typeface="Times New Roman"/>
              </a:rPr>
              <a:t>IFF: —</a:t>
            </a:r>
          </a:p>
        </p:txBody>
      </p:sp>
      <p:sp>
        <p:nvSpPr>
          <p:cNvPr id="20024" name="s20024"/>
          <p:cNvSpPr/>
          <p:nvPr/>
        </p:nvSpPr>
        <p:spPr>
          <a:xfrm>
            <a:off x="8051800" y="2476500"/>
            <a:ext cx="3556000" cy="2794000"/>
          </a:xfrm>
          <a:prstGeom prst="rect">
            <a:avLst/>
          </a:prstGeom>
          <a:solidFill>
            <a:srgbClr val="0A0A0A"/>
          </a:solidFill>
          <a:ln w="9525" cap="flat">
            <a:solidFill>
              <a:srgbClr val="C9A84C"/>
            </a:solidFill>
            <a:prstDash val="dash"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25" name="s20025"/>
          <p:cNvSpPr/>
          <p:nvPr/>
        </p:nvSpPr>
        <p:spPr>
          <a:xfrm>
            <a:off x="8686800" y="3111500"/>
            <a:ext cx="2286000" cy="1397000"/>
          </a:xfrm>
          <a:prstGeom prst="rect">
            <a:avLst/>
          </a:prstGeom>
          <a:noFill/>
          <a:ln w="1270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26" name="s20026"/>
          <p:cNvSpPr/>
          <p:nvPr/>
        </p:nvSpPr>
        <p:spPr>
          <a:xfrm>
            <a:off x="8686800" y="2959100"/>
            <a:ext cx="1524000" cy="20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27" name="t20027"/>
          <p:cNvSpPr txBox="1"/>
          <p:nvPr/>
        </p:nvSpPr>
        <p:spPr>
          <a:xfrm>
            <a:off x="8686800" y="295910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850" b="1" dirty="0">
                <a:solidFill>
                  <a:srgbClr val="0A0A0A"/>
                </a:solidFill>
                <a:latin typeface="Times New Roman"/>
                <a:cs typeface="Times New Roman"/>
              </a:rPr>
              <a:t>car 0.79</a:t>
            </a:r>
          </a:p>
        </p:txBody>
      </p:sp>
      <p:sp>
        <p:nvSpPr>
          <p:cNvPr id="20028" name="t20028"/>
          <p:cNvSpPr txBox="1"/>
          <p:nvPr/>
        </p:nvSpPr>
        <p:spPr>
          <a:xfrm>
            <a:off x="8051800" y="48895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5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[ INSERT DETECTION FRAME ]</a:t>
            </a:r>
          </a:p>
        </p:txBody>
      </p:sp>
      <p:sp>
        <p:nvSpPr>
          <p:cNvPr id="20029" name="s20029"/>
          <p:cNvSpPr/>
          <p:nvPr/>
        </p:nvSpPr>
        <p:spPr>
          <a:xfrm>
            <a:off x="8051800" y="5372100"/>
            <a:ext cx="3556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30" name="s20030"/>
          <p:cNvSpPr/>
          <p:nvPr/>
        </p:nvSpPr>
        <p:spPr>
          <a:xfrm>
            <a:off x="8051800" y="5372100"/>
            <a:ext cx="38100" cy="952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0031" name="t20031"/>
          <p:cNvSpPr txBox="1"/>
          <p:nvPr/>
        </p:nvSpPr>
        <p:spPr>
          <a:xfrm>
            <a:off x="8204200" y="5461000"/>
            <a:ext cx="325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Vehicle approach</a:t>
            </a:r>
          </a:p>
        </p:txBody>
      </p:sp>
      <p:sp>
        <p:nvSpPr>
          <p:cNvPr id="20032" name="t20032"/>
          <p:cNvSpPr txBox="1"/>
          <p:nvPr/>
        </p:nvSpPr>
        <p:spPr>
          <a:xfrm>
            <a:off x="8204200" y="5753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class: car   ·   conf: 0.79</a:t>
            </a:r>
          </a:p>
        </p:txBody>
      </p:sp>
      <p:sp>
        <p:nvSpPr>
          <p:cNvPr id="20033" name="t20033"/>
          <p:cNvSpPr txBox="1"/>
          <p:nvPr/>
        </p:nvSpPr>
        <p:spPr>
          <a:xfrm>
            <a:off x="8204200" y="6007100"/>
            <a:ext cx="3251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666666"/>
                </a:solidFill>
                <a:latin typeface="Times New Roman"/>
                <a:cs typeface="Times New Roman"/>
              </a:rPr>
              <a:t>IFF: —</a:t>
            </a:r>
          </a:p>
        </p:txBody>
      </p:sp>
    </p:spTree>
    <p:extLst>
      <p:ext uri="{BB962C8B-B14F-4D97-AF65-F5344CB8AC3E}">
        <p14:creationId xmlns:p14="http://schemas.microsoft.com/office/powerpoint/2010/main" val="2426157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1" name="t21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06  ·  END-TO-END PERFORMANCE</a:t>
            </a:r>
          </a:p>
        </p:txBody>
      </p:sp>
      <p:sp>
        <p:nvSpPr>
          <p:cNvPr id="21002" name="t21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600" b="1" dirty="0">
                <a:solidFill>
                  <a:srgbClr val="E8C96D"/>
                </a:solidFill>
                <a:latin typeface="Times New Roman"/>
                <a:cs typeface="Times New Roman"/>
              </a:rPr>
              <a:t>System Latency · Reliability · Throughput</a:t>
            </a:r>
          </a:p>
        </p:txBody>
      </p:sp>
      <p:sp>
        <p:nvSpPr>
          <p:cNvPr id="21003" name="s21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04" name="s21004"/>
          <p:cNvSpPr/>
          <p:nvPr/>
        </p:nvSpPr>
        <p:spPr>
          <a:xfrm>
            <a:off x="762000" y="2476500"/>
            <a:ext cx="254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05" name="s21005"/>
          <p:cNvSpPr/>
          <p:nvPr/>
        </p:nvSpPr>
        <p:spPr>
          <a:xfrm>
            <a:off x="762000" y="2476500"/>
            <a:ext cx="508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06" name="t21006"/>
          <p:cNvSpPr txBox="1"/>
          <p:nvPr/>
        </p:nvSpPr>
        <p:spPr>
          <a:xfrm>
            <a:off x="762000" y="27305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~1.4 s</a:t>
            </a:r>
          </a:p>
        </p:txBody>
      </p:sp>
      <p:sp>
        <p:nvSpPr>
          <p:cNvPr id="21007" name="t21007"/>
          <p:cNvSpPr txBox="1"/>
          <p:nvPr/>
        </p:nvSpPr>
        <p:spPr>
          <a:xfrm>
            <a:off x="762000" y="3467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ALERT LATENCY</a:t>
            </a:r>
          </a:p>
        </p:txBody>
      </p:sp>
      <p:sp>
        <p:nvSpPr>
          <p:cNvPr id="21008" name="t21008"/>
          <p:cNvSpPr txBox="1"/>
          <p:nvPr/>
        </p:nvSpPr>
        <p:spPr>
          <a:xfrm>
            <a:off x="762000" y="37719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detection → GCS</a:t>
            </a:r>
          </a:p>
        </p:txBody>
      </p:sp>
      <p:sp>
        <p:nvSpPr>
          <p:cNvPr id="21009" name="s21009"/>
          <p:cNvSpPr/>
          <p:nvPr/>
        </p:nvSpPr>
        <p:spPr>
          <a:xfrm>
            <a:off x="3492500" y="2476500"/>
            <a:ext cx="254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10" name="s21010"/>
          <p:cNvSpPr/>
          <p:nvPr/>
        </p:nvSpPr>
        <p:spPr>
          <a:xfrm>
            <a:off x="3492500" y="2476500"/>
            <a:ext cx="508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11" name="t21011"/>
          <p:cNvSpPr txBox="1"/>
          <p:nvPr/>
        </p:nvSpPr>
        <p:spPr>
          <a:xfrm>
            <a:off x="3492500" y="27305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8.3</a:t>
            </a:r>
          </a:p>
        </p:txBody>
      </p:sp>
      <p:sp>
        <p:nvSpPr>
          <p:cNvPr id="21012" name="t21012"/>
          <p:cNvSpPr txBox="1"/>
          <p:nvPr/>
        </p:nvSpPr>
        <p:spPr>
          <a:xfrm>
            <a:off x="3492500" y="3467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FPS @ EDGE</a:t>
            </a:r>
          </a:p>
        </p:txBody>
      </p:sp>
      <p:sp>
        <p:nvSpPr>
          <p:cNvPr id="21013" name="t21013"/>
          <p:cNvSpPr txBox="1"/>
          <p:nvPr/>
        </p:nvSpPr>
        <p:spPr>
          <a:xfrm>
            <a:off x="3492500" y="37719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RPi 5 sustained</a:t>
            </a:r>
          </a:p>
        </p:txBody>
      </p:sp>
      <p:sp>
        <p:nvSpPr>
          <p:cNvPr id="21014" name="s21014"/>
          <p:cNvSpPr/>
          <p:nvPr/>
        </p:nvSpPr>
        <p:spPr>
          <a:xfrm>
            <a:off x="6223000" y="2476500"/>
            <a:ext cx="254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15" name="s21015"/>
          <p:cNvSpPr/>
          <p:nvPr/>
        </p:nvSpPr>
        <p:spPr>
          <a:xfrm>
            <a:off x="6223000" y="2476500"/>
            <a:ext cx="508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16" name="t21016"/>
          <p:cNvSpPr txBox="1"/>
          <p:nvPr/>
        </p:nvSpPr>
        <p:spPr>
          <a:xfrm>
            <a:off x="6223000" y="27305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94.3%</a:t>
            </a:r>
          </a:p>
        </p:txBody>
      </p:sp>
      <p:sp>
        <p:nvSpPr>
          <p:cNvPr id="21017" name="t21017"/>
          <p:cNvSpPr txBox="1"/>
          <p:nvPr/>
        </p:nvSpPr>
        <p:spPr>
          <a:xfrm>
            <a:off x="6223000" y="3467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DETECTION mAP</a:t>
            </a:r>
          </a:p>
        </p:txBody>
      </p:sp>
      <p:sp>
        <p:nvSpPr>
          <p:cNvPr id="21018" name="t21018"/>
          <p:cNvSpPr txBox="1"/>
          <p:nvPr/>
        </p:nvSpPr>
        <p:spPr>
          <a:xfrm>
            <a:off x="6223000" y="37719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on validation set</a:t>
            </a:r>
          </a:p>
        </p:txBody>
      </p:sp>
      <p:sp>
        <p:nvSpPr>
          <p:cNvPr id="21019" name="s21019"/>
          <p:cNvSpPr/>
          <p:nvPr/>
        </p:nvSpPr>
        <p:spPr>
          <a:xfrm>
            <a:off x="8953500" y="2476500"/>
            <a:ext cx="2540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20" name="s21020"/>
          <p:cNvSpPr/>
          <p:nvPr/>
        </p:nvSpPr>
        <p:spPr>
          <a:xfrm>
            <a:off x="8953500" y="2476500"/>
            <a:ext cx="50800" cy="1651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21" name="t21021"/>
          <p:cNvSpPr txBox="1"/>
          <p:nvPr/>
        </p:nvSpPr>
        <p:spPr>
          <a:xfrm>
            <a:off x="8953500" y="2730500"/>
            <a:ext cx="254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/>
                <a:cs typeface="Times New Roman"/>
              </a:rPr>
              <a:t>98.7%</a:t>
            </a:r>
          </a:p>
        </p:txBody>
      </p:sp>
      <p:sp>
        <p:nvSpPr>
          <p:cNvPr id="21022" name="t21022"/>
          <p:cNvSpPr txBox="1"/>
          <p:nvPr/>
        </p:nvSpPr>
        <p:spPr>
          <a:xfrm>
            <a:off x="8953500" y="34671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WSS UPTIME</a:t>
            </a:r>
          </a:p>
        </p:txBody>
      </p:sp>
      <p:sp>
        <p:nvSpPr>
          <p:cNvPr id="21023" name="t21023"/>
          <p:cNvSpPr txBox="1"/>
          <p:nvPr/>
        </p:nvSpPr>
        <p:spPr>
          <a:xfrm>
            <a:off x="8953500" y="37719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during field trials</a:t>
            </a:r>
          </a:p>
        </p:txBody>
      </p:sp>
      <p:sp>
        <p:nvSpPr>
          <p:cNvPr id="21024" name="t21024"/>
          <p:cNvSpPr txBox="1"/>
          <p:nvPr/>
        </p:nvSpPr>
        <p:spPr>
          <a:xfrm>
            <a:off x="762000" y="44450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LATENCY BUDGET</a:t>
            </a:r>
          </a:p>
        </p:txBody>
      </p:sp>
      <p:sp>
        <p:nvSpPr>
          <p:cNvPr id="21025" name="s21025"/>
          <p:cNvSpPr/>
          <p:nvPr/>
        </p:nvSpPr>
        <p:spPr>
          <a:xfrm>
            <a:off x="762000" y="4724400"/>
            <a:ext cx="762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26" name="s21026"/>
          <p:cNvSpPr/>
          <p:nvPr/>
        </p:nvSpPr>
        <p:spPr>
          <a:xfrm>
            <a:off x="762000" y="5016500"/>
            <a:ext cx="762000" cy="4064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27" name="s21027"/>
          <p:cNvSpPr/>
          <p:nvPr/>
        </p:nvSpPr>
        <p:spPr>
          <a:xfrm>
            <a:off x="1524000" y="5016500"/>
            <a:ext cx="3657600" cy="406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28" name="t21028"/>
          <p:cNvSpPr txBox="1"/>
          <p:nvPr/>
        </p:nvSpPr>
        <p:spPr>
          <a:xfrm>
            <a:off x="1524000" y="5080000"/>
            <a:ext cx="3657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0A0A0A"/>
                </a:solidFill>
                <a:latin typeface="Times New Roman"/>
                <a:cs typeface="Times New Roman"/>
              </a:rPr>
              <a:t>Inference</a:t>
            </a:r>
          </a:p>
        </p:txBody>
      </p:sp>
      <p:sp>
        <p:nvSpPr>
          <p:cNvPr id="21029" name="t21029"/>
          <p:cNvSpPr txBox="1"/>
          <p:nvPr/>
        </p:nvSpPr>
        <p:spPr>
          <a:xfrm>
            <a:off x="1524000" y="5245100"/>
            <a:ext cx="36576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0A0A0A"/>
                </a:solidFill>
                <a:latin typeface="Times New Roman"/>
                <a:cs typeface="Times New Roman"/>
              </a:rPr>
              <a:t>480 ms</a:t>
            </a:r>
          </a:p>
        </p:txBody>
      </p:sp>
      <p:sp>
        <p:nvSpPr>
          <p:cNvPr id="21030" name="s21030"/>
          <p:cNvSpPr/>
          <p:nvPr/>
        </p:nvSpPr>
        <p:spPr>
          <a:xfrm>
            <a:off x="5181600" y="5016500"/>
            <a:ext cx="1676400" cy="406400"/>
          </a:xfrm>
          <a:prstGeom prst="rect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31" name="t21031"/>
          <p:cNvSpPr txBox="1"/>
          <p:nvPr/>
        </p:nvSpPr>
        <p:spPr>
          <a:xfrm>
            <a:off x="5181600" y="5080000"/>
            <a:ext cx="16764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0A0A0A"/>
                </a:solidFill>
                <a:latin typeface="Times New Roman"/>
                <a:cs typeface="Times New Roman"/>
              </a:rPr>
              <a:t>Track + IFF</a:t>
            </a:r>
          </a:p>
        </p:txBody>
      </p:sp>
      <p:sp>
        <p:nvSpPr>
          <p:cNvPr id="21032" name="t21032"/>
          <p:cNvSpPr txBox="1"/>
          <p:nvPr/>
        </p:nvSpPr>
        <p:spPr>
          <a:xfrm>
            <a:off x="5181600" y="5245100"/>
            <a:ext cx="1676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0A0A0A"/>
                </a:solidFill>
                <a:latin typeface="Times New Roman"/>
                <a:cs typeface="Times New Roman"/>
              </a:rPr>
              <a:t>220 ms</a:t>
            </a:r>
          </a:p>
        </p:txBody>
      </p:sp>
      <p:sp>
        <p:nvSpPr>
          <p:cNvPr id="21033" name="s21033"/>
          <p:cNvSpPr/>
          <p:nvPr/>
        </p:nvSpPr>
        <p:spPr>
          <a:xfrm>
            <a:off x="6858000" y="5016500"/>
            <a:ext cx="4572000" cy="406400"/>
          </a:xfrm>
          <a:prstGeom prst="rect">
            <a:avLst/>
          </a:prstGeom>
          <a:solidFill>
            <a:srgbClr val="8C743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34" name="t21034"/>
          <p:cNvSpPr txBox="1"/>
          <p:nvPr/>
        </p:nvSpPr>
        <p:spPr>
          <a:xfrm>
            <a:off x="6858000" y="50800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0A0A0A"/>
                </a:solidFill>
                <a:latin typeface="Times New Roman"/>
                <a:cs typeface="Times New Roman"/>
              </a:rPr>
              <a:t>LTE + WSS</a:t>
            </a:r>
          </a:p>
        </p:txBody>
      </p:sp>
      <p:sp>
        <p:nvSpPr>
          <p:cNvPr id="21035" name="t21035"/>
          <p:cNvSpPr txBox="1"/>
          <p:nvPr/>
        </p:nvSpPr>
        <p:spPr>
          <a:xfrm>
            <a:off x="6858000" y="52451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0A0A0A"/>
                </a:solidFill>
                <a:latin typeface="Times New Roman"/>
                <a:cs typeface="Times New Roman"/>
              </a:rPr>
              <a:t>600 ms</a:t>
            </a:r>
          </a:p>
        </p:txBody>
      </p:sp>
      <p:sp>
        <p:nvSpPr>
          <p:cNvPr id="21036" name="t21036"/>
          <p:cNvSpPr txBox="1"/>
          <p:nvPr/>
        </p:nvSpPr>
        <p:spPr>
          <a:xfrm>
            <a:off x="762000" y="5524500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200" i="1" dirty="0">
                <a:solidFill>
                  <a:srgbClr val="F5F5F5"/>
                </a:solidFill>
                <a:latin typeface="Times New Roman"/>
                <a:cs typeface="Times New Roman"/>
              </a:rPr>
              <a:t>End-to-end ≈ 1400 ms  ·  well under the 2-second target</a:t>
            </a:r>
          </a:p>
        </p:txBody>
      </p:sp>
      <p:sp>
        <p:nvSpPr>
          <p:cNvPr id="21037" name="s21037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38" name="s21038"/>
          <p:cNvSpPr/>
          <p:nvPr/>
        </p:nvSpPr>
        <p:spPr>
          <a:xfrm>
            <a:off x="762000" y="5842000"/>
            <a:ext cx="38100" cy="50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039" name="t21039"/>
          <p:cNvSpPr txBox="1"/>
          <p:nvPr/>
        </p:nvSpPr>
        <p:spPr>
          <a:xfrm>
            <a:off x="1016000" y="59690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i="1" dirty="0">
                <a:solidFill>
                  <a:srgbClr val="F5F5F5"/>
                </a:solidFill>
                <a:latin typeface="Times New Roman"/>
                <a:cs typeface="Times New Roman"/>
              </a:rPr>
              <a:t>WebSocket auto-reconnect kept alert delivery at 98.7% during cell-tower handoffs in field tests.</a:t>
            </a:r>
          </a:p>
        </p:txBody>
      </p:sp>
    </p:spTree>
    <p:extLst>
      <p:ext uri="{BB962C8B-B14F-4D97-AF65-F5344CB8AC3E}">
        <p14:creationId xmlns:p14="http://schemas.microsoft.com/office/powerpoint/2010/main" val="937971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1" name="t22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07  ·  KNOWN LIMITATIONS &amp; MITIGATIONS</a:t>
            </a:r>
          </a:p>
        </p:txBody>
      </p:sp>
      <p:sp>
        <p:nvSpPr>
          <p:cNvPr id="22002" name="t22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E8C96D"/>
                </a:solidFill>
                <a:latin typeface="Times New Roman"/>
                <a:cs typeface="Times New Roman"/>
              </a:rPr>
              <a:t>What Didn't Fully Work — and How We Handled It</a:t>
            </a:r>
          </a:p>
        </p:txBody>
      </p:sp>
      <p:sp>
        <p:nvSpPr>
          <p:cNvPr id="22003" name="s22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04" name="t22004"/>
          <p:cNvSpPr txBox="1"/>
          <p:nvPr/>
        </p:nvSpPr>
        <p:spPr>
          <a:xfrm>
            <a:off x="762000" y="24765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400" dirty="0">
                <a:solidFill>
                  <a:srgbClr val="666666"/>
                </a:solidFill>
                <a:latin typeface="Times New Roman"/>
                <a:cs typeface="Times New Roman"/>
              </a:rPr>
              <a:t>LIMITATION</a:t>
            </a:r>
          </a:p>
        </p:txBody>
      </p:sp>
      <p:sp>
        <p:nvSpPr>
          <p:cNvPr id="22005" name="t22005"/>
          <p:cNvSpPr txBox="1"/>
          <p:nvPr/>
        </p:nvSpPr>
        <p:spPr>
          <a:xfrm>
            <a:off x="6223000" y="247650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spc="400" dirty="0">
                <a:solidFill>
                  <a:srgbClr val="C9A84C"/>
                </a:solidFill>
                <a:latin typeface="Times New Roman"/>
                <a:cs typeface="Times New Roman"/>
              </a:rPr>
              <a:t>MITIGATION</a:t>
            </a:r>
          </a:p>
        </p:txBody>
      </p:sp>
      <p:sp>
        <p:nvSpPr>
          <p:cNvPr id="22006" name="s22006"/>
          <p:cNvSpPr/>
          <p:nvPr/>
        </p:nvSpPr>
        <p:spPr>
          <a:xfrm>
            <a:off x="762000" y="2781300"/>
            <a:ext cx="520700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07" name="s22007"/>
          <p:cNvSpPr/>
          <p:nvPr/>
        </p:nvSpPr>
        <p:spPr>
          <a:xfrm>
            <a:off x="6223000" y="2781300"/>
            <a:ext cx="5207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08" name="s22008"/>
          <p:cNvSpPr/>
          <p:nvPr/>
        </p:nvSpPr>
        <p:spPr>
          <a:xfrm>
            <a:off x="762000" y="29845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09" name="s22009"/>
          <p:cNvSpPr/>
          <p:nvPr/>
        </p:nvSpPr>
        <p:spPr>
          <a:xfrm>
            <a:off x="762000" y="2984500"/>
            <a:ext cx="38100" cy="76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0" name="t22010"/>
          <p:cNvSpPr txBox="1"/>
          <p:nvPr/>
        </p:nvSpPr>
        <p:spPr>
          <a:xfrm>
            <a:off x="952500" y="30607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Night &amp; low-light detection</a:t>
            </a:r>
          </a:p>
        </p:txBody>
      </p:sp>
      <p:sp>
        <p:nvSpPr>
          <p:cNvPr id="22011" name="t22011"/>
          <p:cNvSpPr txBox="1"/>
          <p:nvPr/>
        </p:nvSpPr>
        <p:spPr>
          <a:xfrm>
            <a:off x="952500" y="3314700"/>
            <a:ext cx="4953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Pi Camera struggles below ~5 lux — drone class accuracy drops materially after dusk.</a:t>
            </a:r>
          </a:p>
        </p:txBody>
      </p:sp>
      <p:sp>
        <p:nvSpPr>
          <p:cNvPr id="22012" name="s22012"/>
          <p:cNvSpPr/>
          <p:nvPr/>
        </p:nvSpPr>
        <p:spPr>
          <a:xfrm>
            <a:off x="6223000" y="29845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3" name="s22013"/>
          <p:cNvSpPr/>
          <p:nvPr/>
        </p:nvSpPr>
        <p:spPr>
          <a:xfrm>
            <a:off x="6223000" y="2984500"/>
            <a:ext cx="38100" cy="76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4" name="s22014"/>
          <p:cNvSpPr/>
          <p:nvPr/>
        </p:nvSpPr>
        <p:spPr>
          <a:xfrm>
            <a:off x="6286500" y="3263900"/>
            <a:ext cx="177800" cy="203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5" name="t22015"/>
          <p:cNvSpPr txBox="1"/>
          <p:nvPr/>
        </p:nvSpPr>
        <p:spPr>
          <a:xfrm>
            <a:off x="6515100" y="3060700"/>
            <a:ext cx="4826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Documented as daytime-only system. Thermal imaging upgrade scoped for future work.</a:t>
            </a:r>
          </a:p>
        </p:txBody>
      </p:sp>
      <p:sp>
        <p:nvSpPr>
          <p:cNvPr id="22016" name="s22016"/>
          <p:cNvSpPr/>
          <p:nvPr/>
        </p:nvSpPr>
        <p:spPr>
          <a:xfrm>
            <a:off x="762000" y="38481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7" name="s22017"/>
          <p:cNvSpPr/>
          <p:nvPr/>
        </p:nvSpPr>
        <p:spPr>
          <a:xfrm>
            <a:off x="762000" y="3848100"/>
            <a:ext cx="38100" cy="76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18" name="t22018"/>
          <p:cNvSpPr txBox="1"/>
          <p:nvPr/>
        </p:nvSpPr>
        <p:spPr>
          <a:xfrm>
            <a:off x="952500" y="39243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FPS ceiling at 8.3</a:t>
            </a:r>
          </a:p>
        </p:txBody>
      </p:sp>
      <p:sp>
        <p:nvSpPr>
          <p:cNvPr id="22019" name="t22019"/>
          <p:cNvSpPr txBox="1"/>
          <p:nvPr/>
        </p:nvSpPr>
        <p:spPr>
          <a:xfrm>
            <a:off x="952500" y="4178300"/>
            <a:ext cx="4953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On-board RPi 5 cannot match desktop GPU throughput; smaller fast targets may slip between frames.</a:t>
            </a:r>
          </a:p>
        </p:txBody>
      </p:sp>
      <p:sp>
        <p:nvSpPr>
          <p:cNvPr id="22020" name="s22020"/>
          <p:cNvSpPr/>
          <p:nvPr/>
        </p:nvSpPr>
        <p:spPr>
          <a:xfrm>
            <a:off x="6223000" y="38481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1" name="s22021"/>
          <p:cNvSpPr/>
          <p:nvPr/>
        </p:nvSpPr>
        <p:spPr>
          <a:xfrm>
            <a:off x="6223000" y="3848100"/>
            <a:ext cx="38100" cy="76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2" name="s22022"/>
          <p:cNvSpPr/>
          <p:nvPr/>
        </p:nvSpPr>
        <p:spPr>
          <a:xfrm>
            <a:off x="6286500" y="4127500"/>
            <a:ext cx="177800" cy="203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3" name="t22023"/>
          <p:cNvSpPr txBox="1"/>
          <p:nvPr/>
        </p:nvSpPr>
        <p:spPr>
          <a:xfrm>
            <a:off x="6515100" y="3924300"/>
            <a:ext cx="4826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Confidence threshold tuned (0.45) and DeepSORT re-association recovers most missed frames.</a:t>
            </a:r>
          </a:p>
        </p:txBody>
      </p:sp>
      <p:sp>
        <p:nvSpPr>
          <p:cNvPr id="22024" name="s22024"/>
          <p:cNvSpPr/>
          <p:nvPr/>
        </p:nvSpPr>
        <p:spPr>
          <a:xfrm>
            <a:off x="762000" y="47117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5" name="s22025"/>
          <p:cNvSpPr/>
          <p:nvPr/>
        </p:nvSpPr>
        <p:spPr>
          <a:xfrm>
            <a:off x="762000" y="4711700"/>
            <a:ext cx="38100" cy="76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6" name="t22026"/>
          <p:cNvSpPr txBox="1"/>
          <p:nvPr/>
        </p:nvSpPr>
        <p:spPr>
          <a:xfrm>
            <a:off x="952500" y="47879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LTE coverage gaps</a:t>
            </a:r>
          </a:p>
        </p:txBody>
      </p:sp>
      <p:sp>
        <p:nvSpPr>
          <p:cNvPr id="22027" name="t22027"/>
          <p:cNvSpPr txBox="1"/>
          <p:nvPr/>
        </p:nvSpPr>
        <p:spPr>
          <a:xfrm>
            <a:off x="952500" y="5041900"/>
            <a:ext cx="4953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Some patrol corridors hit dead zones; alerts back up briefly while the WSS reconnects.</a:t>
            </a:r>
          </a:p>
        </p:txBody>
      </p:sp>
      <p:sp>
        <p:nvSpPr>
          <p:cNvPr id="22028" name="s22028"/>
          <p:cNvSpPr/>
          <p:nvPr/>
        </p:nvSpPr>
        <p:spPr>
          <a:xfrm>
            <a:off x="6223000" y="47117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29" name="s22029"/>
          <p:cNvSpPr/>
          <p:nvPr/>
        </p:nvSpPr>
        <p:spPr>
          <a:xfrm>
            <a:off x="6223000" y="4711700"/>
            <a:ext cx="38100" cy="76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0" name="s22030"/>
          <p:cNvSpPr/>
          <p:nvPr/>
        </p:nvSpPr>
        <p:spPr>
          <a:xfrm>
            <a:off x="6286500" y="4991100"/>
            <a:ext cx="177800" cy="203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1" name="t22031"/>
          <p:cNvSpPr txBox="1"/>
          <p:nvPr/>
        </p:nvSpPr>
        <p:spPr>
          <a:xfrm>
            <a:off x="6515100" y="4787900"/>
            <a:ext cx="4826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Alert queue persists locally on the Pi; replays automatically when WSS reconnects (98.7% delivery).</a:t>
            </a:r>
          </a:p>
        </p:txBody>
      </p:sp>
      <p:sp>
        <p:nvSpPr>
          <p:cNvPr id="22032" name="s22032"/>
          <p:cNvSpPr/>
          <p:nvPr/>
        </p:nvSpPr>
        <p:spPr>
          <a:xfrm>
            <a:off x="762000" y="55753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3" name="s22033"/>
          <p:cNvSpPr/>
          <p:nvPr/>
        </p:nvSpPr>
        <p:spPr>
          <a:xfrm>
            <a:off x="762000" y="5575300"/>
            <a:ext cx="38100" cy="76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4" name="t22034"/>
          <p:cNvSpPr txBox="1"/>
          <p:nvPr/>
        </p:nvSpPr>
        <p:spPr>
          <a:xfrm>
            <a:off x="952500" y="5651500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E8C96D"/>
                </a:solidFill>
                <a:latin typeface="Times New Roman"/>
                <a:cs typeface="Times New Roman"/>
              </a:rPr>
              <a:t>IFF spoofing risk</a:t>
            </a:r>
          </a:p>
        </p:txBody>
      </p:sp>
      <p:sp>
        <p:nvSpPr>
          <p:cNvPr id="22035" name="t22035"/>
          <p:cNvSpPr txBox="1"/>
          <p:nvPr/>
        </p:nvSpPr>
        <p:spPr>
          <a:xfrm>
            <a:off x="952500" y="5905500"/>
            <a:ext cx="4953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Times New Roman"/>
                <a:cs typeface="Times New Roman"/>
              </a:rPr>
              <a:t>JSON registry has no cryptographic signing — a hostile actor could in principle inject a fake friendly ID.</a:t>
            </a:r>
          </a:p>
        </p:txBody>
      </p:sp>
      <p:sp>
        <p:nvSpPr>
          <p:cNvPr id="22036" name="s22036"/>
          <p:cNvSpPr/>
          <p:nvPr/>
        </p:nvSpPr>
        <p:spPr>
          <a:xfrm>
            <a:off x="6223000" y="5575300"/>
            <a:ext cx="520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7" name="s22037"/>
          <p:cNvSpPr/>
          <p:nvPr/>
        </p:nvSpPr>
        <p:spPr>
          <a:xfrm>
            <a:off x="6223000" y="5575300"/>
            <a:ext cx="38100" cy="76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8" name="s22038"/>
          <p:cNvSpPr/>
          <p:nvPr/>
        </p:nvSpPr>
        <p:spPr>
          <a:xfrm>
            <a:off x="6286500" y="5854700"/>
            <a:ext cx="177800" cy="203200"/>
          </a:xfrm>
          <a:prstGeom prst="rightArrow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2039" name="t22039"/>
          <p:cNvSpPr txBox="1"/>
          <p:nvPr/>
        </p:nvSpPr>
        <p:spPr>
          <a:xfrm>
            <a:off x="6515100" y="5651500"/>
            <a:ext cx="4826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Treated as out-of-scope for v1; signed/cryptographic IFF is the first item on the future-work list.</a:t>
            </a:r>
          </a:p>
        </p:txBody>
      </p:sp>
    </p:spTree>
    <p:extLst>
      <p:ext uri="{BB962C8B-B14F-4D97-AF65-F5344CB8AC3E}">
        <p14:creationId xmlns:p14="http://schemas.microsoft.com/office/powerpoint/2010/main" val="455555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1" name="t23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07  ·  OBJECTIVES vs ACHIEVED</a:t>
            </a:r>
          </a:p>
        </p:txBody>
      </p:sp>
      <p:sp>
        <p:nvSpPr>
          <p:cNvPr id="23002" name="t23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600" b="1" dirty="0">
                <a:solidFill>
                  <a:srgbClr val="E8C96D"/>
                </a:solidFill>
                <a:latin typeface="Times New Roman"/>
                <a:cs typeface="Times New Roman"/>
              </a:rPr>
              <a:t>Scoreboard</a:t>
            </a:r>
          </a:p>
        </p:txBody>
      </p:sp>
      <p:sp>
        <p:nvSpPr>
          <p:cNvPr id="23003" name="s23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04" name="t23004"/>
          <p:cNvSpPr txBox="1"/>
          <p:nvPr/>
        </p:nvSpPr>
        <p:spPr>
          <a:xfrm>
            <a:off x="762000" y="2476500"/>
            <a:ext cx="3556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23005" name="t23005"/>
          <p:cNvSpPr txBox="1"/>
          <p:nvPr/>
        </p:nvSpPr>
        <p:spPr>
          <a:xfrm>
            <a:off x="4445000" y="24765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STATUS</a:t>
            </a:r>
          </a:p>
        </p:txBody>
      </p:sp>
      <p:sp>
        <p:nvSpPr>
          <p:cNvPr id="23006" name="t23006"/>
          <p:cNvSpPr txBox="1"/>
          <p:nvPr/>
        </p:nvSpPr>
        <p:spPr>
          <a:xfrm>
            <a:off x="6096000" y="24765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spc="300" dirty="0">
                <a:solidFill>
                  <a:srgbClr val="C9A84C"/>
                </a:solidFill>
                <a:latin typeface="Times New Roman"/>
                <a:cs typeface="Times New Roman"/>
              </a:rPr>
              <a:t>EVIDENCE</a:t>
            </a:r>
          </a:p>
        </p:txBody>
      </p:sp>
      <p:sp>
        <p:nvSpPr>
          <p:cNvPr id="23007" name="s23007"/>
          <p:cNvSpPr/>
          <p:nvPr/>
        </p:nvSpPr>
        <p:spPr>
          <a:xfrm>
            <a:off x="762000" y="2781300"/>
            <a:ext cx="10668000" cy="76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08" name="s23008"/>
          <p:cNvSpPr/>
          <p:nvPr/>
        </p:nvSpPr>
        <p:spPr>
          <a:xfrm>
            <a:off x="762000" y="2921000"/>
            <a:ext cx="10668000" cy="482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09" name="t23009"/>
          <p:cNvSpPr txBox="1"/>
          <p:nvPr/>
        </p:nvSpPr>
        <p:spPr>
          <a:xfrm>
            <a:off x="889000" y="3048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Real-time aerial detection</a:t>
            </a:r>
          </a:p>
        </p:txBody>
      </p:sp>
      <p:sp>
        <p:nvSpPr>
          <p:cNvPr id="23010" name="s23010"/>
          <p:cNvSpPr/>
          <p:nvPr/>
        </p:nvSpPr>
        <p:spPr>
          <a:xfrm>
            <a:off x="4635500" y="3022600"/>
            <a:ext cx="1143000" cy="304800"/>
          </a:xfrm>
          <a:prstGeom prst="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11" name="t23011"/>
          <p:cNvSpPr txBox="1"/>
          <p:nvPr/>
        </p:nvSpPr>
        <p:spPr>
          <a:xfrm>
            <a:off x="4635500" y="3060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MET</a:t>
            </a:r>
          </a:p>
        </p:txBody>
      </p:sp>
      <p:sp>
        <p:nvSpPr>
          <p:cNvPr id="23012" name="t23012"/>
          <p:cNvSpPr txBox="1"/>
          <p:nvPr/>
        </p:nvSpPr>
        <p:spPr>
          <a:xfrm>
            <a:off x="6223000" y="3048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mAP@50 = 94.3% on validation set</a:t>
            </a:r>
          </a:p>
        </p:txBody>
      </p:sp>
      <p:sp>
        <p:nvSpPr>
          <p:cNvPr id="23013" name="t23013"/>
          <p:cNvSpPr txBox="1"/>
          <p:nvPr/>
        </p:nvSpPr>
        <p:spPr>
          <a:xfrm>
            <a:off x="889000" y="3556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On-board edge inference</a:t>
            </a:r>
          </a:p>
        </p:txBody>
      </p:sp>
      <p:sp>
        <p:nvSpPr>
          <p:cNvPr id="23014" name="s23014"/>
          <p:cNvSpPr/>
          <p:nvPr/>
        </p:nvSpPr>
        <p:spPr>
          <a:xfrm>
            <a:off x="4635500" y="3530600"/>
            <a:ext cx="1143000" cy="304800"/>
          </a:xfrm>
          <a:prstGeom prst="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15" name="t23015"/>
          <p:cNvSpPr txBox="1"/>
          <p:nvPr/>
        </p:nvSpPr>
        <p:spPr>
          <a:xfrm>
            <a:off x="4635500" y="3568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MET</a:t>
            </a:r>
          </a:p>
        </p:txBody>
      </p:sp>
      <p:sp>
        <p:nvSpPr>
          <p:cNvPr id="23016" name="t23016"/>
          <p:cNvSpPr txBox="1"/>
          <p:nvPr/>
        </p:nvSpPr>
        <p:spPr>
          <a:xfrm>
            <a:off x="6223000" y="3556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8.3 FPS sustained on Raspberry Pi 5</a:t>
            </a:r>
          </a:p>
        </p:txBody>
      </p:sp>
      <p:sp>
        <p:nvSpPr>
          <p:cNvPr id="23017" name="s23017"/>
          <p:cNvSpPr/>
          <p:nvPr/>
        </p:nvSpPr>
        <p:spPr>
          <a:xfrm>
            <a:off x="762000" y="3937000"/>
            <a:ext cx="10668000" cy="482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18" name="t23018"/>
          <p:cNvSpPr txBox="1"/>
          <p:nvPr/>
        </p:nvSpPr>
        <p:spPr>
          <a:xfrm>
            <a:off x="889000" y="4064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Low-latency alerting</a:t>
            </a:r>
          </a:p>
        </p:txBody>
      </p:sp>
      <p:sp>
        <p:nvSpPr>
          <p:cNvPr id="23019" name="s23019"/>
          <p:cNvSpPr/>
          <p:nvPr/>
        </p:nvSpPr>
        <p:spPr>
          <a:xfrm>
            <a:off x="4635500" y="4038600"/>
            <a:ext cx="1143000" cy="304800"/>
          </a:xfrm>
          <a:prstGeom prst="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20" name="t23020"/>
          <p:cNvSpPr txBox="1"/>
          <p:nvPr/>
        </p:nvSpPr>
        <p:spPr>
          <a:xfrm>
            <a:off x="4635500" y="4076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MET</a:t>
            </a:r>
          </a:p>
        </p:txBody>
      </p:sp>
      <p:sp>
        <p:nvSpPr>
          <p:cNvPr id="23021" name="t23021"/>
          <p:cNvSpPr txBox="1"/>
          <p:nvPr/>
        </p:nvSpPr>
        <p:spPr>
          <a:xfrm>
            <a:off x="6223000" y="4064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End-to-end ≈ 1.4 s, target was &lt; 2 s</a:t>
            </a:r>
          </a:p>
        </p:txBody>
      </p:sp>
      <p:sp>
        <p:nvSpPr>
          <p:cNvPr id="23022" name="t23022"/>
          <p:cNvSpPr txBox="1"/>
          <p:nvPr/>
        </p:nvSpPr>
        <p:spPr>
          <a:xfrm>
            <a:off x="889000" y="4572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Reliable IFF classification</a:t>
            </a:r>
          </a:p>
        </p:txBody>
      </p:sp>
      <p:sp>
        <p:nvSpPr>
          <p:cNvPr id="23023" name="s23023"/>
          <p:cNvSpPr/>
          <p:nvPr/>
        </p:nvSpPr>
        <p:spPr>
          <a:xfrm>
            <a:off x="4635500" y="4546600"/>
            <a:ext cx="1143000" cy="304800"/>
          </a:xfrm>
          <a:prstGeom prst="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24" name="t23024"/>
          <p:cNvSpPr txBox="1"/>
          <p:nvPr/>
        </p:nvSpPr>
        <p:spPr>
          <a:xfrm>
            <a:off x="4635500" y="4584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MET</a:t>
            </a:r>
          </a:p>
        </p:txBody>
      </p:sp>
      <p:sp>
        <p:nvSpPr>
          <p:cNvPr id="23025" name="t23025"/>
          <p:cNvSpPr txBox="1"/>
          <p:nvPr/>
        </p:nvSpPr>
        <p:spPr>
          <a:xfrm>
            <a:off x="6223000" y="4572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Fail-safe path verified in unit + field tests</a:t>
            </a:r>
          </a:p>
        </p:txBody>
      </p:sp>
      <p:sp>
        <p:nvSpPr>
          <p:cNvPr id="23026" name="s23026"/>
          <p:cNvSpPr/>
          <p:nvPr/>
        </p:nvSpPr>
        <p:spPr>
          <a:xfrm>
            <a:off x="762000" y="4953000"/>
            <a:ext cx="10668000" cy="482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27" name="t23027"/>
          <p:cNvSpPr txBox="1"/>
          <p:nvPr/>
        </p:nvSpPr>
        <p:spPr>
          <a:xfrm>
            <a:off x="889000" y="5080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Autonomous patrol FSM</a:t>
            </a:r>
          </a:p>
        </p:txBody>
      </p:sp>
      <p:sp>
        <p:nvSpPr>
          <p:cNvPr id="23028" name="s23028"/>
          <p:cNvSpPr/>
          <p:nvPr/>
        </p:nvSpPr>
        <p:spPr>
          <a:xfrm>
            <a:off x="4635500" y="5054600"/>
            <a:ext cx="1143000" cy="304800"/>
          </a:xfrm>
          <a:prstGeom prst="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29" name="t23029"/>
          <p:cNvSpPr txBox="1"/>
          <p:nvPr/>
        </p:nvSpPr>
        <p:spPr>
          <a:xfrm>
            <a:off x="4635500" y="5092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MET</a:t>
            </a:r>
          </a:p>
        </p:txBody>
      </p:sp>
      <p:sp>
        <p:nvSpPr>
          <p:cNvPr id="23030" name="t23030"/>
          <p:cNvSpPr txBox="1"/>
          <p:nvPr/>
        </p:nvSpPr>
        <p:spPr>
          <a:xfrm>
            <a:off x="6223000" y="5080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6-state FSM with 6 failsafe triggers</a:t>
            </a:r>
          </a:p>
        </p:txBody>
      </p:sp>
      <p:sp>
        <p:nvSpPr>
          <p:cNvPr id="23031" name="t23031"/>
          <p:cNvSpPr txBox="1"/>
          <p:nvPr/>
        </p:nvSpPr>
        <p:spPr>
          <a:xfrm>
            <a:off x="889000" y="5588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Night-time detection</a:t>
            </a:r>
          </a:p>
        </p:txBody>
      </p:sp>
      <p:sp>
        <p:nvSpPr>
          <p:cNvPr id="23032" name="s23032"/>
          <p:cNvSpPr/>
          <p:nvPr/>
        </p:nvSpPr>
        <p:spPr>
          <a:xfrm>
            <a:off x="4635500" y="5562600"/>
            <a:ext cx="1143000" cy="304800"/>
          </a:xfrm>
          <a:prstGeom prst="rect">
            <a:avLst/>
          </a:prstGeom>
          <a:solidFill>
            <a:srgbClr val="E8C96D"/>
          </a:solidFill>
          <a:ln w="9525">
            <a:solidFill>
              <a:srgbClr val="E8C96D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33" name="t23033"/>
          <p:cNvSpPr txBox="1"/>
          <p:nvPr/>
        </p:nvSpPr>
        <p:spPr>
          <a:xfrm>
            <a:off x="4635500" y="5600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0A0A0A"/>
                </a:solidFill>
                <a:latin typeface="Times New Roman"/>
                <a:cs typeface="Times New Roman"/>
              </a:rPr>
              <a:t>PARTIAL</a:t>
            </a:r>
          </a:p>
        </p:txBody>
      </p:sp>
      <p:sp>
        <p:nvSpPr>
          <p:cNvPr id="23034" name="t23034"/>
          <p:cNvSpPr txBox="1"/>
          <p:nvPr/>
        </p:nvSpPr>
        <p:spPr>
          <a:xfrm>
            <a:off x="6223000" y="5588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Daytime only — thermal in future work</a:t>
            </a:r>
          </a:p>
        </p:txBody>
      </p:sp>
      <p:sp>
        <p:nvSpPr>
          <p:cNvPr id="23035" name="s23035"/>
          <p:cNvSpPr/>
          <p:nvPr/>
        </p:nvSpPr>
        <p:spPr>
          <a:xfrm>
            <a:off x="762000" y="5969000"/>
            <a:ext cx="10668000" cy="482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36" name="t23036"/>
          <p:cNvSpPr txBox="1"/>
          <p:nvPr/>
        </p:nvSpPr>
        <p:spPr>
          <a:xfrm>
            <a:off x="889000" y="6096000"/>
            <a:ext cx="3429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dirty="0">
                <a:solidFill>
                  <a:srgbClr val="F5F5F5"/>
                </a:solidFill>
                <a:latin typeface="Times New Roman"/>
                <a:cs typeface="Times New Roman"/>
              </a:rPr>
              <a:t>Multi-drone coordination</a:t>
            </a:r>
          </a:p>
        </p:txBody>
      </p:sp>
      <p:sp>
        <p:nvSpPr>
          <p:cNvPr id="23037" name="s23037"/>
          <p:cNvSpPr/>
          <p:nvPr/>
        </p:nvSpPr>
        <p:spPr>
          <a:xfrm>
            <a:off x="4635500" y="6070600"/>
            <a:ext cx="1143000" cy="304800"/>
          </a:xfrm>
          <a:prstGeom prst="rect">
            <a:avLst/>
          </a:prstGeom>
          <a:solidFill>
            <a:srgbClr val="1A1A1A"/>
          </a:solidFill>
          <a:ln w="9525">
            <a:solidFill>
              <a:srgbClr val="666666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38" name="t23038"/>
          <p:cNvSpPr txBox="1"/>
          <p:nvPr/>
        </p:nvSpPr>
        <p:spPr>
          <a:xfrm>
            <a:off x="4635500" y="6108700"/>
            <a:ext cx="1143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1" spc="300" dirty="0">
                <a:solidFill>
                  <a:srgbClr val="F5F5F5"/>
                </a:solidFill>
                <a:latin typeface="Times New Roman"/>
                <a:cs typeface="Times New Roman"/>
              </a:rPr>
              <a:t>DEFERRED</a:t>
            </a:r>
          </a:p>
        </p:txBody>
      </p:sp>
      <p:sp>
        <p:nvSpPr>
          <p:cNvPr id="23039" name="t23039"/>
          <p:cNvSpPr txBox="1"/>
          <p:nvPr/>
        </p:nvSpPr>
        <p:spPr>
          <a:xfrm>
            <a:off x="6223000" y="6096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200" dirty="0">
                <a:solidFill>
                  <a:srgbClr val="F5F5F5"/>
                </a:solidFill>
                <a:latin typeface="Times New Roman"/>
                <a:cs typeface="Times New Roman"/>
              </a:rPr>
              <a:t>Out of v1 scope; flagged for future work</a:t>
            </a:r>
          </a:p>
        </p:txBody>
      </p:sp>
      <p:sp>
        <p:nvSpPr>
          <p:cNvPr id="23040" name="s23040"/>
          <p:cNvSpPr/>
          <p:nvPr/>
        </p:nvSpPr>
        <p:spPr>
          <a:xfrm>
            <a:off x="762000" y="6604000"/>
            <a:ext cx="10668000" cy="44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41" name="s23041"/>
          <p:cNvSpPr/>
          <p:nvPr/>
        </p:nvSpPr>
        <p:spPr>
          <a:xfrm>
            <a:off x="762000" y="6604000"/>
            <a:ext cx="38100" cy="444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3042" name="t23042"/>
          <p:cNvSpPr txBox="1"/>
          <p:nvPr/>
        </p:nvSpPr>
        <p:spPr>
          <a:xfrm>
            <a:off x="1016000" y="6705600"/>
            <a:ext cx="1041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300" b="1" i="1" dirty="0">
                <a:solidFill>
                  <a:srgbClr val="E8C96D"/>
                </a:solidFill>
                <a:latin typeface="Times New Roman"/>
                <a:cs typeface="Times New Roman"/>
              </a:rPr>
              <a:t>5 of 5 in-scope objectives MET. 2 stretch goals deferred to future work — clearly scoped for v2.</a:t>
            </a:r>
          </a:p>
        </p:txBody>
      </p:sp>
    </p:spTree>
    <p:extLst>
      <p:ext uri="{BB962C8B-B14F-4D97-AF65-F5344CB8AC3E}">
        <p14:creationId xmlns:p14="http://schemas.microsoft.com/office/powerpoint/2010/main" val="3988253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1" name="t24001"/>
          <p:cNvSpPr txBox="1"/>
          <p:nvPr/>
        </p:nvSpPr>
        <p:spPr>
          <a:xfrm>
            <a:off x="762000" y="9525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spc="400" dirty="0">
                <a:solidFill>
                  <a:srgbClr val="C9A84C"/>
                </a:solidFill>
                <a:latin typeface="Times New Roman"/>
                <a:cs typeface="Times New Roman"/>
              </a:rPr>
              <a:t>07  ·  FUTURE WORK</a:t>
            </a:r>
          </a:p>
        </p:txBody>
      </p:sp>
      <p:sp>
        <p:nvSpPr>
          <p:cNvPr id="24002" name="t24002"/>
          <p:cNvSpPr txBox="1"/>
          <p:nvPr/>
        </p:nvSpPr>
        <p:spPr>
          <a:xfrm>
            <a:off x="762000" y="1270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E8C96D"/>
                </a:solidFill>
                <a:latin typeface="Times New Roman"/>
                <a:cs typeface="Times New Roman"/>
              </a:rPr>
              <a:t>The Roadmap to v2</a:t>
            </a:r>
          </a:p>
        </p:txBody>
      </p:sp>
      <p:sp>
        <p:nvSpPr>
          <p:cNvPr id="24003" name="s24003"/>
          <p:cNvSpPr/>
          <p:nvPr/>
        </p:nvSpPr>
        <p:spPr>
          <a:xfrm>
            <a:off x="762000" y="2032000"/>
            <a:ext cx="1016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04" name="s24004"/>
          <p:cNvSpPr/>
          <p:nvPr/>
        </p:nvSpPr>
        <p:spPr>
          <a:xfrm>
            <a:off x="762000" y="2476500"/>
            <a:ext cx="5334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05" name="s24005"/>
          <p:cNvSpPr/>
          <p:nvPr/>
        </p:nvSpPr>
        <p:spPr>
          <a:xfrm>
            <a:off x="762000" y="2476500"/>
            <a:ext cx="5334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06" name="t24006"/>
          <p:cNvSpPr txBox="1"/>
          <p:nvPr/>
        </p:nvSpPr>
        <p:spPr>
          <a:xfrm>
            <a:off x="990600" y="27051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24007" name="t24007"/>
          <p:cNvSpPr txBox="1"/>
          <p:nvPr/>
        </p:nvSpPr>
        <p:spPr>
          <a:xfrm>
            <a:off x="2032000" y="27559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MULTI-DRONE SWARM</a:t>
            </a:r>
          </a:p>
        </p:txBody>
      </p:sp>
      <p:sp>
        <p:nvSpPr>
          <p:cNvPr id="24008" name="s24008"/>
          <p:cNvSpPr/>
          <p:nvPr/>
        </p:nvSpPr>
        <p:spPr>
          <a:xfrm>
            <a:off x="2032000" y="31115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09" name="t24009"/>
          <p:cNvSpPr txBox="1"/>
          <p:nvPr/>
        </p:nvSpPr>
        <p:spPr>
          <a:xfrm>
            <a:off x="2032000" y="32385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Times New Roman"/>
                <a:cs typeface="Times New Roman"/>
              </a:rPr>
              <a:t>Mesh communication between drones, distributed patrol assignment, and automatic hand-off when one returns to base for battery.</a:t>
            </a:r>
          </a:p>
        </p:txBody>
      </p:sp>
      <p:sp>
        <p:nvSpPr>
          <p:cNvPr id="24010" name="s24010"/>
          <p:cNvSpPr/>
          <p:nvPr/>
        </p:nvSpPr>
        <p:spPr>
          <a:xfrm>
            <a:off x="6096000" y="2476500"/>
            <a:ext cx="5334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11" name="s24011"/>
          <p:cNvSpPr/>
          <p:nvPr/>
        </p:nvSpPr>
        <p:spPr>
          <a:xfrm>
            <a:off x="6096000" y="2476500"/>
            <a:ext cx="5334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12" name="t24012"/>
          <p:cNvSpPr txBox="1"/>
          <p:nvPr/>
        </p:nvSpPr>
        <p:spPr>
          <a:xfrm>
            <a:off x="6324600" y="27051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24013" name="t24013"/>
          <p:cNvSpPr txBox="1"/>
          <p:nvPr/>
        </p:nvSpPr>
        <p:spPr>
          <a:xfrm>
            <a:off x="7366000" y="27559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THERMAL IMAGING</a:t>
            </a:r>
          </a:p>
        </p:txBody>
      </p:sp>
      <p:sp>
        <p:nvSpPr>
          <p:cNvPr id="24014" name="s24014"/>
          <p:cNvSpPr/>
          <p:nvPr/>
        </p:nvSpPr>
        <p:spPr>
          <a:xfrm>
            <a:off x="7366000" y="31115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15" name="t24015"/>
          <p:cNvSpPr txBox="1"/>
          <p:nvPr/>
        </p:nvSpPr>
        <p:spPr>
          <a:xfrm>
            <a:off x="7366000" y="32385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Times New Roman"/>
                <a:cs typeface="Times New Roman"/>
              </a:rPr>
              <a:t>Add a FLIR Lepton sensor for night and low-light detection; train a thermal-domain branch alongside the RGB models.</a:t>
            </a:r>
          </a:p>
        </p:txBody>
      </p:sp>
      <p:sp>
        <p:nvSpPr>
          <p:cNvPr id="24016" name="s24016"/>
          <p:cNvSpPr/>
          <p:nvPr/>
        </p:nvSpPr>
        <p:spPr>
          <a:xfrm>
            <a:off x="762000" y="4318000"/>
            <a:ext cx="5334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17" name="s24017"/>
          <p:cNvSpPr/>
          <p:nvPr/>
        </p:nvSpPr>
        <p:spPr>
          <a:xfrm>
            <a:off x="762000" y="4318000"/>
            <a:ext cx="5334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18" name="t24018"/>
          <p:cNvSpPr txBox="1"/>
          <p:nvPr/>
        </p:nvSpPr>
        <p:spPr>
          <a:xfrm>
            <a:off x="990600" y="45466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24019" name="t24019"/>
          <p:cNvSpPr txBox="1"/>
          <p:nvPr/>
        </p:nvSpPr>
        <p:spPr>
          <a:xfrm>
            <a:off x="2032000" y="45974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CRYPTOGRAPHIC IFF</a:t>
            </a:r>
          </a:p>
        </p:txBody>
      </p:sp>
      <p:sp>
        <p:nvSpPr>
          <p:cNvPr id="24020" name="s24020"/>
          <p:cNvSpPr/>
          <p:nvPr/>
        </p:nvSpPr>
        <p:spPr>
          <a:xfrm>
            <a:off x="2032000" y="49530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21" name="t24021"/>
          <p:cNvSpPr txBox="1"/>
          <p:nvPr/>
        </p:nvSpPr>
        <p:spPr>
          <a:xfrm>
            <a:off x="2032000" y="5080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Times New Roman"/>
                <a:cs typeface="Times New Roman"/>
              </a:rPr>
              <a:t>Replace plain JSON registry with signed challenge/response IFF. Eliminates the spoofing attack surface called out in our limitations.</a:t>
            </a:r>
          </a:p>
        </p:txBody>
      </p:sp>
      <p:sp>
        <p:nvSpPr>
          <p:cNvPr id="24022" name="s24022"/>
          <p:cNvSpPr/>
          <p:nvPr/>
        </p:nvSpPr>
        <p:spPr>
          <a:xfrm>
            <a:off x="6096000" y="4318000"/>
            <a:ext cx="5334000" cy="1651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23" name="s24023"/>
          <p:cNvSpPr/>
          <p:nvPr/>
        </p:nvSpPr>
        <p:spPr>
          <a:xfrm>
            <a:off x="6096000" y="4318000"/>
            <a:ext cx="53340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24" name="t24024"/>
          <p:cNvSpPr txBox="1"/>
          <p:nvPr/>
        </p:nvSpPr>
        <p:spPr>
          <a:xfrm>
            <a:off x="6324600" y="4546600"/>
            <a:ext cx="1016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3200" b="1" dirty="0">
                <a:solidFill>
                  <a:srgbClr val="C9A84C"/>
                </a:solidFill>
                <a:latin typeface="Times New Roman"/>
                <a:cs typeface="Times New Roman"/>
              </a:rPr>
              <a:t>04</a:t>
            </a:r>
          </a:p>
        </p:txBody>
      </p:sp>
      <p:sp>
        <p:nvSpPr>
          <p:cNvPr id="24025" name="t24025"/>
          <p:cNvSpPr txBox="1"/>
          <p:nvPr/>
        </p:nvSpPr>
        <p:spPr>
          <a:xfrm>
            <a:off x="7366000" y="45974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500" b="1" spc="300" dirty="0">
                <a:solidFill>
                  <a:srgbClr val="E8C96D"/>
                </a:solidFill>
                <a:latin typeface="Times New Roman"/>
                <a:cs typeface="Times New Roman"/>
              </a:rPr>
              <a:t>EDGE OPTIMIZATION</a:t>
            </a:r>
          </a:p>
        </p:txBody>
      </p:sp>
      <p:sp>
        <p:nvSpPr>
          <p:cNvPr id="24026" name="s24026"/>
          <p:cNvSpPr/>
          <p:nvPr/>
        </p:nvSpPr>
        <p:spPr>
          <a:xfrm>
            <a:off x="7366000" y="4953000"/>
            <a:ext cx="381000" cy="5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4027" name="t24027"/>
          <p:cNvSpPr txBox="1"/>
          <p:nvPr/>
        </p:nvSpPr>
        <p:spPr>
          <a:xfrm>
            <a:off x="7366000" y="5080000"/>
            <a:ext cx="381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500"/>
              </a:lnSpc>
              <a:buNone/>
            </a:pPr>
            <a:r>
              <a:rPr lang="en-US" sz="1150" dirty="0">
                <a:solidFill>
                  <a:srgbClr val="F5F5F5"/>
                </a:solidFill>
                <a:latin typeface="Times New Roman"/>
                <a:cs typeface="Times New Roman"/>
              </a:rPr>
              <a:t>TensorRT/ONNX export, INT8 quantization, and a Coral USB accelerator path to push sustained FPS toward 15+ on the same airframe.</a:t>
            </a:r>
          </a:p>
        </p:txBody>
      </p:sp>
    </p:spTree>
    <p:extLst>
      <p:ext uri="{BB962C8B-B14F-4D97-AF65-F5344CB8AC3E}">
        <p14:creationId xmlns:p14="http://schemas.microsoft.com/office/powerpoint/2010/main" val="3565670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1" name="s25001"/>
          <p:cNvSpPr/>
          <p:nvPr/>
        </p:nvSpPr>
        <p:spPr>
          <a:xfrm>
            <a:off x="5651500" y="1841500"/>
            <a:ext cx="889000" cy="88900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2" name="s25002"/>
          <p:cNvSpPr/>
          <p:nvPr/>
        </p:nvSpPr>
        <p:spPr>
          <a:xfrm>
            <a:off x="5765800" y="2095500"/>
            <a:ext cx="279400" cy="177800"/>
          </a:xfrm>
          <a:prstGeom prst="chevron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3" name="s25003"/>
          <p:cNvSpPr/>
          <p:nvPr/>
        </p:nvSpPr>
        <p:spPr>
          <a:xfrm>
            <a:off x="6146800" y="2095500"/>
            <a:ext cx="279400" cy="177800"/>
          </a:xfrm>
          <a:prstGeom prst="chevron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4" name="s25004"/>
          <p:cNvSpPr/>
          <p:nvPr/>
        </p:nvSpPr>
        <p:spPr>
          <a:xfrm>
            <a:off x="6019800" y="2159000"/>
            <a:ext cx="152400" cy="254000"/>
          </a:xfrm>
          <a:prstGeom prst="diamond">
            <a:avLst/>
          </a:prstGeom>
          <a:solidFill>
            <a:srgbClr val="E8C96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5" name="s25005"/>
          <p:cNvSpPr/>
          <p:nvPr/>
        </p:nvSpPr>
        <p:spPr>
          <a:xfrm>
            <a:off x="6045200" y="2006600"/>
            <a:ext cx="101600" cy="10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6" name="t25006"/>
          <p:cNvSpPr txBox="1"/>
          <p:nvPr/>
        </p:nvSpPr>
        <p:spPr>
          <a:xfrm>
            <a:off x="0" y="2921000"/>
            <a:ext cx="12192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5400" b="1" spc="800" dirty="0">
                <a:solidFill>
                  <a:srgbClr val="C9A84C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25007" name="t25007"/>
          <p:cNvSpPr txBox="1"/>
          <p:nvPr/>
        </p:nvSpPr>
        <p:spPr>
          <a:xfrm>
            <a:off x="0" y="37465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2400" dirty="0">
                <a:solidFill>
                  <a:srgbClr val="E8C96D"/>
                </a:solidFill>
                <a:latin typeface="Times New Roman"/>
                <a:cs typeface="Times New Roman"/>
              </a:rPr>
              <a:t>شكراً لكم</a:t>
            </a:r>
          </a:p>
        </p:txBody>
      </p:sp>
      <p:sp>
        <p:nvSpPr>
          <p:cNvPr id="25008" name="s25008"/>
          <p:cNvSpPr/>
          <p:nvPr/>
        </p:nvSpPr>
        <p:spPr>
          <a:xfrm>
            <a:off x="5207000" y="4445000"/>
            <a:ext cx="1778000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5009" name="t25009"/>
          <p:cNvSpPr txBox="1"/>
          <p:nvPr/>
        </p:nvSpPr>
        <p:spPr>
          <a:xfrm>
            <a:off x="0" y="4546600"/>
            <a:ext cx="1219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i="1" spc="800" dirty="0">
                <a:solidFill>
                  <a:srgbClr val="E8C96D"/>
                </a:solidFill>
                <a:latin typeface="Times New Roman"/>
                <a:cs typeface="Times New Roman"/>
              </a:rPr>
              <a:t>QUESTIONS  &amp;  DISCUSSION</a:t>
            </a:r>
          </a:p>
        </p:txBody>
      </p:sp>
      <p:sp>
        <p:nvSpPr>
          <p:cNvPr id="25010" name="t25010"/>
          <p:cNvSpPr txBox="1"/>
          <p:nvPr/>
        </p:nvSpPr>
        <p:spPr>
          <a:xfrm>
            <a:off x="0" y="5270500"/>
            <a:ext cx="1219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spc="500" dirty="0">
                <a:solidFill>
                  <a:srgbClr val="C9A84C"/>
                </a:solidFill>
                <a:latin typeface="Times New Roman"/>
                <a:cs typeface="Times New Roman"/>
              </a:rPr>
              <a:t>THE EQAAB TEAM</a:t>
            </a:r>
          </a:p>
        </p:txBody>
      </p:sp>
      <p:sp>
        <p:nvSpPr>
          <p:cNvPr id="25011" name="t25011"/>
          <p:cNvSpPr txBox="1"/>
          <p:nvPr/>
        </p:nvSpPr>
        <p:spPr>
          <a:xfrm>
            <a:off x="0" y="5549900"/>
            <a:ext cx="1219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dirty="0">
                <a:solidFill>
                  <a:srgbClr val="F5F5F5"/>
                </a:solidFill>
                <a:latin typeface="Times New Roman"/>
                <a:cs typeface="Times New Roman"/>
              </a:rPr>
              <a:t>[Member 1] · Hardware &amp; Flight Stack    [Member 2] · AI / Detection    [Member 3] · Backend &amp; GCS</a:t>
            </a:r>
          </a:p>
        </p:txBody>
      </p:sp>
      <p:sp>
        <p:nvSpPr>
          <p:cNvPr id="25012" name="t25012"/>
          <p:cNvSpPr txBox="1"/>
          <p:nvPr/>
        </p:nvSpPr>
        <p:spPr>
          <a:xfrm>
            <a:off x="0" y="5994400"/>
            <a:ext cx="1219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666666"/>
                </a:solidFill>
                <a:latin typeface="Times New Roman"/>
                <a:cs typeface="Times New Roman"/>
              </a:rPr>
              <a:t>Supervised by [Supervisor Name]   ·   [University Name]   ·   contact@eqaab.example</a:t>
            </a:r>
          </a:p>
        </p:txBody>
      </p:sp>
    </p:spTree>
    <p:extLst>
      <p:ext uri="{BB962C8B-B14F-4D97-AF65-F5344CB8AC3E}">
        <p14:creationId xmlns:p14="http://schemas.microsoft.com/office/powerpoint/2010/main" val="860324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344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529938649]">
  <a:themeElements>
    <a:clrScheme name="Office">
      <a:dk1>
        <a:srgbClr val="F5F5F5"/>
      </a:dk1>
      <a:lt1>
        <a:srgbClr val="0A0A0A"/>
      </a:lt1>
      <a:dk2>
        <a:srgbClr val="E8C96D"/>
      </a:dk2>
      <a:lt2>
        <a:srgbClr val="666666"/>
      </a:lt2>
      <a:accent1>
        <a:srgbClr val="C9A84C"/>
      </a:accent1>
      <a:accent2>
        <a:srgbClr val="E8C96D"/>
      </a:accent2>
      <a:accent3>
        <a:srgbClr val="8C7430"/>
      </a:accent3>
      <a:accent4>
        <a:srgbClr val="666666"/>
      </a:accent4>
      <a:accent5>
        <a:srgbClr val="1A1A1A"/>
      </a:accent5>
      <a:accent6>
        <a:srgbClr val="F5F5F5"/>
      </a:accent6>
      <a:hlink>
        <a:srgbClr val="467886"/>
      </a:hlink>
      <a:folHlink>
        <a:srgbClr val="96607D"/>
      </a:folHlink>
    </a:clrScheme>
    <a:fontScheme name="Office">
      <a:majorFont>
        <a:latin typeface="Times New Roman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8C333C-BF03-7F4E-8E14-8512CB9D801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df8e06f-f93e-4f5a-97a4-a253b4c88bb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2499</Words>
  <Application>Microsoft Macintosh PowerPoint</Application>
  <PresentationFormat>Widescreen</PresentationFormat>
  <Paragraphs>568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Consolas</vt:lpstr>
      <vt:lpstr>Times New Roman</vt:lpstr>
      <vt:lpstr>Office Theme [1777529938649]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aldahhas</dc:creator>
  <cp:lastModifiedBy>abdulrahman aldahhas</cp:lastModifiedBy>
  <cp:revision>2</cp:revision>
  <dcterms:created xsi:type="dcterms:W3CDTF">2026-04-30T06:16:11Z</dcterms:created>
  <dcterms:modified xsi:type="dcterms:W3CDTF">2026-04-30T19:44:50Z</dcterms:modified>
</cp:coreProperties>
</file>